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Welcome. This is a walk through the NUDJ website, from the first visit to the admin dashboard.</a:t>
            </a:r>
          </a:p>
          <a:p>
            <a:r>
              <a:t>- One line to remember: NUDJ is a butcher that asks before it cuts.</a:t>
            </a:r>
          </a:p>
          <a:p>
            <a:r>
              <a:t>- We'll follow one customer through the site, then switch to the store team's 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NUDJ is a Saudi online butcher with a cooking advisor built in.</a:t>
            </a:r>
          </a:p>
          <a:p>
            <a:r>
              <a:t>- The problem: people know the occasion, not the kilos. "Ten guests for a BBQ" — how much lamb is that?</a:t>
            </a:r>
          </a:p>
          <a:p>
            <a:r>
              <a:t>- So the site starts with the occasion, then works out the meat, the cut, the marinade and the charcoal.</a:t>
            </a:r>
          </a:p>
          <a:p>
            <a:r>
              <a:t>- Numbers on the right: 6 animals, 52 products, cutting is always free, and the whole plan goes to the cart in one tap.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Every host asks the same three questions before a gathering.</a:t>
            </a:r>
          </a:p>
          <a:p>
            <a:r>
              <a:t>- The site answers each one with a feature: the advisor, free cutting, and a plan that includes the kit.</a:t>
            </a:r>
          </a:p>
          <a:p>
            <a:r>
              <a:t>- This is the heart of the product. Everything else supports these three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whole customer journey fits in seven steps.</a:t>
            </a:r>
          </a:p>
          <a:p>
            <a:r>
              <a:t>- Steps 1 to 4 happen before sign-in: people can explore and plan freely.</a:t>
            </a:r>
          </a:p>
          <a:p>
            <a:r>
              <a:t>- Sign-in only appears at checkout, with a phone number and a 4-digit code.</a:t>
            </a:r>
          </a:p>
          <a:p>
            <a:r>
              <a:t>- Under everything sits the admin dashboard: orders, stock, analytics and content.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keep it concrete, we follow one person: Khalid.</a:t>
            </a:r>
          </a:p>
          <a:p>
            <a:r>
              <a:t>- He knows the occasion — a BBQ for ten on Thursday — but not the kilos.</a:t>
            </a:r>
          </a:p>
          <a:p>
            <a:r>
              <a:t>- His worries are the real design brief: too little meat, too much spend, and wasted time.</a:t>
            </a:r>
          </a:p>
          <a:p>
            <a:r>
              <a:t>- Keep him in mind; the next slide shows how he feels at each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Khalid's emotional journey, step by step.</a:t>
            </a:r>
          </a:p>
          <a:p>
            <a:r>
              <a:t>- He starts unsure. The advisor is the big lift — it does the maths for him.</a:t>
            </a:r>
          </a:p>
          <a:p>
            <a:r>
              <a:t>- The small dip is checkout: any form is effort. We keep it short — phone, code, slot, pay.</a:t>
            </a:r>
          </a:p>
          <a:p>
            <a:r>
              <a:t>- The high point is after delivery: he can order the same plan again in one tap.</a:t>
            </a:r>
          </a:p>
          <a:p>
            <a:r>
              <a:t>- The full map, with pain points and opportunities, is in the Figma journey 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ways in, one way out.</a:t>
            </a:r>
          </a:p>
          <a:p>
            <a:r>
              <a:t>- People who need help go to the advisor. People who know what they want browse the shop, search or the cut map.</a:t>
            </a:r>
          </a:p>
          <a:p>
            <a:r>
              <a:t>- Both paths meet in the cart. Sign-in only happens if needed, right before checkout.</a:t>
            </a:r>
          </a:p>
          <a:p>
            <a:r>
              <a:t>- After the order, the receipt tracks the status live, and the account keeps plans and orders for next time.</a:t>
            </a:r>
          </a:p>
          <a:p>
            <a:r>
              <a:t>- The dashed line is the link to the store team: every order lands in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 one: the customer side. We'll go page by page, in the order Khalid meets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home page doesn't open with a sale banner. It opens with a question: what's the occasion?</a:t>
            </a:r>
          </a:p>
          <a:p>
            <a:r>
              <a:t>- The advisor sits right in the hero, so planning can start in the first second.</a:t>
            </a:r>
          </a:p>
          <a:p>
            <a:r>
              <a:t>- Scrolling down, every section answers a question a buyer has: which animal, how it works, what it costs, how it's cut.</a:t>
            </a:r>
          </a:p>
          <a:p>
            <a:r>
              <a:t>- Sections can be reordered or hidden from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advisor is a guided chat. It asks what a good butcher would ask, one question at a time.</a:t>
            </a:r>
          </a:p>
          <a:p>
            <a:r>
              <a:t>- Tap an answer, or just type in your own words — Arabic dialect or English, typos included.</a:t>
            </a:r>
          </a:p>
          <a:p>
            <a:r>
              <a:t>- It fills in as much as it can from one sentence, then asks only what's missing.</a:t>
            </a:r>
          </a:p>
          <a:p>
            <a:r>
              <a:t>- It never tells people they typed something wrong. If it's not sure, it offers the closest options.</a:t>
            </a:r>
          </a:p>
          <a:p>
            <a:r>
              <a:t>- Every answer can be tapped later to change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the result: a receipt, not a suggestion. Every line has a weight and a price.</a:t>
            </a:r>
          </a:p>
          <a:p>
            <a:r>
              <a:t>- The maths is simple and visible: grams per person by dish, and one bag of charcoal per 4.5 kg of grilling.</a:t>
            </a:r>
          </a:p>
          <a:p>
            <a:r>
              <a:t>- Khalid's BBQ for ten comes to 360 SAR — about 36 SAR a head, with free delivery.</a:t>
            </a:r>
          </a:p>
          <a:p>
            <a:r>
              <a:t>- He can change any weight, change the headcount, add a second dish, save the plan, or send it all to the cart.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For people who like to choose themselves, there's the herd.</a:t>
            </a:r>
          </a:p>
          <a:p>
            <a:r>
              <a:t>- Each animal has a line drawing with numbered dots. Every dot is a cut you can order.</a:t>
            </a:r>
          </a:p>
          <a:p>
            <a:r>
              <a:t>- Tap a dot and you go straight to that cut. It's a map, not a list.</a:t>
            </a:r>
          </a:p>
          <a:p>
            <a:r>
              <a:t>- Six animals, 45 meat products, starting from 44 SAR per kilo.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shop shows all 52 products, with prices that already include VAT.</a:t>
            </a:r>
          </a:p>
          <a:p>
            <a:r>
              <a:t>- Two filters matter most: by animal, and by dish — grill, kabsa and mandi, steak, slow cooking, oven, mince.</a:t>
            </a:r>
          </a:p>
          <a:p>
            <a:r>
              <a:t>- Search suggests popular words and shows the herd. Searches with no results are logged, so the team sees what people want but can't find.</a:t>
            </a:r>
          </a:p>
          <a:p>
            <a:r>
              <a:t>- A heart on any card saves it to the wishlist.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product page works like a butcher's counter with a digital scale.</a:t>
            </a:r>
          </a:p>
          <a:p>
            <a:r>
              <a:t>- Pick the weight, or let the page work it out from the number of people.</a:t>
            </a:r>
          </a:p>
          <a:p>
            <a:r>
              <a:t>- Then choose how it's cut (free), the marinade and packing (priced per kilo). The price updates live.</a:t>
            </a:r>
          </a:p>
          <a:p>
            <a:r>
              <a:t>- Below: what this cut is good for, where it sits on the animal, and the kit that goes with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Prices are simple and shown before anything is added.</a:t>
            </a:r>
          </a:p>
          <a:p>
            <a:r>
              <a:t>- Cutting is always free. The only paid extras are marinating, skewering and vacuum packing — per kilo.</a:t>
            </a:r>
          </a:p>
          <a:p>
            <a:r>
              <a:t>- Delivery is 25 SAR, free from 300 SAR. All prices include 15% VAT.</a:t>
            </a:r>
          </a:p>
          <a:p>
            <a:r>
              <a:t>- Note: these are proposed prices for the demo version.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cart looks like a receipt — because that's what it becomes.</a:t>
            </a:r>
          </a:p>
          <a:p>
            <a:r>
              <a:t>- Weights can still change here, and each line shows its services and the cut.</a:t>
            </a:r>
          </a:p>
          <a:p>
            <a:r>
              <a:t>- A bar shows how far you are from free delivery.</a:t>
            </a:r>
          </a:p>
          <a:p>
            <a:r>
              <a:t>- Sign-in isn't needed to reach this 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Sign-in is one field: the mobile number. Then a 4-digit code. No passwords, no long forms.</a:t>
            </a:r>
          </a:p>
          <a:p>
            <a:r>
              <a:t>- It only appears when needed — at checkout, or when opening the account.</a:t>
            </a:r>
          </a:p>
          <a:p>
            <a:r>
              <a:t>- In the demo, any 4 digits work. At launch this needs an SMS provider.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Checkout is one page with a clear 4-step progress bar: Cart, Details &amp; delivery, Payment, Receipt.</a:t>
            </a:r>
          </a:p>
          <a:p>
            <a:r>
              <a:t>- Saved address, a day and a time slot, then payment: Apple Pay, mada, card, Tamara or cash on delivery.</a:t>
            </a:r>
          </a:p>
          <a:p>
            <a:r>
              <a:t>- The order summary is a compact receipt that updates with discount codes.</a:t>
            </a:r>
          </a:p>
          <a:p>
            <a:r>
              <a:t>- On phones, the total and the Place order button stay fixed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paying, Khalid gets a printed-style receipt — a simplified tax invoice with a barcode.</a:t>
            </a:r>
          </a:p>
          <a:p>
            <a:r>
              <a:t>- Next to it, the order status in four steps. Each step is moved by the team in the dashboard.</a:t>
            </a:r>
          </a:p>
          <a:p>
            <a:r>
              <a:t>- From here he can order the same again, print the receipt, or cancel before cutting starts.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account is where people come back.</a:t>
            </a:r>
          </a:p>
          <a:p>
            <a:r>
              <a:t>- Orders with their receipts, saved advisor plans, the wishlist and saved addresses.</a:t>
            </a:r>
          </a:p>
          <a:p>
            <a:r>
              <a:t>- Help, contact, legal pages and the language switch live here too.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Most customers will be on a phone. Below 900 pixels wide, the site switches to an app-style layout.</a:t>
            </a:r>
          </a:p>
          <a:p>
            <a:r>
              <a:t>- A tab bar with the advisor in the middle, large titles, bottom sheets, and a fixed action bar with the total.</a:t>
            </a:r>
          </a:p>
          <a:p>
            <a:r>
              <a:t>- It can be installed on the home screen like an app (PWA).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site is Arabic first, right to left, with a complete English version under /en/.</a:t>
            </a:r>
          </a:p>
          <a:p>
            <a:r>
              <a:t>- The EN / ع button keeps you on the same page in the other language.</a:t>
            </a:r>
          </a:p>
          <a:p>
            <a:r>
              <a:t>- Cart, orders and addresses are shared between both languages, and the advisor understands both.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Trust pages are complete: help center, contact form, about, terms and privacy.</a:t>
            </a:r>
          </a:p>
          <a:p>
            <a:r>
              <a:t>- For search engines, every product and animal has its own static page, plus a sitemap.</a:t>
            </a:r>
          </a:p>
          <a:p>
            <a:r>
              <a:t>- There's also an llms.txt file, so AI assistants can read the catalogue and prices correctly.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 two: the store side. The dashboard is where the team runs the shop and edits every part of the site.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dashboard is built like Shopify: dark top bar, side menu, light cards.</a:t>
            </a:r>
          </a:p>
          <a:p>
            <a:r>
              <a:t>- The home screen starts with tasks: orders waiting, abandoned carts, low stock, searches with no results, unpublished edits.</a:t>
            </a:r>
          </a:p>
          <a:p>
            <a:r>
              <a:t>- Then the four numbers that matter, each compared with the previous period, and the sales chart.</a:t>
            </a:r>
          </a:p>
          <a:p>
            <a:r>
              <a:t>- Time ranges go from today (by hour) to the last 12 months.</a:t>
            </a:r>
          </a:p>
          <a:p>
            <a:r>
              <a:t>- The interface is in Arabic; content can be edited in both languages. Numbers here are clearly marked demo data.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Orders are grouped by stage in tabs: received, cutting, on the way, delivered, cancelled.</a:t>
            </a:r>
          </a:p>
          <a:p>
            <a:r>
              <a:t>- Select several and move them together, search, or export to CSV.</a:t>
            </a:r>
          </a:p>
          <a:p>
            <a:r>
              <a:t>- Each order page shows the items, the history, the customer and their segment, the address, the slot, payment — and the profit on that order.</a:t>
            </a:r>
          </a:p>
          <a:p>
            <a:r>
              <a:t>- Moving an order to the next stage updates what the customer sees on their receipt.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Analytics answers: where do people come from, where do they drop, and what do they buy?</a:t>
            </a:r>
          </a:p>
          <a:p>
            <a:r>
              <a:t>- Eight headline numbers, the sales breakdown from gross to net, and the conversion funnel.</a:t>
            </a:r>
          </a:p>
          <a:p>
            <a:r>
              <a:t>- Traffic by device, source, city and landing page. New versus returning customers.</a:t>
            </a:r>
          </a:p>
          <a:p>
            <a:r>
              <a:t>- Two NUDJ-specific views: the advisor funnel — chats, plans, carts — and on-site search, including words with no results.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 ready-made reports in seven groups.</a:t>
            </a:r>
          </a:p>
          <a:p>
            <a:r>
              <a:t>- Every report has a chart, a table and a CSV export, and follows the chosen time range.</a:t>
            </a:r>
          </a:p>
          <a:p>
            <a:r>
              <a:t>- Customer reports include RFM segments, cohort analysis and top customers.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Customers are grouped into six segments automatically: loyal, returning, new, at risk, inactive, and one old order.</a:t>
            </a:r>
          </a:p>
          <a:p>
            <a:r>
              <a:t>- Each segment can be filtered, so the team knows who to thank and who to win back.</a:t>
            </a:r>
          </a:p>
          <a:p>
            <a:r>
              <a:t>- Stock: set the quantity and an alert level per product. The page shows 30-day sales, daily sales and how many days the stock will last.</a:t>
            </a:r>
          </a:p>
          <a:p>
            <a:r>
              <a:t>- When a product hits zero, the shop shows it as sold out and it can't be added to the cart — from the card, the page or the advisor.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Every part of the site can be edited without code.</a:t>
            </a:r>
          </a:p>
          <a:p>
            <a:r>
              <a:t>- Products and prices, the herd drawings — you can even drag the numbered dots on the animal —, services, the advisor's rules, the home page sections, every text, the FAQ, images, payment and delivery settings, and the brand colour.</a:t>
            </a:r>
          </a:p>
          <a:p>
            <a:r>
              <a:t>- A toggle switches the fields to English, so both languages are edited from one place.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Edits are safe by default: they save as a draft in the browser.</a:t>
            </a:r>
          </a:p>
          <a:p>
            <a:r>
              <a:t>- Preview shows the real site with the draft applied.</a:t>
            </a:r>
          </a:p>
          <a:p>
            <a:r>
              <a:t>- Publish uploads images and writes the content file to GitHub. About a minute later, everyone sees it.</a:t>
            </a:r>
          </a:p>
          <a:p>
            <a:r>
              <a:t>- No token? Download the content file and upload it by hand.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be clear about where we are: this is a working demo.</a:t>
            </a:r>
          </a:p>
          <a:p>
            <a:r>
              <a:t>- The full journey works end to end, but payment, the SMS code and data storage are simulated in the browser.</a:t>
            </a:r>
          </a:p>
          <a:p>
            <a:r>
              <a:t>- Before launch we need: a payment gateway, an SMS provider, a server and database, secure admin login, and automatic stock deduction.</a:t>
            </a:r>
          </a:p>
          <a:p>
            <a:r>
              <a:t>- The dashboard's tracking already has one function ready to send data to a server.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close: one site, two sides.</a:t>
            </a:r>
          </a:p>
          <a:p>
            <a:r>
              <a:t>- For customers, NUDJ turns an occasion into a plan, and a plan into an order.</a:t>
            </a:r>
          </a:p>
          <a:p>
            <a:r>
              <a:t>- For the team, the dashboard shows what's happening and lets them change anything.</a:t>
            </a:r>
          </a:p>
          <a:p>
            <a:r>
              <a:t>- Links are on the slide. Thank you —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jp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jp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1.jp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2.jp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3.jp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6.jp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9.jp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0.jpg"/><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pic>
        <p:nvPicPr>
          <p:cNvPr id="2" name="Picture 1" descr="cover.jpg"/>
          <p:cNvPicPr>
            <a:picLocks noChangeAspect="1"/>
          </p:cNvPicPr>
          <p:nvPr/>
        </p:nvPicPr>
        <p:blipFill>
          <a:blip r:embed="rId3"/>
          <a:stretch>
            <a:fillRect/>
          </a:stretch>
        </p:blipFill>
        <p:spPr>
          <a:xfrm>
            <a:off x="0" y="0"/>
            <a:ext cx="12192000" cy="6858000"/>
          </a:xfrm>
          <a:prstGeom prst="rect">
            <a:avLst/>
          </a:prstGeom>
        </p:spPr>
      </p:pic>
      <p:pic>
        <p:nvPicPr>
          <p:cNvPr id="3" name="Picture 2" descr="logo-bone.png"/>
          <p:cNvPicPr>
            <a:picLocks noChangeAspect="1"/>
          </p:cNvPicPr>
          <p:nvPr/>
        </p:nvPicPr>
        <p:blipFill>
          <a:blip r:embed="rId4"/>
          <a:stretch>
            <a:fillRect/>
          </a:stretch>
        </p:blipFill>
        <p:spPr>
          <a:xfrm>
            <a:off x="762000" y="609600"/>
            <a:ext cx="556768" cy="406400"/>
          </a:xfrm>
          <a:prstGeom prst="rect">
            <a:avLst/>
          </a:prstGeom>
        </p:spPr>
      </p:pic>
      <p:sp>
        <p:nvSpPr>
          <p:cNvPr id="4" name="TextBox 3"/>
          <p:cNvSpPr txBox="1"/>
          <p:nvPr/>
        </p:nvSpPr>
        <p:spPr>
          <a:xfrm>
            <a:off x="1422400" y="660400"/>
            <a:ext cx="2540000" cy="317500"/>
          </a:xfrm>
          <a:prstGeom prst="rect">
            <a:avLst/>
          </a:prstGeom>
          <a:noFill/>
        </p:spPr>
        <p:txBody>
          <a:bodyPr wrap="square" lIns="0" rIns="0" tIns="0" bIns="0" anchor="t">
            <a:noAutofit/>
          </a:bodyPr>
          <a:lstStyle/>
          <a:p>
            <a:pPr algn="l">
              <a:lnSpc>
                <a:spcPct val="100000"/>
              </a:lnSpc>
            </a:pPr>
            <a:r>
              <a:rPr sz="1300" b="1" i="0" spc="600">
                <a:solidFill>
                  <a:srgbClr val="EDE8E1"/>
                </a:solidFill>
                <a:latin typeface="IBM Plex Mono"/>
                <a:ea typeface="IBM Plex Mono"/>
                <a:cs typeface="IBM Plex Sans Arabic"/>
              </a:rPr>
              <a:t>NUDJ</a:t>
            </a:r>
          </a:p>
        </p:txBody>
      </p:sp>
      <p:sp>
        <p:nvSpPr>
          <p:cNvPr id="5" name="TextBox 4"/>
          <p:cNvSpPr txBox="1"/>
          <p:nvPr/>
        </p:nvSpPr>
        <p:spPr>
          <a:xfrm>
            <a:off x="1422400" y="876300"/>
            <a:ext cx="3175000" cy="190500"/>
          </a:xfrm>
          <a:prstGeom prst="rect">
            <a:avLst/>
          </a:prstGeom>
          <a:noFill/>
        </p:spPr>
        <p:txBody>
          <a:bodyPr wrap="square" lIns="0" rIns="0" tIns="0" bIns="0" anchor="t">
            <a:noAutofit/>
          </a:bodyPr>
          <a:lstStyle/>
          <a:p>
            <a:pPr algn="l">
              <a:lnSpc>
                <a:spcPct val="100000"/>
              </a:lnSpc>
            </a:pPr>
            <a:r>
              <a:rPr sz="750" b="0" i="0" spc="300">
                <a:solidFill>
                  <a:srgbClr val="8E969D"/>
                </a:solidFill>
                <a:latin typeface="IBM Plex Mono"/>
                <a:ea typeface="IBM Plex Mono"/>
                <a:cs typeface="IBM Plex Sans Arabic"/>
              </a:rPr>
              <a:t>BUTCHER · COOKING ADVISOR</a:t>
            </a:r>
          </a:p>
        </p:txBody>
      </p:sp>
      <p:sp>
        <p:nvSpPr>
          <p:cNvPr id="6" name="Rectangle 5"/>
          <p:cNvSpPr/>
          <p:nvPr/>
        </p:nvSpPr>
        <p:spPr>
          <a:xfrm>
            <a:off x="762000" y="2457450"/>
            <a:ext cx="76200" cy="76200"/>
          </a:xfrm>
          <a:prstGeom prst="rect">
            <a:avLst/>
          </a:prstGeom>
          <a:solidFill>
            <a:srgbClr val="FF5A36"/>
          </a:solidFill>
          <a:ln>
            <a:noFill/>
          </a:ln>
          <a:effectLst/>
        </p:spPr>
        <p:txBody>
          <a:bodyPr rtlCol="0" anchor="ctr" lIns="0" rIns="0"/>
          <a:lstStyle/>
          <a:p>
            <a:pPr algn="ctr"/>
          </a:p>
        </p:txBody>
      </p:sp>
      <p:sp>
        <p:nvSpPr>
          <p:cNvPr id="7" name="TextBox 6"/>
          <p:cNvSpPr txBox="1"/>
          <p:nvPr/>
        </p:nvSpPr>
        <p:spPr>
          <a:xfrm>
            <a:off x="939800" y="24130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WEBSITE WALKTHROUGH</a:t>
            </a:r>
            <a:r>
              <a:rPr sz="950" b="0" i="0" spc="240">
                <a:solidFill>
                  <a:srgbClr val="8E969D"/>
                </a:solidFill>
                <a:latin typeface="IBM Plex Mono"/>
                <a:ea typeface="IBM Plex Mono"/>
                <a:cs typeface="IBM Plex Sans Arabic"/>
              </a:rPr>
              <a:t>  — SEPTEMBER 2026</a:t>
            </a:r>
          </a:p>
        </p:txBody>
      </p:sp>
      <p:sp>
        <p:nvSpPr>
          <p:cNvPr id="8" name="TextBox 7"/>
          <p:cNvSpPr txBox="1"/>
          <p:nvPr/>
        </p:nvSpPr>
        <p:spPr>
          <a:xfrm>
            <a:off x="762000" y="2730500"/>
            <a:ext cx="8890000" cy="1308100"/>
          </a:xfrm>
          <a:prstGeom prst="rect">
            <a:avLst/>
          </a:prstGeom>
          <a:noFill/>
        </p:spPr>
        <p:txBody>
          <a:bodyPr wrap="square" lIns="0" rIns="0" tIns="0" bIns="0" anchor="t">
            <a:noAutofit/>
          </a:bodyPr>
          <a:lstStyle/>
          <a:p>
            <a:pPr algn="l">
              <a:lnSpc>
                <a:spcPct val="106000"/>
              </a:lnSpc>
            </a:pPr>
            <a:r>
              <a:rPr sz="4400" b="1" i="0" spc="-50">
                <a:solidFill>
                  <a:srgbClr val="EDE8E1"/>
                </a:solidFill>
                <a:latin typeface="Alexandria"/>
                <a:ea typeface="Alexandria"/>
                <a:cs typeface="IBM Plex Sans Arabic"/>
              </a:rPr>
              <a:t>Tell us the occasion.</a:t>
            </a:r>
          </a:p>
          <a:p>
            <a:pPr algn="l">
              <a:lnSpc>
                <a:spcPct val="106000"/>
              </a:lnSpc>
            </a:pPr>
            <a:r>
              <a:rPr sz="4400" b="1" i="0" spc="-50">
                <a:solidFill>
                  <a:srgbClr val="FF5A36"/>
                </a:solidFill>
                <a:latin typeface="Alexandria"/>
                <a:ea typeface="Alexandria"/>
                <a:cs typeface="IBM Plex Sans Arabic"/>
              </a:rPr>
              <a:t>We'll cut it to the gram.</a:t>
            </a:r>
          </a:p>
        </p:txBody>
      </p:sp>
      <p:sp>
        <p:nvSpPr>
          <p:cNvPr id="9" name="TextBox 8"/>
          <p:cNvSpPr txBox="1"/>
          <p:nvPr/>
        </p:nvSpPr>
        <p:spPr>
          <a:xfrm>
            <a:off x="762000" y="4267200"/>
            <a:ext cx="5461000" cy="762000"/>
          </a:xfrm>
          <a:prstGeom prst="rect">
            <a:avLst/>
          </a:prstGeom>
          <a:noFill/>
        </p:spPr>
        <p:txBody>
          <a:bodyPr wrap="square" lIns="0" rIns="0" tIns="0" bIns="0" anchor="t">
            <a:noAutofit/>
          </a:bodyPr>
          <a:lstStyle/>
          <a:p>
            <a:pPr algn="l">
              <a:lnSpc>
                <a:spcPct val="140000"/>
              </a:lnSpc>
            </a:pPr>
            <a:r>
              <a:rPr sz="1500" b="0" i="0">
                <a:solidFill>
                  <a:srgbClr val="C8C1B7"/>
                </a:solidFill>
                <a:latin typeface="IBM Plex Sans"/>
                <a:ea typeface="IBM Plex Sans"/>
                <a:cs typeface="IBM Plex Sans Arabic"/>
              </a:rPr>
              <a:t>A simple walk through the NUDJ website — every step a customer takes, every feature on the way, and the dashboard that runs it all.</a:t>
            </a:r>
          </a:p>
        </p:txBody>
      </p:sp>
      <p:sp>
        <p:nvSpPr>
          <p:cNvPr id="10" name="Rounded Rectangle 9"/>
          <p:cNvSpPr/>
          <p:nvPr/>
        </p:nvSpPr>
        <p:spPr>
          <a:xfrm>
            <a:off x="762000" y="5397500"/>
            <a:ext cx="1441450" cy="304800"/>
          </a:xfrm>
          <a:prstGeom prst="roundRect">
            <a:avLst>
              <a:gd name="adj" fmla="val 50000"/>
            </a:avLst>
          </a:prstGeom>
          <a:noFill/>
          <a:ln w="12700">
            <a:solidFill>
              <a:srgbClr val="383B3E"/>
            </a:solidFill>
          </a:ln>
          <a:effectLst/>
        </p:spPr>
        <p:txBody>
          <a:bodyPr rtlCol="0" anchor="ctr" lIns="0" rIns="0"/>
          <a:lstStyle/>
          <a:p>
            <a:pPr algn="ctr"/>
          </a:p>
        </p:txBody>
      </p:sp>
      <p:sp>
        <p:nvSpPr>
          <p:cNvPr id="11" name="TextBox 10"/>
          <p:cNvSpPr txBox="1"/>
          <p:nvPr/>
        </p:nvSpPr>
        <p:spPr>
          <a:xfrm>
            <a:off x="762000" y="5397500"/>
            <a:ext cx="1441450" cy="304800"/>
          </a:xfrm>
          <a:prstGeom prst="rect">
            <a:avLst/>
          </a:prstGeom>
          <a:noFill/>
        </p:spPr>
        <p:txBody>
          <a:bodyPr wrap="square" lIns="0" rIns="0" tIns="0" bIns="0" anchor="ctr">
            <a:noAutofit/>
          </a:bodyPr>
          <a:lstStyle/>
          <a:p>
            <a:pPr algn="ctr">
              <a:lnSpc>
                <a:spcPct val="100000"/>
              </a:lnSpc>
            </a:pPr>
            <a:r>
              <a:rPr sz="1000" b="1" i="0">
                <a:solidFill>
                  <a:srgbClr val="EDE8E1"/>
                </a:solidFill>
                <a:latin typeface="IBM Plex Sans"/>
                <a:ea typeface="IBM Plex Sans"/>
                <a:cs typeface="IBM Plex Sans Arabic"/>
              </a:rPr>
              <a:t>Customer journey</a:t>
            </a:r>
          </a:p>
        </p:txBody>
      </p:sp>
      <p:sp>
        <p:nvSpPr>
          <p:cNvPr id="12" name="Rounded Rectangle 11"/>
          <p:cNvSpPr/>
          <p:nvPr/>
        </p:nvSpPr>
        <p:spPr>
          <a:xfrm>
            <a:off x="2292350" y="5397500"/>
            <a:ext cx="1155700" cy="304800"/>
          </a:xfrm>
          <a:prstGeom prst="roundRect">
            <a:avLst>
              <a:gd name="adj" fmla="val 50000"/>
            </a:avLst>
          </a:prstGeom>
          <a:noFill/>
          <a:ln w="12700">
            <a:solidFill>
              <a:srgbClr val="383B3E"/>
            </a:solidFill>
          </a:ln>
          <a:effectLst/>
        </p:spPr>
        <p:txBody>
          <a:bodyPr rtlCol="0" anchor="ctr" lIns="0" rIns="0"/>
          <a:lstStyle/>
          <a:p>
            <a:pPr algn="ctr"/>
          </a:p>
        </p:txBody>
      </p:sp>
      <p:sp>
        <p:nvSpPr>
          <p:cNvPr id="13" name="TextBox 12"/>
          <p:cNvSpPr txBox="1"/>
          <p:nvPr/>
        </p:nvSpPr>
        <p:spPr>
          <a:xfrm>
            <a:off x="2292350" y="5397500"/>
            <a:ext cx="1155700" cy="304800"/>
          </a:xfrm>
          <a:prstGeom prst="rect">
            <a:avLst/>
          </a:prstGeom>
          <a:noFill/>
        </p:spPr>
        <p:txBody>
          <a:bodyPr wrap="square" lIns="0" rIns="0" tIns="0" bIns="0" anchor="ctr">
            <a:noAutofit/>
          </a:bodyPr>
          <a:lstStyle/>
          <a:p>
            <a:pPr algn="ctr">
              <a:lnSpc>
                <a:spcPct val="100000"/>
              </a:lnSpc>
            </a:pPr>
            <a:r>
              <a:rPr sz="1000" b="1" i="0">
                <a:solidFill>
                  <a:srgbClr val="EDE8E1"/>
                </a:solidFill>
                <a:latin typeface="IBM Plex Sans"/>
                <a:ea typeface="IBM Plex Sans"/>
                <a:cs typeface="IBM Plex Sans Arabic"/>
              </a:rPr>
              <a:t>All features</a:t>
            </a:r>
          </a:p>
        </p:txBody>
      </p:sp>
      <p:sp>
        <p:nvSpPr>
          <p:cNvPr id="14" name="Rounded Rectangle 13"/>
          <p:cNvSpPr/>
          <p:nvPr/>
        </p:nvSpPr>
        <p:spPr>
          <a:xfrm>
            <a:off x="3536950" y="5397500"/>
            <a:ext cx="1371600" cy="304800"/>
          </a:xfrm>
          <a:prstGeom prst="roundRect">
            <a:avLst>
              <a:gd name="adj" fmla="val 50000"/>
            </a:avLst>
          </a:prstGeom>
          <a:noFill/>
          <a:ln w="12700">
            <a:solidFill>
              <a:srgbClr val="383B3E"/>
            </a:solidFill>
          </a:ln>
          <a:effectLst/>
        </p:spPr>
        <p:txBody>
          <a:bodyPr rtlCol="0" anchor="ctr" lIns="0" rIns="0"/>
          <a:lstStyle/>
          <a:p>
            <a:pPr algn="ctr"/>
          </a:p>
        </p:txBody>
      </p:sp>
      <p:sp>
        <p:nvSpPr>
          <p:cNvPr id="15" name="TextBox 14"/>
          <p:cNvSpPr txBox="1"/>
          <p:nvPr/>
        </p:nvSpPr>
        <p:spPr>
          <a:xfrm>
            <a:off x="3536950" y="5397500"/>
            <a:ext cx="1371600" cy="304800"/>
          </a:xfrm>
          <a:prstGeom prst="rect">
            <a:avLst/>
          </a:prstGeom>
          <a:noFill/>
        </p:spPr>
        <p:txBody>
          <a:bodyPr wrap="square" lIns="0" rIns="0" tIns="0" bIns="0" anchor="ctr">
            <a:noAutofit/>
          </a:bodyPr>
          <a:lstStyle/>
          <a:p>
            <a:pPr algn="ctr">
              <a:lnSpc>
                <a:spcPct val="100000"/>
              </a:lnSpc>
            </a:pPr>
            <a:r>
              <a:rPr sz="1000" b="1" i="0">
                <a:solidFill>
                  <a:srgbClr val="EDE8E1"/>
                </a:solidFill>
                <a:latin typeface="IBM Plex Sans"/>
                <a:ea typeface="IBM Plex Sans"/>
                <a:cs typeface="IBM Plex Sans Arabic"/>
              </a:rPr>
              <a:t>Admin dashboard</a:t>
            </a:r>
          </a:p>
        </p:txBody>
      </p:sp>
      <p:sp>
        <p:nvSpPr>
          <p:cNvPr id="16" name="TextBox 15"/>
          <p:cNvSpPr txBox="1"/>
          <p:nvPr/>
        </p:nvSpPr>
        <p:spPr>
          <a:xfrm>
            <a:off x="762000" y="6426200"/>
            <a:ext cx="5715000" cy="190500"/>
          </a:xfrm>
          <a:prstGeom prst="rect">
            <a:avLst/>
          </a:prstGeom>
          <a:noFill/>
        </p:spPr>
        <p:txBody>
          <a:bodyPr wrap="square" lIns="0" rIns="0" tIns="0" bIns="0" anchor="t">
            <a:noAutofit/>
          </a:bodyPr>
          <a:lstStyle/>
          <a:p>
            <a:pPr algn="l">
              <a:lnSpc>
                <a:spcPct val="125000"/>
              </a:lnSpc>
            </a:pPr>
            <a:r>
              <a:rPr sz="800" b="0" i="0" spc="120">
                <a:solidFill>
                  <a:srgbClr val="5A646C"/>
                </a:solidFill>
                <a:latin typeface="IBM Plex Mono"/>
                <a:ea typeface="IBM Plex Mono"/>
                <a:cs typeface="IBM Plex Sans Arabic"/>
              </a:rPr>
              <a:t>mohamed-sr-designer.github.io/nudj/en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ECE2"/>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01</a:t>
            </a:r>
            <a:r>
              <a:rPr sz="950" b="0" i="0" spc="240">
                <a:solidFill>
                  <a:srgbClr val="7A6E62"/>
                </a:solidFill>
                <a:latin typeface="IBM Plex Mono"/>
                <a:ea typeface="IBM Plex Mono"/>
                <a:cs typeface="IBM Plex Sans Arabic"/>
              </a:rPr>
              <a:t>  THE IDEA</a:t>
            </a:r>
          </a:p>
        </p:txBody>
      </p:sp>
      <p:sp>
        <p:nvSpPr>
          <p:cNvPr id="4" name="TextBox 3"/>
          <p:cNvSpPr txBox="1"/>
          <p:nvPr/>
        </p:nvSpPr>
        <p:spPr>
          <a:xfrm>
            <a:off x="762000" y="952500"/>
            <a:ext cx="5715000" cy="1200150"/>
          </a:xfrm>
          <a:prstGeom prst="rect">
            <a:avLst/>
          </a:prstGeom>
          <a:noFill/>
        </p:spPr>
        <p:txBody>
          <a:bodyPr wrap="square" lIns="0" rIns="0" tIns="0" bIns="0" anchor="t">
            <a:noAutofit/>
          </a:bodyPr>
          <a:lstStyle/>
          <a:p>
            <a:pPr algn="l">
              <a:lnSpc>
                <a:spcPct val="106000"/>
              </a:lnSpc>
            </a:pPr>
            <a:r>
              <a:rPr sz="4000" b="1" i="0" spc="-50">
                <a:solidFill>
                  <a:srgbClr val="1A1512"/>
                </a:solidFill>
                <a:latin typeface="Alexandria"/>
                <a:ea typeface="Alexandria"/>
                <a:cs typeface="IBM Plex Sans Arabic"/>
              </a:rPr>
              <a:t>A butcher that</a:t>
            </a:r>
          </a:p>
          <a:p>
            <a:pPr algn="l">
              <a:lnSpc>
                <a:spcPct val="106000"/>
              </a:lnSpc>
            </a:pPr>
            <a:r>
              <a:rPr sz="4000" b="1" i="0" spc="-50">
                <a:solidFill>
                  <a:srgbClr val="FF5A36"/>
                </a:solidFill>
                <a:latin typeface="Alexandria"/>
                <a:ea typeface="Alexandria"/>
                <a:cs typeface="IBM Plex Sans Arabic"/>
              </a:rPr>
              <a:t>asks before it cuts.</a:t>
            </a:r>
          </a:p>
        </p:txBody>
      </p:sp>
      <p:sp>
        <p:nvSpPr>
          <p:cNvPr id="5" name="TextBox 4"/>
          <p:cNvSpPr txBox="1"/>
          <p:nvPr/>
        </p:nvSpPr>
        <p:spPr>
          <a:xfrm>
            <a:off x="762000" y="2413000"/>
            <a:ext cx="5207000" cy="1905000"/>
          </a:xfrm>
          <a:prstGeom prst="rect">
            <a:avLst/>
          </a:prstGeom>
          <a:noFill/>
        </p:spPr>
        <p:txBody>
          <a:bodyPr wrap="square" lIns="0" rIns="0" tIns="0" bIns="0" anchor="t">
            <a:noAutofit/>
          </a:bodyPr>
          <a:lstStyle/>
          <a:p>
            <a:pPr algn="l">
              <a:lnSpc>
                <a:spcPct val="145000"/>
              </a:lnSpc>
              <a:spcAft>
                <a:spcPts val="1100"/>
              </a:spcAft>
            </a:pPr>
            <a:r>
              <a:rPr sz="1500" b="0" i="0">
                <a:solidFill>
                  <a:srgbClr val="3A322C"/>
                </a:solidFill>
                <a:latin typeface="IBM Plex Sans"/>
                <a:ea typeface="IBM Plex Sans"/>
                <a:cs typeface="IBM Plex Sans Arabic"/>
              </a:rPr>
              <a:t>Most people don't know how many kilos they need for ten guests, or which cut works for mandi.</a:t>
            </a:r>
          </a:p>
          <a:p>
            <a:pPr algn="l">
              <a:lnSpc>
                <a:spcPct val="145000"/>
              </a:lnSpc>
            </a:pPr>
            <a:r>
              <a:rPr sz="1500" b="0" i="0">
                <a:solidFill>
                  <a:srgbClr val="3A322C"/>
                </a:solidFill>
                <a:latin typeface="IBM Plex Sans"/>
                <a:ea typeface="IBM Plex Sans"/>
                <a:cs typeface="IBM Plex Sans Arabic"/>
              </a:rPr>
              <a:t>NUDJ starts with that question. You tell us the occasion. We work out the rest — the meat, the cutting, the marinade, even the charcoal.</a:t>
            </a:r>
          </a:p>
        </p:txBody>
      </p:sp>
      <p:sp>
        <p:nvSpPr>
          <p:cNvPr id="6" name="Rectangle 5"/>
          <p:cNvSpPr/>
          <p:nvPr/>
        </p:nvSpPr>
        <p:spPr>
          <a:xfrm>
            <a:off x="7048500" y="698500"/>
            <a:ext cx="4381500" cy="5207000"/>
          </a:xfrm>
          <a:prstGeom prst="rect">
            <a:avLst/>
          </a:prstGeom>
          <a:solidFill>
            <a:srgbClr val="FBF8F3"/>
          </a:solidFill>
          <a:ln>
            <a:noFill/>
          </a:ln>
          <a:effectLst/>
        </p:spPr>
        <p:txBody>
          <a:bodyPr rtlCol="0" anchor="ctr" lIns="0" rIns="0"/>
          <a:lstStyle/>
          <a:p>
            <a:pPr algn="ctr"/>
          </a:p>
        </p:txBody>
      </p:sp>
      <p:sp>
        <p:nvSpPr>
          <p:cNvPr id="7" name="Freeform 6"/>
          <p:cNvSpPr/>
          <p:nvPr/>
        </p:nvSpPr>
        <p:spPr>
          <a:xfrm>
            <a:off x="7048500" y="692150"/>
            <a:ext cx="4381500" cy="82550"/>
          </a:xfrm>
          <a:custGeom>
            <a:avLst/>
            <a:gdLst/>
            <a:ahLst/>
            <a:cxnLst/>
            <a:rect l="l" t="t" r="r" b="b"/>
            <a:pathLst>
              <a:path w="4381500" h="82550">
                <a:moveTo>
                  <a:pt x="0" y="0"/>
                </a:moveTo>
                <a:lnTo>
                  <a:pt x="78241" y="82550"/>
                </a:lnTo>
                <a:lnTo>
                  <a:pt x="156482" y="0"/>
                </a:lnTo>
                <a:lnTo>
                  <a:pt x="234723" y="82550"/>
                </a:lnTo>
                <a:lnTo>
                  <a:pt x="312964" y="0"/>
                </a:lnTo>
                <a:lnTo>
                  <a:pt x="391205" y="82550"/>
                </a:lnTo>
                <a:lnTo>
                  <a:pt x="469446" y="0"/>
                </a:lnTo>
                <a:lnTo>
                  <a:pt x="547688" y="82550"/>
                </a:lnTo>
                <a:lnTo>
                  <a:pt x="625929" y="0"/>
                </a:lnTo>
                <a:lnTo>
                  <a:pt x="704170" y="82550"/>
                </a:lnTo>
                <a:lnTo>
                  <a:pt x="782411" y="0"/>
                </a:lnTo>
                <a:lnTo>
                  <a:pt x="860652" y="82550"/>
                </a:lnTo>
                <a:lnTo>
                  <a:pt x="938893" y="0"/>
                </a:lnTo>
                <a:lnTo>
                  <a:pt x="1017134" y="82550"/>
                </a:lnTo>
                <a:lnTo>
                  <a:pt x="1095375" y="0"/>
                </a:lnTo>
                <a:lnTo>
                  <a:pt x="1173616" y="82550"/>
                </a:lnTo>
                <a:lnTo>
                  <a:pt x="1251857" y="0"/>
                </a:lnTo>
                <a:lnTo>
                  <a:pt x="1330098" y="82550"/>
                </a:lnTo>
                <a:lnTo>
                  <a:pt x="1408339" y="0"/>
                </a:lnTo>
                <a:lnTo>
                  <a:pt x="1486580" y="82550"/>
                </a:lnTo>
                <a:lnTo>
                  <a:pt x="1564821" y="0"/>
                </a:lnTo>
                <a:lnTo>
                  <a:pt x="1643062" y="82550"/>
                </a:lnTo>
                <a:lnTo>
                  <a:pt x="1721304" y="0"/>
                </a:lnTo>
                <a:lnTo>
                  <a:pt x="1799545" y="82550"/>
                </a:lnTo>
                <a:lnTo>
                  <a:pt x="1877786" y="0"/>
                </a:lnTo>
                <a:lnTo>
                  <a:pt x="1956027" y="82550"/>
                </a:lnTo>
                <a:lnTo>
                  <a:pt x="2034268" y="0"/>
                </a:lnTo>
                <a:lnTo>
                  <a:pt x="2112509" y="82550"/>
                </a:lnTo>
                <a:lnTo>
                  <a:pt x="2190750" y="0"/>
                </a:lnTo>
                <a:lnTo>
                  <a:pt x="2268991" y="82550"/>
                </a:lnTo>
                <a:lnTo>
                  <a:pt x="2347232" y="0"/>
                </a:lnTo>
                <a:lnTo>
                  <a:pt x="2425473" y="82550"/>
                </a:lnTo>
                <a:lnTo>
                  <a:pt x="2503714" y="0"/>
                </a:lnTo>
                <a:lnTo>
                  <a:pt x="2581955" y="82550"/>
                </a:lnTo>
                <a:lnTo>
                  <a:pt x="2660196" y="0"/>
                </a:lnTo>
                <a:lnTo>
                  <a:pt x="2738438" y="82550"/>
                </a:lnTo>
                <a:lnTo>
                  <a:pt x="2816679" y="0"/>
                </a:lnTo>
                <a:lnTo>
                  <a:pt x="2894920" y="82550"/>
                </a:lnTo>
                <a:lnTo>
                  <a:pt x="2973161" y="0"/>
                </a:lnTo>
                <a:lnTo>
                  <a:pt x="3051402" y="82550"/>
                </a:lnTo>
                <a:lnTo>
                  <a:pt x="3129643" y="0"/>
                </a:lnTo>
                <a:lnTo>
                  <a:pt x="3207884" y="82550"/>
                </a:lnTo>
                <a:lnTo>
                  <a:pt x="3286125" y="0"/>
                </a:lnTo>
                <a:lnTo>
                  <a:pt x="3364366" y="82550"/>
                </a:lnTo>
                <a:lnTo>
                  <a:pt x="3442607" y="0"/>
                </a:lnTo>
                <a:lnTo>
                  <a:pt x="3520848" y="82550"/>
                </a:lnTo>
                <a:lnTo>
                  <a:pt x="3599089" y="0"/>
                </a:lnTo>
                <a:lnTo>
                  <a:pt x="3677330" y="82550"/>
                </a:lnTo>
                <a:lnTo>
                  <a:pt x="3755571" y="0"/>
                </a:lnTo>
                <a:lnTo>
                  <a:pt x="3833812" y="82550"/>
                </a:lnTo>
                <a:lnTo>
                  <a:pt x="3912054" y="0"/>
                </a:lnTo>
                <a:lnTo>
                  <a:pt x="3990295" y="82550"/>
                </a:lnTo>
                <a:lnTo>
                  <a:pt x="4068536" y="0"/>
                </a:lnTo>
                <a:lnTo>
                  <a:pt x="4146777" y="82550"/>
                </a:lnTo>
                <a:lnTo>
                  <a:pt x="4225018" y="0"/>
                </a:lnTo>
                <a:lnTo>
                  <a:pt x="4303259" y="82550"/>
                </a:lnTo>
                <a:lnTo>
                  <a:pt x="4381500" y="0"/>
                </a:lnTo>
                <a:close/>
              </a:path>
            </a:pathLst>
          </a:custGeom>
          <a:solidFill>
            <a:srgbClr val="F2ECE2"/>
          </a:solidFill>
          <a:ln>
            <a:noFill/>
          </a:ln>
          <a:effectLst/>
        </p:spPr>
        <p:txBody>
          <a:bodyPr rtlCol="0" anchor="ctr"/>
          <a:lstStyle/>
          <a:p>
            <a:pPr algn="ctr"/>
          </a:p>
        </p:txBody>
      </p:sp>
      <p:sp>
        <p:nvSpPr>
          <p:cNvPr id="8" name="Freeform 7"/>
          <p:cNvSpPr/>
          <p:nvPr/>
        </p:nvSpPr>
        <p:spPr>
          <a:xfrm>
            <a:off x="7048500" y="5829300"/>
            <a:ext cx="4381500" cy="82550"/>
          </a:xfrm>
          <a:custGeom>
            <a:avLst/>
            <a:gdLst/>
            <a:ahLst/>
            <a:cxnLst/>
            <a:rect l="l" t="t" r="r" b="b"/>
            <a:pathLst>
              <a:path w="4381500" h="82550">
                <a:moveTo>
                  <a:pt x="0" y="82550"/>
                </a:moveTo>
                <a:lnTo>
                  <a:pt x="78241" y="0"/>
                </a:lnTo>
                <a:lnTo>
                  <a:pt x="156482" y="82550"/>
                </a:lnTo>
                <a:lnTo>
                  <a:pt x="234723" y="0"/>
                </a:lnTo>
                <a:lnTo>
                  <a:pt x="312964" y="82550"/>
                </a:lnTo>
                <a:lnTo>
                  <a:pt x="391205" y="0"/>
                </a:lnTo>
                <a:lnTo>
                  <a:pt x="469446" y="82550"/>
                </a:lnTo>
                <a:lnTo>
                  <a:pt x="547688" y="0"/>
                </a:lnTo>
                <a:lnTo>
                  <a:pt x="625929" y="82550"/>
                </a:lnTo>
                <a:lnTo>
                  <a:pt x="704170" y="0"/>
                </a:lnTo>
                <a:lnTo>
                  <a:pt x="782411" y="82550"/>
                </a:lnTo>
                <a:lnTo>
                  <a:pt x="860652" y="0"/>
                </a:lnTo>
                <a:lnTo>
                  <a:pt x="938893" y="82550"/>
                </a:lnTo>
                <a:lnTo>
                  <a:pt x="1017134" y="0"/>
                </a:lnTo>
                <a:lnTo>
                  <a:pt x="1095375" y="82550"/>
                </a:lnTo>
                <a:lnTo>
                  <a:pt x="1173616" y="0"/>
                </a:lnTo>
                <a:lnTo>
                  <a:pt x="1251857" y="82550"/>
                </a:lnTo>
                <a:lnTo>
                  <a:pt x="1330098" y="0"/>
                </a:lnTo>
                <a:lnTo>
                  <a:pt x="1408339" y="82550"/>
                </a:lnTo>
                <a:lnTo>
                  <a:pt x="1486580" y="0"/>
                </a:lnTo>
                <a:lnTo>
                  <a:pt x="1564821" y="82550"/>
                </a:lnTo>
                <a:lnTo>
                  <a:pt x="1643062" y="0"/>
                </a:lnTo>
                <a:lnTo>
                  <a:pt x="1721304" y="82550"/>
                </a:lnTo>
                <a:lnTo>
                  <a:pt x="1799545" y="0"/>
                </a:lnTo>
                <a:lnTo>
                  <a:pt x="1877786" y="82550"/>
                </a:lnTo>
                <a:lnTo>
                  <a:pt x="1956027" y="0"/>
                </a:lnTo>
                <a:lnTo>
                  <a:pt x="2034268" y="82550"/>
                </a:lnTo>
                <a:lnTo>
                  <a:pt x="2112509" y="0"/>
                </a:lnTo>
                <a:lnTo>
                  <a:pt x="2190750" y="82550"/>
                </a:lnTo>
                <a:lnTo>
                  <a:pt x="2268991" y="0"/>
                </a:lnTo>
                <a:lnTo>
                  <a:pt x="2347232" y="82550"/>
                </a:lnTo>
                <a:lnTo>
                  <a:pt x="2425473" y="0"/>
                </a:lnTo>
                <a:lnTo>
                  <a:pt x="2503714" y="82550"/>
                </a:lnTo>
                <a:lnTo>
                  <a:pt x="2581955" y="0"/>
                </a:lnTo>
                <a:lnTo>
                  <a:pt x="2660196" y="82550"/>
                </a:lnTo>
                <a:lnTo>
                  <a:pt x="2738438" y="0"/>
                </a:lnTo>
                <a:lnTo>
                  <a:pt x="2816679" y="82550"/>
                </a:lnTo>
                <a:lnTo>
                  <a:pt x="2894920" y="0"/>
                </a:lnTo>
                <a:lnTo>
                  <a:pt x="2973161" y="82550"/>
                </a:lnTo>
                <a:lnTo>
                  <a:pt x="3051402" y="0"/>
                </a:lnTo>
                <a:lnTo>
                  <a:pt x="3129643" y="82550"/>
                </a:lnTo>
                <a:lnTo>
                  <a:pt x="3207884" y="0"/>
                </a:lnTo>
                <a:lnTo>
                  <a:pt x="3286125" y="82550"/>
                </a:lnTo>
                <a:lnTo>
                  <a:pt x="3364366" y="0"/>
                </a:lnTo>
                <a:lnTo>
                  <a:pt x="3442607" y="82550"/>
                </a:lnTo>
                <a:lnTo>
                  <a:pt x="3520848" y="0"/>
                </a:lnTo>
                <a:lnTo>
                  <a:pt x="3599089" y="82550"/>
                </a:lnTo>
                <a:lnTo>
                  <a:pt x="3677330" y="0"/>
                </a:lnTo>
                <a:lnTo>
                  <a:pt x="3755571" y="82550"/>
                </a:lnTo>
                <a:lnTo>
                  <a:pt x="3833812" y="0"/>
                </a:lnTo>
                <a:lnTo>
                  <a:pt x="3912054" y="82550"/>
                </a:lnTo>
                <a:lnTo>
                  <a:pt x="3990295" y="0"/>
                </a:lnTo>
                <a:lnTo>
                  <a:pt x="4068536" y="82550"/>
                </a:lnTo>
                <a:lnTo>
                  <a:pt x="4146777" y="0"/>
                </a:lnTo>
                <a:lnTo>
                  <a:pt x="4225018" y="82550"/>
                </a:lnTo>
                <a:lnTo>
                  <a:pt x="4303259" y="0"/>
                </a:lnTo>
                <a:lnTo>
                  <a:pt x="4381500" y="82550"/>
                </a:lnTo>
                <a:close/>
              </a:path>
            </a:pathLst>
          </a:custGeom>
          <a:solidFill>
            <a:srgbClr val="F2ECE2"/>
          </a:solidFill>
          <a:ln>
            <a:noFill/>
          </a:ln>
          <a:effectLst/>
        </p:spPr>
        <p:txBody>
          <a:bodyPr rtlCol="0" anchor="ctr"/>
          <a:lstStyle/>
          <a:p>
            <a:pPr algn="ctr"/>
          </a:p>
        </p:txBody>
      </p:sp>
      <p:sp>
        <p:nvSpPr>
          <p:cNvPr id="9" name="TextBox 8"/>
          <p:cNvSpPr txBox="1"/>
          <p:nvPr/>
        </p:nvSpPr>
        <p:spPr>
          <a:xfrm>
            <a:off x="7366000" y="1016000"/>
            <a:ext cx="3746500" cy="190500"/>
          </a:xfrm>
          <a:prstGeom prst="rect">
            <a:avLst/>
          </a:prstGeom>
          <a:noFill/>
        </p:spPr>
        <p:txBody>
          <a:bodyPr wrap="square" lIns="0" rIns="0" tIns="0" bIns="0" anchor="t">
            <a:noAutofit/>
          </a:bodyPr>
          <a:lstStyle/>
          <a:p>
            <a:pPr algn="ctr">
              <a:lnSpc>
                <a:spcPct val="125000"/>
              </a:lnSpc>
            </a:pPr>
            <a:r>
              <a:rPr sz="850" b="0" i="0" spc="300">
                <a:solidFill>
                  <a:srgbClr val="7A6E62"/>
                </a:solidFill>
                <a:latin typeface="IBM Plex Mono"/>
                <a:ea typeface="IBM Plex Mono"/>
                <a:cs typeface="IBM Plex Sans Arabic"/>
              </a:rPr>
              <a:t>NUDJ IN NUMBERS</a:t>
            </a:r>
          </a:p>
        </p:txBody>
      </p:sp>
      <p:cxnSp>
        <p:nvCxnSpPr>
          <p:cNvPr id="10" name="Connector 9"/>
          <p:cNvCxnSpPr/>
          <p:nvPr/>
        </p:nvCxnSpPr>
        <p:spPr>
          <a:xfrm>
            <a:off x="7366000" y="1346200"/>
            <a:ext cx="37465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66000" y="1549400"/>
            <a:ext cx="1270000" cy="698500"/>
          </a:xfrm>
          <a:prstGeom prst="rect">
            <a:avLst/>
          </a:prstGeom>
          <a:noFill/>
        </p:spPr>
        <p:txBody>
          <a:bodyPr wrap="square" lIns="0" rIns="0" tIns="0" bIns="0" anchor="t">
            <a:noAutofit/>
          </a:bodyPr>
          <a:lstStyle/>
          <a:p>
            <a:pPr algn="l">
              <a:lnSpc>
                <a:spcPct val="100000"/>
              </a:lnSpc>
            </a:pPr>
            <a:r>
              <a:rPr sz="4800" b="1" i="0">
                <a:solidFill>
                  <a:srgbClr val="FF5A36"/>
                </a:solidFill>
                <a:latin typeface="IBM Plex Mono"/>
                <a:ea typeface="IBM Plex Mono"/>
                <a:cs typeface="IBM Plex Sans Arabic"/>
              </a:rPr>
              <a:t>6</a:t>
            </a:r>
          </a:p>
        </p:txBody>
      </p:sp>
      <p:sp>
        <p:nvSpPr>
          <p:cNvPr id="12" name="TextBox 11"/>
          <p:cNvSpPr txBox="1"/>
          <p:nvPr/>
        </p:nvSpPr>
        <p:spPr>
          <a:xfrm>
            <a:off x="8763000" y="1612900"/>
            <a:ext cx="2413000" cy="254000"/>
          </a:xfrm>
          <a:prstGeom prst="rect">
            <a:avLst/>
          </a:prstGeom>
          <a:noFill/>
        </p:spPr>
        <p:txBody>
          <a:bodyPr wrap="square" lIns="0" rIns="0" tIns="0" bIns="0" anchor="t">
            <a:noAutofit/>
          </a:bodyPr>
          <a:lstStyle/>
          <a:p>
            <a:pPr algn="l">
              <a:lnSpc>
                <a:spcPct val="110000"/>
              </a:lnSpc>
            </a:pPr>
            <a:r>
              <a:rPr sz="1500" b="1" i="0">
                <a:solidFill>
                  <a:srgbClr val="1A1512"/>
                </a:solidFill>
                <a:latin typeface="Alexandria"/>
                <a:ea typeface="Alexandria"/>
                <a:cs typeface="IBM Plex Sans Arabic"/>
              </a:rPr>
              <a:t>animals</a:t>
            </a:r>
          </a:p>
        </p:txBody>
      </p:sp>
      <p:sp>
        <p:nvSpPr>
          <p:cNvPr id="13" name="TextBox 12"/>
          <p:cNvSpPr txBox="1"/>
          <p:nvPr/>
        </p:nvSpPr>
        <p:spPr>
          <a:xfrm>
            <a:off x="8763000" y="1892300"/>
            <a:ext cx="2413000" cy="254000"/>
          </a:xfrm>
          <a:prstGeom prst="rect">
            <a:avLst/>
          </a:prstGeom>
          <a:noFill/>
        </p:spPr>
        <p:txBody>
          <a:bodyPr wrap="square" lIns="0" rIns="0" tIns="0" bIns="0" anchor="t">
            <a:noAutofit/>
          </a:bodyPr>
          <a:lstStyle/>
          <a:p>
            <a:pPr algn="l">
              <a:lnSpc>
                <a:spcPct val="125000"/>
              </a:lnSpc>
            </a:pPr>
            <a:r>
              <a:rPr sz="1050" b="0" i="0">
                <a:solidFill>
                  <a:srgbClr val="7A6E62"/>
                </a:solidFill>
                <a:latin typeface="IBM Plex Sans"/>
                <a:ea typeface="IBM Plex Sans"/>
                <a:cs typeface="IBM Plex Sans Arabic"/>
              </a:rPr>
              <a:t>Lamb, goat, camel, veal, beef, buffalo</a:t>
            </a:r>
          </a:p>
        </p:txBody>
      </p:sp>
      <p:cxnSp>
        <p:nvCxnSpPr>
          <p:cNvPr id="14" name="Connector 13"/>
          <p:cNvCxnSpPr/>
          <p:nvPr/>
        </p:nvCxnSpPr>
        <p:spPr>
          <a:xfrm>
            <a:off x="7366000" y="2400300"/>
            <a:ext cx="37465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66000" y="2565400"/>
            <a:ext cx="1270000" cy="698500"/>
          </a:xfrm>
          <a:prstGeom prst="rect">
            <a:avLst/>
          </a:prstGeom>
          <a:noFill/>
        </p:spPr>
        <p:txBody>
          <a:bodyPr wrap="square" lIns="0" rIns="0" tIns="0" bIns="0" anchor="t">
            <a:noAutofit/>
          </a:bodyPr>
          <a:lstStyle/>
          <a:p>
            <a:pPr algn="l">
              <a:lnSpc>
                <a:spcPct val="100000"/>
              </a:lnSpc>
            </a:pPr>
            <a:r>
              <a:rPr sz="4800" b="1" i="0">
                <a:solidFill>
                  <a:srgbClr val="FF5A36"/>
                </a:solidFill>
                <a:latin typeface="IBM Plex Mono"/>
                <a:ea typeface="IBM Plex Mono"/>
                <a:cs typeface="IBM Plex Sans Arabic"/>
              </a:rPr>
              <a:t>52</a:t>
            </a:r>
          </a:p>
        </p:txBody>
      </p:sp>
      <p:sp>
        <p:nvSpPr>
          <p:cNvPr id="16" name="TextBox 15"/>
          <p:cNvSpPr txBox="1"/>
          <p:nvPr/>
        </p:nvSpPr>
        <p:spPr>
          <a:xfrm>
            <a:off x="8763000" y="2628900"/>
            <a:ext cx="2413000" cy="254000"/>
          </a:xfrm>
          <a:prstGeom prst="rect">
            <a:avLst/>
          </a:prstGeom>
          <a:noFill/>
        </p:spPr>
        <p:txBody>
          <a:bodyPr wrap="square" lIns="0" rIns="0" tIns="0" bIns="0" anchor="t">
            <a:noAutofit/>
          </a:bodyPr>
          <a:lstStyle/>
          <a:p>
            <a:pPr algn="l">
              <a:lnSpc>
                <a:spcPct val="110000"/>
              </a:lnSpc>
            </a:pPr>
            <a:r>
              <a:rPr sz="1500" b="1" i="0">
                <a:solidFill>
                  <a:srgbClr val="1A1512"/>
                </a:solidFill>
                <a:latin typeface="Alexandria"/>
                <a:ea typeface="Alexandria"/>
                <a:cs typeface="IBM Plex Sans Arabic"/>
              </a:rPr>
              <a:t>products</a:t>
            </a:r>
          </a:p>
        </p:txBody>
      </p:sp>
      <p:sp>
        <p:nvSpPr>
          <p:cNvPr id="17" name="TextBox 16"/>
          <p:cNvSpPr txBox="1"/>
          <p:nvPr/>
        </p:nvSpPr>
        <p:spPr>
          <a:xfrm>
            <a:off x="8763000" y="2908300"/>
            <a:ext cx="2413000" cy="254000"/>
          </a:xfrm>
          <a:prstGeom prst="rect">
            <a:avLst/>
          </a:prstGeom>
          <a:noFill/>
        </p:spPr>
        <p:txBody>
          <a:bodyPr wrap="square" lIns="0" rIns="0" tIns="0" bIns="0" anchor="t">
            <a:noAutofit/>
          </a:bodyPr>
          <a:lstStyle/>
          <a:p>
            <a:pPr algn="l">
              <a:lnSpc>
                <a:spcPct val="125000"/>
              </a:lnSpc>
            </a:pPr>
            <a:r>
              <a:rPr sz="1050" b="0" i="0">
                <a:solidFill>
                  <a:srgbClr val="7A6E62"/>
                </a:solidFill>
                <a:latin typeface="IBM Plex Sans"/>
                <a:ea typeface="IBM Plex Sans"/>
                <a:cs typeface="IBM Plex Sans Arabic"/>
              </a:rPr>
              <a:t>40 cuts, 5 carcasses, 7 BBQ extras</a:t>
            </a:r>
          </a:p>
        </p:txBody>
      </p:sp>
      <p:cxnSp>
        <p:nvCxnSpPr>
          <p:cNvPr id="18" name="Connector 17"/>
          <p:cNvCxnSpPr/>
          <p:nvPr/>
        </p:nvCxnSpPr>
        <p:spPr>
          <a:xfrm>
            <a:off x="7366000" y="3416300"/>
            <a:ext cx="37465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66000" y="3581400"/>
            <a:ext cx="1270000" cy="698500"/>
          </a:xfrm>
          <a:prstGeom prst="rect">
            <a:avLst/>
          </a:prstGeom>
          <a:noFill/>
        </p:spPr>
        <p:txBody>
          <a:bodyPr wrap="square" lIns="0" rIns="0" tIns="0" bIns="0" anchor="t">
            <a:noAutofit/>
          </a:bodyPr>
          <a:lstStyle/>
          <a:p>
            <a:pPr algn="l">
              <a:lnSpc>
                <a:spcPct val="100000"/>
              </a:lnSpc>
            </a:pPr>
            <a:r>
              <a:rPr sz="4800" b="1" i="0">
                <a:solidFill>
                  <a:srgbClr val="FF5A36"/>
                </a:solidFill>
                <a:latin typeface="IBM Plex Mono"/>
                <a:ea typeface="IBM Plex Mono"/>
                <a:cs typeface="IBM Plex Sans Arabic"/>
              </a:rPr>
              <a:t>0</a:t>
            </a:r>
          </a:p>
        </p:txBody>
      </p:sp>
      <p:sp>
        <p:nvSpPr>
          <p:cNvPr id="20" name="TextBox 19"/>
          <p:cNvSpPr txBox="1"/>
          <p:nvPr/>
        </p:nvSpPr>
        <p:spPr>
          <a:xfrm>
            <a:off x="8763000" y="3644900"/>
            <a:ext cx="2413000" cy="254000"/>
          </a:xfrm>
          <a:prstGeom prst="rect">
            <a:avLst/>
          </a:prstGeom>
          <a:noFill/>
        </p:spPr>
        <p:txBody>
          <a:bodyPr wrap="square" lIns="0" rIns="0" tIns="0" bIns="0" anchor="t">
            <a:noAutofit/>
          </a:bodyPr>
          <a:lstStyle/>
          <a:p>
            <a:pPr algn="l">
              <a:lnSpc>
                <a:spcPct val="110000"/>
              </a:lnSpc>
            </a:pPr>
            <a:r>
              <a:rPr sz="1500" b="1" i="0">
                <a:solidFill>
                  <a:srgbClr val="1A1512"/>
                </a:solidFill>
                <a:latin typeface="Alexandria"/>
                <a:ea typeface="Alexandria"/>
                <a:cs typeface="IBM Plex Sans Arabic"/>
              </a:rPr>
              <a:t>SAR for cutting</a:t>
            </a:r>
          </a:p>
        </p:txBody>
      </p:sp>
      <p:sp>
        <p:nvSpPr>
          <p:cNvPr id="21" name="TextBox 20"/>
          <p:cNvSpPr txBox="1"/>
          <p:nvPr/>
        </p:nvSpPr>
        <p:spPr>
          <a:xfrm>
            <a:off x="8763000" y="3924300"/>
            <a:ext cx="2413000" cy="254000"/>
          </a:xfrm>
          <a:prstGeom prst="rect">
            <a:avLst/>
          </a:prstGeom>
          <a:noFill/>
        </p:spPr>
        <p:txBody>
          <a:bodyPr wrap="square" lIns="0" rIns="0" tIns="0" bIns="0" anchor="t">
            <a:noAutofit/>
          </a:bodyPr>
          <a:lstStyle/>
          <a:p>
            <a:pPr algn="l">
              <a:lnSpc>
                <a:spcPct val="125000"/>
              </a:lnSpc>
            </a:pPr>
            <a:r>
              <a:rPr sz="1050" b="0" i="0">
                <a:solidFill>
                  <a:srgbClr val="7A6E62"/>
                </a:solidFill>
                <a:latin typeface="IBM Plex Sans"/>
                <a:ea typeface="IBM Plex Sans"/>
                <a:cs typeface="IBM Plex Sans Arabic"/>
              </a:rPr>
              <a:t>Any style you like, always free</a:t>
            </a:r>
          </a:p>
        </p:txBody>
      </p:sp>
      <p:cxnSp>
        <p:nvCxnSpPr>
          <p:cNvPr id="22" name="Connector 21"/>
          <p:cNvCxnSpPr/>
          <p:nvPr/>
        </p:nvCxnSpPr>
        <p:spPr>
          <a:xfrm>
            <a:off x="7366000" y="4432300"/>
            <a:ext cx="37465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366000" y="4597400"/>
            <a:ext cx="1270000" cy="698500"/>
          </a:xfrm>
          <a:prstGeom prst="rect">
            <a:avLst/>
          </a:prstGeom>
          <a:noFill/>
        </p:spPr>
        <p:txBody>
          <a:bodyPr wrap="square" lIns="0" rIns="0" tIns="0" bIns="0" anchor="t">
            <a:noAutofit/>
          </a:bodyPr>
          <a:lstStyle/>
          <a:p>
            <a:pPr algn="l">
              <a:lnSpc>
                <a:spcPct val="100000"/>
              </a:lnSpc>
            </a:pPr>
            <a:r>
              <a:rPr sz="4800" b="1" i="0">
                <a:solidFill>
                  <a:srgbClr val="FF5A36"/>
                </a:solidFill>
                <a:latin typeface="IBM Plex Mono"/>
                <a:ea typeface="IBM Plex Mono"/>
                <a:cs typeface="IBM Plex Sans Arabic"/>
              </a:rPr>
              <a:t>1</a:t>
            </a:r>
          </a:p>
        </p:txBody>
      </p:sp>
      <p:sp>
        <p:nvSpPr>
          <p:cNvPr id="24" name="TextBox 23"/>
          <p:cNvSpPr txBox="1"/>
          <p:nvPr/>
        </p:nvSpPr>
        <p:spPr>
          <a:xfrm>
            <a:off x="8763000" y="4660900"/>
            <a:ext cx="2413000" cy="254000"/>
          </a:xfrm>
          <a:prstGeom prst="rect">
            <a:avLst/>
          </a:prstGeom>
          <a:noFill/>
        </p:spPr>
        <p:txBody>
          <a:bodyPr wrap="square" lIns="0" rIns="0" tIns="0" bIns="0" anchor="t">
            <a:noAutofit/>
          </a:bodyPr>
          <a:lstStyle/>
          <a:p>
            <a:pPr algn="l">
              <a:lnSpc>
                <a:spcPct val="110000"/>
              </a:lnSpc>
            </a:pPr>
            <a:r>
              <a:rPr sz="1500" b="1" i="0">
                <a:solidFill>
                  <a:srgbClr val="1A1512"/>
                </a:solidFill>
                <a:latin typeface="Alexandria"/>
                <a:ea typeface="Alexandria"/>
                <a:cs typeface="IBM Plex Sans Arabic"/>
              </a:rPr>
              <a:t>tap to order</a:t>
            </a:r>
          </a:p>
        </p:txBody>
      </p:sp>
      <p:sp>
        <p:nvSpPr>
          <p:cNvPr id="25" name="TextBox 24"/>
          <p:cNvSpPr txBox="1"/>
          <p:nvPr/>
        </p:nvSpPr>
        <p:spPr>
          <a:xfrm>
            <a:off x="8763000" y="4940300"/>
            <a:ext cx="2413000" cy="254000"/>
          </a:xfrm>
          <a:prstGeom prst="rect">
            <a:avLst/>
          </a:prstGeom>
          <a:noFill/>
        </p:spPr>
        <p:txBody>
          <a:bodyPr wrap="square" lIns="0" rIns="0" tIns="0" bIns="0" anchor="t">
            <a:noAutofit/>
          </a:bodyPr>
          <a:lstStyle/>
          <a:p>
            <a:pPr algn="l">
              <a:lnSpc>
                <a:spcPct val="125000"/>
              </a:lnSpc>
            </a:pPr>
            <a:r>
              <a:rPr sz="1050" b="0" i="0">
                <a:solidFill>
                  <a:srgbClr val="7A6E62"/>
                </a:solidFill>
                <a:latin typeface="IBM Plex Sans"/>
                <a:ea typeface="IBM Plex Sans"/>
                <a:cs typeface="IBM Plex Sans Arabic"/>
              </a:rPr>
              <a:t>The whole plan goes to the cart</a:t>
            </a:r>
          </a:p>
        </p:txBody>
      </p:sp>
      <p:pic>
        <p:nvPicPr>
          <p:cNvPr id="26" name="Picture 25" descr="logo-ink.png"/>
          <p:cNvPicPr>
            <a:picLocks noChangeAspect="1"/>
          </p:cNvPicPr>
          <p:nvPr/>
        </p:nvPicPr>
        <p:blipFill>
          <a:blip r:embed="rId3"/>
          <a:stretch>
            <a:fillRect/>
          </a:stretch>
        </p:blipFill>
        <p:spPr>
          <a:xfrm>
            <a:off x="762000" y="6426200"/>
            <a:ext cx="208788" cy="152400"/>
          </a:xfrm>
          <a:prstGeom prst="rect">
            <a:avLst/>
          </a:prstGeom>
        </p:spPr>
      </p:pic>
      <p:sp>
        <p:nvSpPr>
          <p:cNvPr id="27" name="TextBox 26"/>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A3988B"/>
                </a:solidFill>
                <a:latin typeface="IBM Plex Mono"/>
                <a:ea typeface="IBM Plex Mono"/>
                <a:cs typeface="IBM Plex Sans Arabic"/>
              </a:rPr>
              <a:t>WEBSITE WALKTHROUGH</a:t>
            </a:r>
          </a:p>
        </p:txBody>
      </p:sp>
      <p:sp>
        <p:nvSpPr>
          <p:cNvPr id="28" name="TextBox 27"/>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7A6E62"/>
                </a:solidFill>
                <a:latin typeface="IBM Plex Mono"/>
                <a:ea typeface="IBM Plex Mono"/>
                <a:cs typeface="IBM Plex Sans Arabic"/>
              </a:rPr>
              <a:t>02</a:t>
            </a:r>
            <a:r>
              <a:rPr sz="750" b="0" i="0" spc="150">
                <a:solidFill>
                  <a:srgbClr val="A3988B"/>
                </a:solidFill>
                <a:latin typeface="IBM Plex Mono"/>
                <a:ea typeface="IBM Plex Mono"/>
                <a:cs typeface="IBM Plex Sans Arabic"/>
              </a:rPr>
              <a:t> / 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02</a:t>
            </a:r>
            <a:r>
              <a:rPr sz="950" b="0" i="0" spc="240">
                <a:solidFill>
                  <a:srgbClr val="8E969D"/>
                </a:solidFill>
                <a:latin typeface="IBM Plex Mono"/>
                <a:ea typeface="IBM Plex Mono"/>
                <a:cs typeface="IBM Plex Sans Arabic"/>
              </a:rPr>
              <a:t>  WHY IT EXISTS</a:t>
            </a:r>
          </a:p>
        </p:txBody>
      </p:sp>
      <p:sp>
        <p:nvSpPr>
          <p:cNvPr id="4" name="TextBox 3"/>
          <p:cNvSpPr txBox="1"/>
          <p:nvPr/>
        </p:nvSpPr>
        <p:spPr>
          <a:xfrm>
            <a:off x="762000" y="952500"/>
            <a:ext cx="8890000" cy="984250"/>
          </a:xfrm>
          <a:prstGeom prst="rect">
            <a:avLst/>
          </a:prstGeom>
          <a:noFill/>
        </p:spPr>
        <p:txBody>
          <a:bodyPr wrap="square" lIns="0" rIns="0" tIns="0" bIns="0" anchor="t">
            <a:noAutofit/>
          </a:bodyPr>
          <a:lstStyle/>
          <a:p>
            <a:pPr algn="l">
              <a:lnSpc>
                <a:spcPct val="106000"/>
              </a:lnSpc>
            </a:pPr>
            <a:r>
              <a:rPr sz="3200" b="1" i="0" spc="-50">
                <a:solidFill>
                  <a:srgbClr val="EDE8E1"/>
                </a:solidFill>
                <a:latin typeface="Alexandria"/>
                <a:ea typeface="Alexandria"/>
                <a:cs typeface="IBM Plex Sans Arabic"/>
              </a:rPr>
              <a:t>Three questions every host asks.</a:t>
            </a:r>
          </a:p>
          <a:p>
            <a:pPr algn="l">
              <a:lnSpc>
                <a:spcPct val="106000"/>
              </a:lnSpc>
            </a:pPr>
            <a:r>
              <a:rPr sz="3200" b="1" i="0" spc="-50">
                <a:solidFill>
                  <a:srgbClr val="FF5A36"/>
                </a:solidFill>
                <a:latin typeface="Alexandria"/>
                <a:ea typeface="Alexandria"/>
                <a:cs typeface="IBM Plex Sans Arabic"/>
              </a:rPr>
              <a:t>Three answers built into the site.</a:t>
            </a:r>
          </a:p>
        </p:txBody>
      </p:sp>
      <p:sp>
        <p:nvSpPr>
          <p:cNvPr id="5" name="Rounded Rectangle 4"/>
          <p:cNvSpPr/>
          <p:nvPr/>
        </p:nvSpPr>
        <p:spPr>
          <a:xfrm>
            <a:off x="762000" y="2540000"/>
            <a:ext cx="3403600" cy="3302000"/>
          </a:xfrm>
          <a:prstGeom prst="roundRect">
            <a:avLst>
              <a:gd name="adj" fmla="val 4230"/>
            </a:avLst>
          </a:prstGeom>
          <a:solidFill>
            <a:srgbClr val="1C2228"/>
          </a:solidFill>
          <a:ln w="12700">
            <a:solidFill>
              <a:srgbClr val="383B3E"/>
            </a:solidFill>
          </a:ln>
          <a:effectLst/>
        </p:spPr>
        <p:txBody>
          <a:bodyPr rtlCol="0" anchor="ctr" lIns="0" rIns="0"/>
          <a:lstStyle/>
          <a:p>
            <a:pPr algn="ctr"/>
          </a:p>
        </p:txBody>
      </p:sp>
      <p:sp>
        <p:nvSpPr>
          <p:cNvPr id="6" name="TextBox 5"/>
          <p:cNvSpPr txBox="1"/>
          <p:nvPr/>
        </p:nvSpPr>
        <p:spPr>
          <a:xfrm>
            <a:off x="1041400" y="2819400"/>
            <a:ext cx="1270000" cy="190500"/>
          </a:xfrm>
          <a:prstGeom prst="rect">
            <a:avLst/>
          </a:prstGeom>
          <a:noFill/>
        </p:spPr>
        <p:txBody>
          <a:bodyPr wrap="square" lIns="0" rIns="0" tIns="0" bIns="0" anchor="t">
            <a:noAutofit/>
          </a:bodyPr>
          <a:lstStyle/>
          <a:p>
            <a:pPr algn="l">
              <a:lnSpc>
                <a:spcPct val="125000"/>
              </a:lnSpc>
            </a:pPr>
            <a:r>
              <a:rPr sz="1100" b="1" i="0">
                <a:solidFill>
                  <a:srgbClr val="5A646C"/>
                </a:solidFill>
                <a:latin typeface="IBM Plex Mono"/>
                <a:ea typeface="IBM Plex Mono"/>
                <a:cs typeface="IBM Plex Sans Arabic"/>
              </a:rPr>
              <a:t>01</a:t>
            </a:r>
          </a:p>
        </p:txBody>
      </p:sp>
      <p:sp>
        <p:nvSpPr>
          <p:cNvPr id="7" name="TextBox 6"/>
          <p:cNvSpPr txBox="1"/>
          <p:nvPr/>
        </p:nvSpPr>
        <p:spPr>
          <a:xfrm>
            <a:off x="1041400" y="3175000"/>
            <a:ext cx="2857500" cy="889000"/>
          </a:xfrm>
          <a:prstGeom prst="rect">
            <a:avLst/>
          </a:prstGeom>
          <a:noFill/>
        </p:spPr>
        <p:txBody>
          <a:bodyPr wrap="square" lIns="0" rIns="0" tIns="0" bIns="0" anchor="t">
            <a:noAutofit/>
          </a:bodyPr>
          <a:lstStyle/>
          <a:p>
            <a:pPr algn="l">
              <a:lnSpc>
                <a:spcPct val="115000"/>
              </a:lnSpc>
            </a:pPr>
            <a:r>
              <a:rPr sz="2000" b="1" i="0">
                <a:solidFill>
                  <a:srgbClr val="EDE8E1"/>
                </a:solidFill>
                <a:latin typeface="Alexandria"/>
                <a:ea typeface="Alexandria"/>
                <a:cs typeface="IBM Plex Sans Arabic"/>
              </a:rPr>
              <a:t>“How much do I buy?”</a:t>
            </a:r>
          </a:p>
        </p:txBody>
      </p:sp>
      <p:cxnSp>
        <p:nvCxnSpPr>
          <p:cNvPr id="8" name="Connector 7"/>
          <p:cNvCxnSpPr/>
          <p:nvPr/>
        </p:nvCxnSpPr>
        <p:spPr>
          <a:xfrm>
            <a:off x="1041400" y="4241800"/>
            <a:ext cx="419100" cy="0"/>
          </a:xfrm>
          <a:prstGeom prst="line">
            <a:avLst/>
          </a:prstGeom>
          <a:ln w="317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41400" y="4445000"/>
            <a:ext cx="2857500" cy="952500"/>
          </a:xfrm>
          <a:prstGeom prst="rect">
            <a:avLst/>
          </a:prstGeom>
          <a:noFill/>
        </p:spPr>
        <p:txBody>
          <a:bodyPr wrap="square" lIns="0" rIns="0" tIns="0" bIns="0" anchor="t">
            <a:noAutofit/>
          </a:bodyPr>
          <a:lstStyle/>
          <a:p>
            <a:pPr algn="l">
              <a:lnSpc>
                <a:spcPct val="142000"/>
              </a:lnSpc>
            </a:pPr>
            <a:r>
              <a:rPr sz="1300" b="0" i="0">
                <a:solidFill>
                  <a:srgbClr val="C8C1B7"/>
                </a:solidFill>
                <a:latin typeface="IBM Plex Sans"/>
                <a:ea typeface="IBM Plex Sans"/>
                <a:cs typeface="IBM Plex Sans Arabic"/>
              </a:rPr>
              <a:t>The advisor works it out to the gram, from the number of guests and the dish.</a:t>
            </a:r>
          </a:p>
        </p:txBody>
      </p:sp>
      <p:sp>
        <p:nvSpPr>
          <p:cNvPr id="10" name="TextBox 9"/>
          <p:cNvSpPr txBox="1"/>
          <p:nvPr/>
        </p:nvSpPr>
        <p:spPr>
          <a:xfrm>
            <a:off x="1041400" y="5473700"/>
            <a:ext cx="2857500" cy="190500"/>
          </a:xfrm>
          <a:prstGeom prst="rect">
            <a:avLst/>
          </a:prstGeom>
          <a:noFill/>
        </p:spPr>
        <p:txBody>
          <a:bodyPr wrap="square" lIns="0" rIns="0" tIns="0" bIns="0" anchor="t">
            <a:noAutofit/>
          </a:bodyPr>
          <a:lstStyle/>
          <a:p>
            <a:pPr algn="l">
              <a:lnSpc>
                <a:spcPct val="125000"/>
              </a:lnSpc>
            </a:pPr>
            <a:r>
              <a:rPr sz="850" b="1" i="0" spc="220">
                <a:solidFill>
                  <a:srgbClr val="FF5A36"/>
                </a:solidFill>
                <a:latin typeface="IBM Plex Mono"/>
                <a:ea typeface="IBM Plex Mono"/>
                <a:cs typeface="IBM Plex Sans Arabic"/>
              </a:rPr>
              <a:t>THE ADVISOR</a:t>
            </a:r>
          </a:p>
        </p:txBody>
      </p:sp>
      <p:sp>
        <p:nvSpPr>
          <p:cNvPr id="11" name="Rounded Rectangle 10"/>
          <p:cNvSpPr/>
          <p:nvPr/>
        </p:nvSpPr>
        <p:spPr>
          <a:xfrm>
            <a:off x="4394200" y="2540000"/>
            <a:ext cx="3403600" cy="3302000"/>
          </a:xfrm>
          <a:prstGeom prst="roundRect">
            <a:avLst>
              <a:gd name="adj" fmla="val 4230"/>
            </a:avLst>
          </a:prstGeom>
          <a:solidFill>
            <a:srgbClr val="1C2228"/>
          </a:solidFill>
          <a:ln w="12700">
            <a:solidFill>
              <a:srgbClr val="383B3E"/>
            </a:solidFill>
          </a:ln>
          <a:effectLst/>
        </p:spPr>
        <p:txBody>
          <a:bodyPr rtlCol="0" anchor="ctr" lIns="0" rIns="0"/>
          <a:lstStyle/>
          <a:p>
            <a:pPr algn="ctr"/>
          </a:p>
        </p:txBody>
      </p:sp>
      <p:sp>
        <p:nvSpPr>
          <p:cNvPr id="12" name="TextBox 11"/>
          <p:cNvSpPr txBox="1"/>
          <p:nvPr/>
        </p:nvSpPr>
        <p:spPr>
          <a:xfrm>
            <a:off x="4673600" y="2819400"/>
            <a:ext cx="1270000" cy="190500"/>
          </a:xfrm>
          <a:prstGeom prst="rect">
            <a:avLst/>
          </a:prstGeom>
          <a:noFill/>
        </p:spPr>
        <p:txBody>
          <a:bodyPr wrap="square" lIns="0" rIns="0" tIns="0" bIns="0" anchor="t">
            <a:noAutofit/>
          </a:bodyPr>
          <a:lstStyle/>
          <a:p>
            <a:pPr algn="l">
              <a:lnSpc>
                <a:spcPct val="125000"/>
              </a:lnSpc>
            </a:pPr>
            <a:r>
              <a:rPr sz="1100" b="1" i="0">
                <a:solidFill>
                  <a:srgbClr val="5A646C"/>
                </a:solidFill>
                <a:latin typeface="IBM Plex Mono"/>
                <a:ea typeface="IBM Plex Mono"/>
                <a:cs typeface="IBM Plex Sans Arabic"/>
              </a:rPr>
              <a:t>02</a:t>
            </a:r>
          </a:p>
        </p:txBody>
      </p:sp>
      <p:sp>
        <p:nvSpPr>
          <p:cNvPr id="13" name="TextBox 12"/>
          <p:cNvSpPr txBox="1"/>
          <p:nvPr/>
        </p:nvSpPr>
        <p:spPr>
          <a:xfrm>
            <a:off x="4673600" y="3175000"/>
            <a:ext cx="2857500" cy="889000"/>
          </a:xfrm>
          <a:prstGeom prst="rect">
            <a:avLst/>
          </a:prstGeom>
          <a:noFill/>
        </p:spPr>
        <p:txBody>
          <a:bodyPr wrap="square" lIns="0" rIns="0" tIns="0" bIns="0" anchor="t">
            <a:noAutofit/>
          </a:bodyPr>
          <a:lstStyle/>
          <a:p>
            <a:pPr algn="l">
              <a:lnSpc>
                <a:spcPct val="115000"/>
              </a:lnSpc>
            </a:pPr>
            <a:r>
              <a:rPr sz="2000" b="1" i="0">
                <a:solidFill>
                  <a:srgbClr val="EDE8E1"/>
                </a:solidFill>
                <a:latin typeface="Alexandria"/>
                <a:ea typeface="Alexandria"/>
                <a:cs typeface="IBM Plex Sans Arabic"/>
              </a:rPr>
              <a:t>“How should it be cut?”</a:t>
            </a:r>
          </a:p>
        </p:txBody>
      </p:sp>
      <p:cxnSp>
        <p:nvCxnSpPr>
          <p:cNvPr id="14" name="Connector 13"/>
          <p:cNvCxnSpPr/>
          <p:nvPr/>
        </p:nvCxnSpPr>
        <p:spPr>
          <a:xfrm>
            <a:off x="4673600" y="4241800"/>
            <a:ext cx="419100" cy="0"/>
          </a:xfrm>
          <a:prstGeom prst="line">
            <a:avLst/>
          </a:prstGeom>
          <a:ln w="317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73600" y="4445000"/>
            <a:ext cx="2857500" cy="952500"/>
          </a:xfrm>
          <a:prstGeom prst="rect">
            <a:avLst/>
          </a:prstGeom>
          <a:noFill/>
        </p:spPr>
        <p:txBody>
          <a:bodyPr wrap="square" lIns="0" rIns="0" tIns="0" bIns="0" anchor="t">
            <a:noAutofit/>
          </a:bodyPr>
          <a:lstStyle/>
          <a:p>
            <a:pPr algn="l">
              <a:lnSpc>
                <a:spcPct val="142000"/>
              </a:lnSpc>
            </a:pPr>
            <a:r>
              <a:rPr sz="1300" b="0" i="0">
                <a:solidFill>
                  <a:srgbClr val="C8C1B7"/>
                </a:solidFill>
                <a:latin typeface="IBM Plex Sans"/>
                <a:ea typeface="IBM Plex Sans"/>
                <a:cs typeface="IBM Plex Sans Arabic"/>
              </a:rPr>
              <a:t>Pick any cutting style — cubes, slices, steaks, kabsa pieces, mince. Cutting is always free.</a:t>
            </a:r>
          </a:p>
        </p:txBody>
      </p:sp>
      <p:sp>
        <p:nvSpPr>
          <p:cNvPr id="16" name="TextBox 15"/>
          <p:cNvSpPr txBox="1"/>
          <p:nvPr/>
        </p:nvSpPr>
        <p:spPr>
          <a:xfrm>
            <a:off x="4673600" y="5473700"/>
            <a:ext cx="2857500" cy="190500"/>
          </a:xfrm>
          <a:prstGeom prst="rect">
            <a:avLst/>
          </a:prstGeom>
          <a:noFill/>
        </p:spPr>
        <p:txBody>
          <a:bodyPr wrap="square" lIns="0" rIns="0" tIns="0" bIns="0" anchor="t">
            <a:noAutofit/>
          </a:bodyPr>
          <a:lstStyle/>
          <a:p>
            <a:pPr algn="l">
              <a:lnSpc>
                <a:spcPct val="125000"/>
              </a:lnSpc>
            </a:pPr>
            <a:r>
              <a:rPr sz="850" b="1" i="0" spc="220">
                <a:solidFill>
                  <a:srgbClr val="FF5A36"/>
                </a:solidFill>
                <a:latin typeface="IBM Plex Mono"/>
                <a:ea typeface="IBM Plex Mono"/>
                <a:cs typeface="IBM Plex Sans Arabic"/>
              </a:rPr>
              <a:t>FREE CUTTING</a:t>
            </a:r>
          </a:p>
        </p:txBody>
      </p:sp>
      <p:sp>
        <p:nvSpPr>
          <p:cNvPr id="17" name="Rounded Rectangle 16"/>
          <p:cNvSpPr/>
          <p:nvPr/>
        </p:nvSpPr>
        <p:spPr>
          <a:xfrm>
            <a:off x="8026400" y="2540000"/>
            <a:ext cx="3403600" cy="3302000"/>
          </a:xfrm>
          <a:prstGeom prst="roundRect">
            <a:avLst>
              <a:gd name="adj" fmla="val 4230"/>
            </a:avLst>
          </a:prstGeom>
          <a:solidFill>
            <a:srgbClr val="1C2228"/>
          </a:solidFill>
          <a:ln w="12700">
            <a:solidFill>
              <a:srgbClr val="383B3E"/>
            </a:solidFill>
          </a:ln>
          <a:effectLst/>
        </p:spPr>
        <p:txBody>
          <a:bodyPr rtlCol="0" anchor="ctr" lIns="0" rIns="0"/>
          <a:lstStyle/>
          <a:p>
            <a:pPr algn="ctr"/>
          </a:p>
        </p:txBody>
      </p:sp>
      <p:sp>
        <p:nvSpPr>
          <p:cNvPr id="18" name="TextBox 17"/>
          <p:cNvSpPr txBox="1"/>
          <p:nvPr/>
        </p:nvSpPr>
        <p:spPr>
          <a:xfrm>
            <a:off x="8305800" y="2819400"/>
            <a:ext cx="1270000" cy="190500"/>
          </a:xfrm>
          <a:prstGeom prst="rect">
            <a:avLst/>
          </a:prstGeom>
          <a:noFill/>
        </p:spPr>
        <p:txBody>
          <a:bodyPr wrap="square" lIns="0" rIns="0" tIns="0" bIns="0" anchor="t">
            <a:noAutofit/>
          </a:bodyPr>
          <a:lstStyle/>
          <a:p>
            <a:pPr algn="l">
              <a:lnSpc>
                <a:spcPct val="125000"/>
              </a:lnSpc>
            </a:pPr>
            <a:r>
              <a:rPr sz="1100" b="1" i="0">
                <a:solidFill>
                  <a:srgbClr val="5A646C"/>
                </a:solidFill>
                <a:latin typeface="IBM Plex Mono"/>
                <a:ea typeface="IBM Plex Mono"/>
                <a:cs typeface="IBM Plex Sans Arabic"/>
              </a:rPr>
              <a:t>03</a:t>
            </a:r>
          </a:p>
        </p:txBody>
      </p:sp>
      <p:sp>
        <p:nvSpPr>
          <p:cNvPr id="19" name="TextBox 18"/>
          <p:cNvSpPr txBox="1"/>
          <p:nvPr/>
        </p:nvSpPr>
        <p:spPr>
          <a:xfrm>
            <a:off x="8305800" y="3175000"/>
            <a:ext cx="2857500" cy="889000"/>
          </a:xfrm>
          <a:prstGeom prst="rect">
            <a:avLst/>
          </a:prstGeom>
          <a:noFill/>
        </p:spPr>
        <p:txBody>
          <a:bodyPr wrap="square" lIns="0" rIns="0" tIns="0" bIns="0" anchor="t">
            <a:noAutofit/>
          </a:bodyPr>
          <a:lstStyle/>
          <a:p>
            <a:pPr algn="l">
              <a:lnSpc>
                <a:spcPct val="115000"/>
              </a:lnSpc>
            </a:pPr>
            <a:r>
              <a:rPr sz="2000" b="1" i="0">
                <a:solidFill>
                  <a:srgbClr val="EDE8E1"/>
                </a:solidFill>
                <a:latin typeface="Alexandria"/>
                <a:ea typeface="Alexandria"/>
                <a:cs typeface="IBM Plex Sans Arabic"/>
              </a:rPr>
              <a:t>“What else do I need?”</a:t>
            </a:r>
          </a:p>
        </p:txBody>
      </p:sp>
      <p:cxnSp>
        <p:nvCxnSpPr>
          <p:cNvPr id="20" name="Connector 19"/>
          <p:cNvCxnSpPr/>
          <p:nvPr/>
        </p:nvCxnSpPr>
        <p:spPr>
          <a:xfrm>
            <a:off x="8305800" y="4241800"/>
            <a:ext cx="419100" cy="0"/>
          </a:xfrm>
          <a:prstGeom prst="line">
            <a:avLst/>
          </a:prstGeom>
          <a:ln w="317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305800" y="4445000"/>
            <a:ext cx="2857500" cy="952500"/>
          </a:xfrm>
          <a:prstGeom prst="rect">
            <a:avLst/>
          </a:prstGeom>
          <a:noFill/>
        </p:spPr>
        <p:txBody>
          <a:bodyPr wrap="square" lIns="0" rIns="0" tIns="0" bIns="0" anchor="t">
            <a:noAutofit/>
          </a:bodyPr>
          <a:lstStyle/>
          <a:p>
            <a:pPr algn="l">
              <a:lnSpc>
                <a:spcPct val="142000"/>
              </a:lnSpc>
            </a:pPr>
            <a:r>
              <a:rPr sz="1300" b="0" i="0">
                <a:solidFill>
                  <a:srgbClr val="C8C1B7"/>
                </a:solidFill>
                <a:latin typeface="IBM Plex Sans"/>
                <a:ea typeface="IBM Plex Sans"/>
                <a:cs typeface="IBM Plex Sans Arabic"/>
              </a:rPr>
              <a:t>Marinade, skewers, charcoal and spices are part of the plan, each with a clear price.</a:t>
            </a:r>
          </a:p>
        </p:txBody>
      </p:sp>
      <p:sp>
        <p:nvSpPr>
          <p:cNvPr id="22" name="TextBox 21"/>
          <p:cNvSpPr txBox="1"/>
          <p:nvPr/>
        </p:nvSpPr>
        <p:spPr>
          <a:xfrm>
            <a:off x="8305800" y="5473700"/>
            <a:ext cx="2857500" cy="190500"/>
          </a:xfrm>
          <a:prstGeom prst="rect">
            <a:avLst/>
          </a:prstGeom>
          <a:noFill/>
        </p:spPr>
        <p:txBody>
          <a:bodyPr wrap="square" lIns="0" rIns="0" tIns="0" bIns="0" anchor="t">
            <a:noAutofit/>
          </a:bodyPr>
          <a:lstStyle/>
          <a:p>
            <a:pPr algn="l">
              <a:lnSpc>
                <a:spcPct val="125000"/>
              </a:lnSpc>
            </a:pPr>
            <a:r>
              <a:rPr sz="850" b="1" i="0" spc="220">
                <a:solidFill>
                  <a:srgbClr val="FF5A36"/>
                </a:solidFill>
                <a:latin typeface="IBM Plex Mono"/>
                <a:ea typeface="IBM Plex Mono"/>
                <a:cs typeface="IBM Plex Sans Arabic"/>
              </a:rPr>
              <a:t>MEAT + KIT IN ONE PLAN</a:t>
            </a:r>
          </a:p>
        </p:txBody>
      </p:sp>
      <p:pic>
        <p:nvPicPr>
          <p:cNvPr id="23" name="Picture 22" descr="logo-bone.png"/>
          <p:cNvPicPr>
            <a:picLocks noChangeAspect="1"/>
          </p:cNvPicPr>
          <p:nvPr/>
        </p:nvPicPr>
        <p:blipFill>
          <a:blip r:embed="rId3"/>
          <a:stretch>
            <a:fillRect/>
          </a:stretch>
        </p:blipFill>
        <p:spPr>
          <a:xfrm>
            <a:off x="762000" y="6426200"/>
            <a:ext cx="208788" cy="152400"/>
          </a:xfrm>
          <a:prstGeom prst="rect">
            <a:avLst/>
          </a:prstGeom>
        </p:spPr>
      </p:pic>
      <p:sp>
        <p:nvSpPr>
          <p:cNvPr id="24" name="TextBox 23"/>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5" name="TextBox 24"/>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03</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03</a:t>
            </a:r>
            <a:r>
              <a:rPr sz="950" b="0" i="0" spc="240">
                <a:solidFill>
                  <a:srgbClr val="8E969D"/>
                </a:solidFill>
                <a:latin typeface="IBM Plex Mono"/>
                <a:ea typeface="IBM Plex Mono"/>
                <a:cs typeface="IBM Plex Sans Arabic"/>
              </a:rPr>
              <a:t>  THE JOURNEY AT A GLANCE</a:t>
            </a:r>
          </a:p>
        </p:txBody>
      </p:sp>
      <p:sp>
        <p:nvSpPr>
          <p:cNvPr id="4" name="TextBox 3"/>
          <p:cNvSpPr txBox="1"/>
          <p:nvPr/>
        </p:nvSpPr>
        <p:spPr>
          <a:xfrm>
            <a:off x="762000" y="952500"/>
            <a:ext cx="8890000" cy="984250"/>
          </a:xfrm>
          <a:prstGeom prst="rect">
            <a:avLst/>
          </a:prstGeom>
          <a:noFill/>
        </p:spPr>
        <p:txBody>
          <a:bodyPr wrap="square" lIns="0" rIns="0" tIns="0" bIns="0" anchor="t">
            <a:noAutofit/>
          </a:bodyPr>
          <a:lstStyle/>
          <a:p>
            <a:pPr algn="l">
              <a:lnSpc>
                <a:spcPct val="106000"/>
              </a:lnSpc>
            </a:pPr>
            <a:r>
              <a:rPr sz="3200" b="1" i="0" spc="-50">
                <a:solidFill>
                  <a:srgbClr val="EDE8E1"/>
                </a:solidFill>
                <a:latin typeface="Alexandria"/>
                <a:ea typeface="Alexandria"/>
                <a:cs typeface="IBM Plex Sans Arabic"/>
              </a:rPr>
              <a:t>One journey.</a:t>
            </a:r>
          </a:p>
          <a:p>
            <a:pPr algn="l">
              <a:lnSpc>
                <a:spcPct val="106000"/>
              </a:lnSpc>
            </a:pPr>
            <a:r>
              <a:rPr sz="3200" b="1" i="0" spc="-50">
                <a:solidFill>
                  <a:srgbClr val="FF5A36"/>
                </a:solidFill>
                <a:latin typeface="Alexandria"/>
                <a:ea typeface="Alexandria"/>
                <a:cs typeface="IBM Plex Sans Arabic"/>
              </a:rPr>
              <a:t>Seven simple steps.</a:t>
            </a:r>
          </a:p>
        </p:txBody>
      </p:sp>
      <p:cxnSp>
        <p:nvCxnSpPr>
          <p:cNvPr id="5" name="Connector 4"/>
          <p:cNvCxnSpPr/>
          <p:nvPr/>
        </p:nvCxnSpPr>
        <p:spPr>
          <a:xfrm>
            <a:off x="1016000" y="3302000"/>
            <a:ext cx="10160000" cy="0"/>
          </a:xfrm>
          <a:prstGeom prst="line">
            <a:avLst/>
          </a:prstGeom>
          <a:ln w="25400">
            <a:solidFill>
              <a:srgbClr val="383B3E"/>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00100" y="3086100"/>
            <a:ext cx="431800" cy="431800"/>
          </a:xfrm>
          <a:prstGeom prst="ellipse">
            <a:avLst/>
          </a:prstGeom>
          <a:solidFill>
            <a:srgbClr val="1C2228"/>
          </a:solidFill>
          <a:ln w="25400">
            <a:solidFill>
              <a:srgbClr val="FF5A36"/>
            </a:solidFill>
          </a:ln>
          <a:effectLst/>
        </p:spPr>
        <p:txBody>
          <a:bodyPr rtlCol="0" anchor="ctr"/>
          <a:lstStyle/>
          <a:p>
            <a:pPr algn="ctr"/>
          </a:p>
        </p:txBody>
      </p:sp>
      <p:sp>
        <p:nvSpPr>
          <p:cNvPr id="7" name="TextBox 6"/>
          <p:cNvSpPr txBox="1"/>
          <p:nvPr/>
        </p:nvSpPr>
        <p:spPr>
          <a:xfrm>
            <a:off x="800100" y="3086100"/>
            <a:ext cx="431800" cy="431800"/>
          </a:xfrm>
          <a:prstGeom prst="rect">
            <a:avLst/>
          </a:prstGeom>
          <a:noFill/>
        </p:spPr>
        <p:txBody>
          <a:bodyPr wrap="square" lIns="0" rIns="0" tIns="0" bIns="0" anchor="ctr">
            <a:noAutofit/>
          </a:bodyPr>
          <a:lstStyle/>
          <a:p>
            <a:pPr algn="ctr">
              <a:lnSpc>
                <a:spcPct val="100000"/>
              </a:lnSpc>
            </a:pPr>
            <a:r>
              <a:rPr sz="1100" b="1" i="0">
                <a:solidFill>
                  <a:srgbClr val="FF5A36"/>
                </a:solidFill>
                <a:latin typeface="IBM Plex Mono"/>
                <a:ea typeface="IBM Plex Mono"/>
                <a:cs typeface="IBM Plex Sans Arabic"/>
              </a:rPr>
              <a:t>01</a:t>
            </a:r>
          </a:p>
        </p:txBody>
      </p:sp>
      <p:sp>
        <p:nvSpPr>
          <p:cNvPr id="8" name="TextBox 7"/>
          <p:cNvSpPr txBox="1"/>
          <p:nvPr/>
        </p:nvSpPr>
        <p:spPr>
          <a:xfrm>
            <a:off x="254000"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Discover</a:t>
            </a:r>
          </a:p>
        </p:txBody>
      </p:sp>
      <p:sp>
        <p:nvSpPr>
          <p:cNvPr id="9" name="TextBox 8"/>
          <p:cNvSpPr txBox="1"/>
          <p:nvPr/>
        </p:nvSpPr>
        <p:spPr>
          <a:xfrm>
            <a:off x="266700"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Home page, occasions, the herd</a:t>
            </a:r>
          </a:p>
        </p:txBody>
      </p:sp>
      <p:sp>
        <p:nvSpPr>
          <p:cNvPr id="10" name="Oval 9"/>
          <p:cNvSpPr/>
          <p:nvPr/>
        </p:nvSpPr>
        <p:spPr>
          <a:xfrm>
            <a:off x="2493433" y="3086100"/>
            <a:ext cx="431800" cy="431800"/>
          </a:xfrm>
          <a:prstGeom prst="ellipse">
            <a:avLst/>
          </a:prstGeom>
          <a:solidFill>
            <a:srgbClr val="FF5A36"/>
          </a:solidFill>
          <a:ln w="25400">
            <a:solidFill>
              <a:srgbClr val="FF5A36"/>
            </a:solidFill>
          </a:ln>
          <a:effectLst/>
        </p:spPr>
        <p:txBody>
          <a:bodyPr rtlCol="0" anchor="ctr"/>
          <a:lstStyle/>
          <a:p>
            <a:pPr algn="ctr"/>
          </a:p>
        </p:txBody>
      </p:sp>
      <p:sp>
        <p:nvSpPr>
          <p:cNvPr id="11" name="TextBox 10"/>
          <p:cNvSpPr txBox="1"/>
          <p:nvPr/>
        </p:nvSpPr>
        <p:spPr>
          <a:xfrm>
            <a:off x="2493433" y="3086100"/>
            <a:ext cx="431800" cy="431800"/>
          </a:xfrm>
          <a:prstGeom prst="rect">
            <a:avLst/>
          </a:prstGeom>
          <a:noFill/>
        </p:spPr>
        <p:txBody>
          <a:bodyPr wrap="square" lIns="0" rIns="0" tIns="0" bIns="0" anchor="ctr">
            <a:noAutofit/>
          </a:bodyPr>
          <a:lstStyle/>
          <a:p>
            <a:pPr algn="ctr">
              <a:lnSpc>
                <a:spcPct val="100000"/>
              </a:lnSpc>
            </a:pPr>
            <a:r>
              <a:rPr sz="1100" b="1" i="0">
                <a:solidFill>
                  <a:srgbClr val="161A1F"/>
                </a:solidFill>
                <a:latin typeface="IBM Plex Mono"/>
                <a:ea typeface="IBM Plex Mono"/>
                <a:cs typeface="IBM Plex Sans Arabic"/>
              </a:rPr>
              <a:t>02</a:t>
            </a:r>
          </a:p>
        </p:txBody>
      </p:sp>
      <p:sp>
        <p:nvSpPr>
          <p:cNvPr id="12" name="TextBox 11"/>
          <p:cNvSpPr txBox="1"/>
          <p:nvPr/>
        </p:nvSpPr>
        <p:spPr>
          <a:xfrm>
            <a:off x="1947333"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Plan</a:t>
            </a:r>
          </a:p>
        </p:txBody>
      </p:sp>
      <p:sp>
        <p:nvSpPr>
          <p:cNvPr id="13" name="TextBox 12"/>
          <p:cNvSpPr txBox="1"/>
          <p:nvPr/>
        </p:nvSpPr>
        <p:spPr>
          <a:xfrm>
            <a:off x="1960033"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The advisor builds a plan to the gram</a:t>
            </a:r>
          </a:p>
        </p:txBody>
      </p:sp>
      <p:sp>
        <p:nvSpPr>
          <p:cNvPr id="14" name="Oval 13"/>
          <p:cNvSpPr/>
          <p:nvPr/>
        </p:nvSpPr>
        <p:spPr>
          <a:xfrm>
            <a:off x="4186767" y="3086100"/>
            <a:ext cx="431800" cy="431800"/>
          </a:xfrm>
          <a:prstGeom prst="ellipse">
            <a:avLst/>
          </a:prstGeom>
          <a:solidFill>
            <a:srgbClr val="1C2228"/>
          </a:solidFill>
          <a:ln w="25400">
            <a:solidFill>
              <a:srgbClr val="FF5A36"/>
            </a:solidFill>
          </a:ln>
          <a:effectLst/>
        </p:spPr>
        <p:txBody>
          <a:bodyPr rtlCol="0" anchor="ctr"/>
          <a:lstStyle/>
          <a:p>
            <a:pPr algn="ctr"/>
          </a:p>
        </p:txBody>
      </p:sp>
      <p:sp>
        <p:nvSpPr>
          <p:cNvPr id="15" name="TextBox 14"/>
          <p:cNvSpPr txBox="1"/>
          <p:nvPr/>
        </p:nvSpPr>
        <p:spPr>
          <a:xfrm>
            <a:off x="4186767" y="3086100"/>
            <a:ext cx="431800" cy="431800"/>
          </a:xfrm>
          <a:prstGeom prst="rect">
            <a:avLst/>
          </a:prstGeom>
          <a:noFill/>
        </p:spPr>
        <p:txBody>
          <a:bodyPr wrap="square" lIns="0" rIns="0" tIns="0" bIns="0" anchor="ctr">
            <a:noAutofit/>
          </a:bodyPr>
          <a:lstStyle/>
          <a:p>
            <a:pPr algn="ctr">
              <a:lnSpc>
                <a:spcPct val="100000"/>
              </a:lnSpc>
            </a:pPr>
            <a:r>
              <a:rPr sz="1100" b="1" i="0">
                <a:solidFill>
                  <a:srgbClr val="FF5A36"/>
                </a:solidFill>
                <a:latin typeface="IBM Plex Mono"/>
                <a:ea typeface="IBM Plex Mono"/>
                <a:cs typeface="IBM Plex Sans Arabic"/>
              </a:rPr>
              <a:t>03</a:t>
            </a:r>
          </a:p>
        </p:txBody>
      </p:sp>
      <p:sp>
        <p:nvSpPr>
          <p:cNvPr id="16" name="TextBox 15"/>
          <p:cNvSpPr txBox="1"/>
          <p:nvPr/>
        </p:nvSpPr>
        <p:spPr>
          <a:xfrm>
            <a:off x="3640667"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Choose</a:t>
            </a:r>
          </a:p>
        </p:txBody>
      </p:sp>
      <p:sp>
        <p:nvSpPr>
          <p:cNvPr id="17" name="TextBox 16"/>
          <p:cNvSpPr txBox="1"/>
          <p:nvPr/>
        </p:nvSpPr>
        <p:spPr>
          <a:xfrm>
            <a:off x="3653367"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Shop, search, cut map, product page</a:t>
            </a:r>
          </a:p>
        </p:txBody>
      </p:sp>
      <p:sp>
        <p:nvSpPr>
          <p:cNvPr id="18" name="Oval 17"/>
          <p:cNvSpPr/>
          <p:nvPr/>
        </p:nvSpPr>
        <p:spPr>
          <a:xfrm>
            <a:off x="5880100" y="3086100"/>
            <a:ext cx="431800" cy="431800"/>
          </a:xfrm>
          <a:prstGeom prst="ellipse">
            <a:avLst/>
          </a:prstGeom>
          <a:solidFill>
            <a:srgbClr val="1C2228"/>
          </a:solidFill>
          <a:ln w="25400">
            <a:solidFill>
              <a:srgbClr val="FF5A36"/>
            </a:solidFill>
          </a:ln>
          <a:effectLst/>
        </p:spPr>
        <p:txBody>
          <a:bodyPr rtlCol="0" anchor="ctr"/>
          <a:lstStyle/>
          <a:p>
            <a:pPr algn="ctr"/>
          </a:p>
        </p:txBody>
      </p:sp>
      <p:sp>
        <p:nvSpPr>
          <p:cNvPr id="19" name="TextBox 18"/>
          <p:cNvSpPr txBox="1"/>
          <p:nvPr/>
        </p:nvSpPr>
        <p:spPr>
          <a:xfrm>
            <a:off x="5880100" y="3086100"/>
            <a:ext cx="431800" cy="431800"/>
          </a:xfrm>
          <a:prstGeom prst="rect">
            <a:avLst/>
          </a:prstGeom>
          <a:noFill/>
        </p:spPr>
        <p:txBody>
          <a:bodyPr wrap="square" lIns="0" rIns="0" tIns="0" bIns="0" anchor="ctr">
            <a:noAutofit/>
          </a:bodyPr>
          <a:lstStyle/>
          <a:p>
            <a:pPr algn="ctr">
              <a:lnSpc>
                <a:spcPct val="100000"/>
              </a:lnSpc>
            </a:pPr>
            <a:r>
              <a:rPr sz="1100" b="1" i="0">
                <a:solidFill>
                  <a:srgbClr val="FF5A36"/>
                </a:solidFill>
                <a:latin typeface="IBM Plex Mono"/>
                <a:ea typeface="IBM Plex Mono"/>
                <a:cs typeface="IBM Plex Sans Arabic"/>
              </a:rPr>
              <a:t>04</a:t>
            </a:r>
          </a:p>
        </p:txBody>
      </p:sp>
      <p:sp>
        <p:nvSpPr>
          <p:cNvPr id="20" name="TextBox 19"/>
          <p:cNvSpPr txBox="1"/>
          <p:nvPr/>
        </p:nvSpPr>
        <p:spPr>
          <a:xfrm>
            <a:off x="5334000"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Cart</a:t>
            </a:r>
          </a:p>
        </p:txBody>
      </p:sp>
      <p:sp>
        <p:nvSpPr>
          <p:cNvPr id="21" name="TextBox 20"/>
          <p:cNvSpPr txBox="1"/>
          <p:nvPr/>
        </p:nvSpPr>
        <p:spPr>
          <a:xfrm>
            <a:off x="5346700"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A draft receipt you can adjust</a:t>
            </a:r>
          </a:p>
        </p:txBody>
      </p:sp>
      <p:sp>
        <p:nvSpPr>
          <p:cNvPr id="22" name="Oval 21"/>
          <p:cNvSpPr/>
          <p:nvPr/>
        </p:nvSpPr>
        <p:spPr>
          <a:xfrm>
            <a:off x="7573433" y="3086100"/>
            <a:ext cx="431800" cy="431800"/>
          </a:xfrm>
          <a:prstGeom prst="ellipse">
            <a:avLst/>
          </a:prstGeom>
          <a:solidFill>
            <a:srgbClr val="1C2228"/>
          </a:solidFill>
          <a:ln w="25400">
            <a:solidFill>
              <a:srgbClr val="FF5A36"/>
            </a:solidFill>
          </a:ln>
          <a:effectLst/>
        </p:spPr>
        <p:txBody>
          <a:bodyPr rtlCol="0" anchor="ctr"/>
          <a:lstStyle/>
          <a:p>
            <a:pPr algn="ctr"/>
          </a:p>
        </p:txBody>
      </p:sp>
      <p:sp>
        <p:nvSpPr>
          <p:cNvPr id="23" name="TextBox 22"/>
          <p:cNvSpPr txBox="1"/>
          <p:nvPr/>
        </p:nvSpPr>
        <p:spPr>
          <a:xfrm>
            <a:off x="7573433" y="3086100"/>
            <a:ext cx="431800" cy="431800"/>
          </a:xfrm>
          <a:prstGeom prst="rect">
            <a:avLst/>
          </a:prstGeom>
          <a:noFill/>
        </p:spPr>
        <p:txBody>
          <a:bodyPr wrap="square" lIns="0" rIns="0" tIns="0" bIns="0" anchor="ctr">
            <a:noAutofit/>
          </a:bodyPr>
          <a:lstStyle/>
          <a:p>
            <a:pPr algn="ctr">
              <a:lnSpc>
                <a:spcPct val="100000"/>
              </a:lnSpc>
            </a:pPr>
            <a:r>
              <a:rPr sz="1100" b="1" i="0">
                <a:solidFill>
                  <a:srgbClr val="FF5A36"/>
                </a:solidFill>
                <a:latin typeface="IBM Plex Mono"/>
                <a:ea typeface="IBM Plex Mono"/>
                <a:cs typeface="IBM Plex Sans Arabic"/>
              </a:rPr>
              <a:t>05</a:t>
            </a:r>
          </a:p>
        </p:txBody>
      </p:sp>
      <p:sp>
        <p:nvSpPr>
          <p:cNvPr id="24" name="TextBox 23"/>
          <p:cNvSpPr txBox="1"/>
          <p:nvPr/>
        </p:nvSpPr>
        <p:spPr>
          <a:xfrm>
            <a:off x="7027333"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Checkout</a:t>
            </a:r>
          </a:p>
        </p:txBody>
      </p:sp>
      <p:sp>
        <p:nvSpPr>
          <p:cNvPr id="25" name="TextBox 24"/>
          <p:cNvSpPr txBox="1"/>
          <p:nvPr/>
        </p:nvSpPr>
        <p:spPr>
          <a:xfrm>
            <a:off x="7040033"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Phone sign-in, address, time, payment</a:t>
            </a:r>
          </a:p>
        </p:txBody>
      </p:sp>
      <p:sp>
        <p:nvSpPr>
          <p:cNvPr id="26" name="Oval 25"/>
          <p:cNvSpPr/>
          <p:nvPr/>
        </p:nvSpPr>
        <p:spPr>
          <a:xfrm>
            <a:off x="9266767" y="3086100"/>
            <a:ext cx="431800" cy="431800"/>
          </a:xfrm>
          <a:prstGeom prst="ellipse">
            <a:avLst/>
          </a:prstGeom>
          <a:solidFill>
            <a:srgbClr val="1C2228"/>
          </a:solidFill>
          <a:ln w="25400">
            <a:solidFill>
              <a:srgbClr val="FF5A36"/>
            </a:solidFill>
          </a:ln>
          <a:effectLst/>
        </p:spPr>
        <p:txBody>
          <a:bodyPr rtlCol="0" anchor="ctr"/>
          <a:lstStyle/>
          <a:p>
            <a:pPr algn="ctr"/>
          </a:p>
        </p:txBody>
      </p:sp>
      <p:sp>
        <p:nvSpPr>
          <p:cNvPr id="27" name="TextBox 26"/>
          <p:cNvSpPr txBox="1"/>
          <p:nvPr/>
        </p:nvSpPr>
        <p:spPr>
          <a:xfrm>
            <a:off x="9266767" y="3086100"/>
            <a:ext cx="431800" cy="431800"/>
          </a:xfrm>
          <a:prstGeom prst="rect">
            <a:avLst/>
          </a:prstGeom>
          <a:noFill/>
        </p:spPr>
        <p:txBody>
          <a:bodyPr wrap="square" lIns="0" rIns="0" tIns="0" bIns="0" anchor="ctr">
            <a:noAutofit/>
          </a:bodyPr>
          <a:lstStyle/>
          <a:p>
            <a:pPr algn="ctr">
              <a:lnSpc>
                <a:spcPct val="100000"/>
              </a:lnSpc>
            </a:pPr>
            <a:r>
              <a:rPr sz="1100" b="1" i="0">
                <a:solidFill>
                  <a:srgbClr val="FF5A36"/>
                </a:solidFill>
                <a:latin typeface="IBM Plex Mono"/>
                <a:ea typeface="IBM Plex Mono"/>
                <a:cs typeface="IBM Plex Sans Arabic"/>
              </a:rPr>
              <a:t>06</a:t>
            </a:r>
          </a:p>
        </p:txBody>
      </p:sp>
      <p:sp>
        <p:nvSpPr>
          <p:cNvPr id="28" name="TextBox 27"/>
          <p:cNvSpPr txBox="1"/>
          <p:nvPr/>
        </p:nvSpPr>
        <p:spPr>
          <a:xfrm>
            <a:off x="8720667"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Track</a:t>
            </a:r>
          </a:p>
        </p:txBody>
      </p:sp>
      <p:sp>
        <p:nvSpPr>
          <p:cNvPr id="29" name="TextBox 28"/>
          <p:cNvSpPr txBox="1"/>
          <p:nvPr/>
        </p:nvSpPr>
        <p:spPr>
          <a:xfrm>
            <a:off x="8733367"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Printed receipt and 4-step status</a:t>
            </a:r>
          </a:p>
        </p:txBody>
      </p:sp>
      <p:sp>
        <p:nvSpPr>
          <p:cNvPr id="30" name="Oval 29"/>
          <p:cNvSpPr/>
          <p:nvPr/>
        </p:nvSpPr>
        <p:spPr>
          <a:xfrm>
            <a:off x="10960100" y="3086100"/>
            <a:ext cx="431800" cy="431800"/>
          </a:xfrm>
          <a:prstGeom prst="ellipse">
            <a:avLst/>
          </a:prstGeom>
          <a:solidFill>
            <a:srgbClr val="1C2228"/>
          </a:solidFill>
          <a:ln w="25400">
            <a:solidFill>
              <a:srgbClr val="FF5A36"/>
            </a:solidFill>
          </a:ln>
          <a:effectLst/>
        </p:spPr>
        <p:txBody>
          <a:bodyPr rtlCol="0" anchor="ctr"/>
          <a:lstStyle/>
          <a:p>
            <a:pPr algn="ctr"/>
          </a:p>
        </p:txBody>
      </p:sp>
      <p:sp>
        <p:nvSpPr>
          <p:cNvPr id="31" name="TextBox 30"/>
          <p:cNvSpPr txBox="1"/>
          <p:nvPr/>
        </p:nvSpPr>
        <p:spPr>
          <a:xfrm>
            <a:off x="10960100" y="3086100"/>
            <a:ext cx="431800" cy="431800"/>
          </a:xfrm>
          <a:prstGeom prst="rect">
            <a:avLst/>
          </a:prstGeom>
          <a:noFill/>
        </p:spPr>
        <p:txBody>
          <a:bodyPr wrap="square" lIns="0" rIns="0" tIns="0" bIns="0" anchor="ctr">
            <a:noAutofit/>
          </a:bodyPr>
          <a:lstStyle/>
          <a:p>
            <a:pPr algn="ctr">
              <a:lnSpc>
                <a:spcPct val="100000"/>
              </a:lnSpc>
            </a:pPr>
            <a:r>
              <a:rPr sz="1100" b="1" i="0">
                <a:solidFill>
                  <a:srgbClr val="FF5A36"/>
                </a:solidFill>
                <a:latin typeface="IBM Plex Mono"/>
                <a:ea typeface="IBM Plex Mono"/>
                <a:cs typeface="IBM Plex Sans Arabic"/>
              </a:rPr>
              <a:t>07</a:t>
            </a:r>
          </a:p>
        </p:txBody>
      </p:sp>
      <p:sp>
        <p:nvSpPr>
          <p:cNvPr id="32" name="TextBox 31"/>
          <p:cNvSpPr txBox="1"/>
          <p:nvPr/>
        </p:nvSpPr>
        <p:spPr>
          <a:xfrm>
            <a:off x="10414000" y="3708400"/>
            <a:ext cx="1524000" cy="279400"/>
          </a:xfrm>
          <a:prstGeom prst="rect">
            <a:avLst/>
          </a:prstGeom>
          <a:noFill/>
        </p:spPr>
        <p:txBody>
          <a:bodyPr wrap="square" lIns="0" rIns="0" tIns="0" bIns="0" anchor="t">
            <a:noAutofit/>
          </a:bodyPr>
          <a:lstStyle/>
          <a:p>
            <a:pPr algn="ctr">
              <a:lnSpc>
                <a:spcPct val="100000"/>
              </a:lnSpc>
            </a:pPr>
            <a:r>
              <a:rPr sz="1600" b="1" i="0">
                <a:solidFill>
                  <a:srgbClr val="EDE8E1"/>
                </a:solidFill>
                <a:latin typeface="Alexandria"/>
                <a:ea typeface="Alexandria"/>
                <a:cs typeface="IBM Plex Sans Arabic"/>
              </a:rPr>
              <a:t>Come back</a:t>
            </a:r>
          </a:p>
        </p:txBody>
      </p:sp>
      <p:sp>
        <p:nvSpPr>
          <p:cNvPr id="33" name="TextBox 32"/>
          <p:cNvSpPr txBox="1"/>
          <p:nvPr/>
        </p:nvSpPr>
        <p:spPr>
          <a:xfrm>
            <a:off x="10426700" y="4038600"/>
            <a:ext cx="1498600" cy="635000"/>
          </a:xfrm>
          <a:prstGeom prst="rect">
            <a:avLst/>
          </a:prstGeom>
          <a:noFill/>
        </p:spPr>
        <p:txBody>
          <a:bodyPr wrap="square" lIns="0" rIns="0" tIns="0" bIns="0" anchor="t">
            <a:noAutofit/>
          </a:bodyPr>
          <a:lstStyle/>
          <a:p>
            <a:pPr algn="ctr">
              <a:lnSpc>
                <a:spcPct val="135000"/>
              </a:lnSpc>
            </a:pPr>
            <a:r>
              <a:rPr sz="1050" b="0" i="0">
                <a:solidFill>
                  <a:srgbClr val="8E969D"/>
                </a:solidFill>
                <a:latin typeface="IBM Plex Sans"/>
                <a:ea typeface="IBM Plex Sans"/>
                <a:cs typeface="IBM Plex Sans Arabic"/>
              </a:rPr>
              <a:t>Saved plans, order again, wishlist</a:t>
            </a:r>
          </a:p>
        </p:txBody>
      </p:sp>
      <p:sp>
        <p:nvSpPr>
          <p:cNvPr id="34" name="Rounded Rectangle 33"/>
          <p:cNvSpPr/>
          <p:nvPr/>
        </p:nvSpPr>
        <p:spPr>
          <a:xfrm>
            <a:off x="762000" y="5397500"/>
            <a:ext cx="10668000" cy="609600"/>
          </a:xfrm>
          <a:prstGeom prst="roundRect">
            <a:avLst>
              <a:gd name="adj" fmla="val 16666"/>
            </a:avLst>
          </a:prstGeom>
          <a:solidFill>
            <a:srgbClr val="3A2420"/>
          </a:solidFill>
          <a:ln>
            <a:noFill/>
          </a:ln>
          <a:effectLst/>
        </p:spPr>
        <p:txBody>
          <a:bodyPr rtlCol="0" anchor="ctr" lIns="0" rIns="0"/>
          <a:lstStyle/>
          <a:p>
            <a:pPr algn="ctr"/>
          </a:p>
        </p:txBody>
      </p:sp>
      <p:sp>
        <p:nvSpPr>
          <p:cNvPr id="35" name="Rectangle 34"/>
          <p:cNvSpPr/>
          <p:nvPr/>
        </p:nvSpPr>
        <p:spPr>
          <a:xfrm>
            <a:off x="965200" y="5651500"/>
            <a:ext cx="101600" cy="101600"/>
          </a:xfrm>
          <a:prstGeom prst="rect">
            <a:avLst/>
          </a:prstGeom>
          <a:solidFill>
            <a:srgbClr val="FF5A36"/>
          </a:solidFill>
          <a:ln>
            <a:noFill/>
          </a:ln>
          <a:effectLst/>
        </p:spPr>
        <p:txBody>
          <a:bodyPr rtlCol="0" anchor="ctr" lIns="0" rIns="0"/>
          <a:lstStyle/>
          <a:p>
            <a:pPr algn="ctr"/>
          </a:p>
        </p:txBody>
      </p:sp>
      <p:sp>
        <p:nvSpPr>
          <p:cNvPr id="36" name="TextBox 35"/>
          <p:cNvSpPr txBox="1"/>
          <p:nvPr/>
        </p:nvSpPr>
        <p:spPr>
          <a:xfrm>
            <a:off x="1206500" y="5397500"/>
            <a:ext cx="9525000" cy="609600"/>
          </a:xfrm>
          <a:prstGeom prst="rect">
            <a:avLst/>
          </a:prstGeom>
          <a:noFill/>
        </p:spPr>
        <p:txBody>
          <a:bodyPr wrap="square" lIns="0" rIns="0" tIns="0" bIns="0" anchor="ctr">
            <a:noAutofit/>
          </a:bodyPr>
          <a:lstStyle/>
          <a:p>
            <a:pPr algn="l">
              <a:lnSpc>
                <a:spcPct val="120000"/>
              </a:lnSpc>
            </a:pPr>
            <a:r>
              <a:rPr sz="1300" b="1" i="0">
                <a:solidFill>
                  <a:srgbClr val="EDE8E1"/>
                </a:solidFill>
                <a:latin typeface="IBM Plex Sans"/>
                <a:ea typeface="IBM Plex Sans"/>
                <a:cs typeface="IBM Plex Sans Arabic"/>
              </a:rPr>
              <a:t>Behind every step: </a:t>
            </a:r>
            <a:r>
              <a:rPr sz="1300" b="0" i="0">
                <a:solidFill>
                  <a:srgbClr val="C8C1B7"/>
                </a:solidFill>
                <a:latin typeface="IBM Plex Sans"/>
                <a:ea typeface="IBM Plex Sans"/>
                <a:cs typeface="IBM Plex Sans Arabic"/>
              </a:rPr>
              <a:t>the admin dashboard — orders, stock, analytics, reports and every word and price on the site.</a:t>
            </a:r>
          </a:p>
        </p:txBody>
      </p:sp>
      <p:pic>
        <p:nvPicPr>
          <p:cNvPr id="37" name="Picture 36" descr="logo-bone.png"/>
          <p:cNvPicPr>
            <a:picLocks noChangeAspect="1"/>
          </p:cNvPicPr>
          <p:nvPr/>
        </p:nvPicPr>
        <p:blipFill>
          <a:blip r:embed="rId3"/>
          <a:stretch>
            <a:fillRect/>
          </a:stretch>
        </p:blipFill>
        <p:spPr>
          <a:xfrm>
            <a:off x="762000" y="6426200"/>
            <a:ext cx="208788" cy="152400"/>
          </a:xfrm>
          <a:prstGeom prst="rect">
            <a:avLst/>
          </a:prstGeom>
        </p:spPr>
      </p:pic>
      <p:sp>
        <p:nvSpPr>
          <p:cNvPr id="38" name="TextBox 37"/>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39" name="TextBox 38"/>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04</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04</a:t>
            </a:r>
            <a:r>
              <a:rPr sz="950" b="0" i="0" spc="240">
                <a:solidFill>
                  <a:srgbClr val="8E969D"/>
                </a:solidFill>
                <a:latin typeface="IBM Plex Mono"/>
                <a:ea typeface="IBM Plex Mono"/>
                <a:cs typeface="IBM Plex Sans Arabic"/>
              </a:rPr>
              <a:t>  UX JOURNEY · THE CUSTOMER</a:t>
            </a:r>
          </a:p>
        </p:txBody>
      </p:sp>
      <p:sp>
        <p:nvSpPr>
          <p:cNvPr id="4" name="TextBox 3"/>
          <p:cNvSpPr txBox="1"/>
          <p:nvPr/>
        </p:nvSpPr>
        <p:spPr>
          <a:xfrm>
            <a:off x="762000" y="952500"/>
            <a:ext cx="5207000" cy="984250"/>
          </a:xfrm>
          <a:prstGeom prst="rect">
            <a:avLst/>
          </a:prstGeom>
          <a:noFill/>
        </p:spPr>
        <p:txBody>
          <a:bodyPr wrap="square" lIns="0" rIns="0" tIns="0" bIns="0" anchor="t">
            <a:noAutofit/>
          </a:bodyPr>
          <a:lstStyle/>
          <a:p>
            <a:pPr algn="l">
              <a:lnSpc>
                <a:spcPct val="106000"/>
              </a:lnSpc>
            </a:pPr>
            <a:r>
              <a:rPr sz="3200" b="1" i="0" spc="-50">
                <a:solidFill>
                  <a:srgbClr val="EDE8E1"/>
                </a:solidFill>
                <a:latin typeface="Alexandria"/>
                <a:ea typeface="Alexandria"/>
                <a:cs typeface="IBM Plex Sans Arabic"/>
              </a:rPr>
              <a:t>Meet Khalid.</a:t>
            </a:r>
          </a:p>
          <a:p>
            <a:pPr algn="l">
              <a:lnSpc>
                <a:spcPct val="106000"/>
              </a:lnSpc>
            </a:pPr>
            <a:r>
              <a:rPr sz="3200" b="1" i="0" spc="-50">
                <a:solidFill>
                  <a:srgbClr val="FF5A36"/>
                </a:solidFill>
                <a:latin typeface="Alexandria"/>
                <a:ea typeface="Alexandria"/>
                <a:cs typeface="IBM Plex Sans Arabic"/>
              </a:rPr>
              <a:t>Guests on Thursday.</a:t>
            </a:r>
          </a:p>
        </p:txBody>
      </p:sp>
      <p:sp>
        <p:nvSpPr>
          <p:cNvPr id="5" name="TextBox 4"/>
          <p:cNvSpPr txBox="1"/>
          <p:nvPr/>
        </p:nvSpPr>
        <p:spPr>
          <a:xfrm>
            <a:off x="762000" y="2095500"/>
            <a:ext cx="4572000" cy="1270000"/>
          </a:xfrm>
          <a:prstGeom prst="rect">
            <a:avLst/>
          </a:prstGeom>
          <a:noFill/>
        </p:spPr>
        <p:txBody>
          <a:bodyPr wrap="square" lIns="0" rIns="0" tIns="0" bIns="0" anchor="t">
            <a:noAutofit/>
          </a:bodyPr>
          <a:lstStyle/>
          <a:p>
            <a:pPr algn="l">
              <a:lnSpc>
                <a:spcPct val="145000"/>
              </a:lnSpc>
            </a:pPr>
            <a:r>
              <a:rPr sz="1400" b="0" i="0">
                <a:solidFill>
                  <a:srgbClr val="C8C1B7"/>
                </a:solidFill>
                <a:latin typeface="IBM Plex Sans"/>
                <a:ea typeface="IBM Plex Sans"/>
                <a:cs typeface="IBM Plex Sans Arabic"/>
              </a:rPr>
              <a:t>Khalid is 34 and lives in Riyadh. He is hosting a BBQ for ten friends. He knows what he wants to cook — he just doesn't know how much to buy.</a:t>
            </a:r>
          </a:p>
        </p:txBody>
      </p:sp>
      <p:sp>
        <p:nvSpPr>
          <p:cNvPr id="6" name="TextBox 5"/>
          <p:cNvSpPr txBox="1"/>
          <p:nvPr/>
        </p:nvSpPr>
        <p:spPr>
          <a:xfrm>
            <a:off x="762000" y="3556000"/>
            <a:ext cx="1016000" cy="228600"/>
          </a:xfrm>
          <a:prstGeom prst="rect">
            <a:avLst/>
          </a:prstGeom>
          <a:noFill/>
        </p:spPr>
        <p:txBody>
          <a:bodyPr wrap="square" lIns="0" rIns="0" tIns="0" bIns="0" anchor="t">
            <a:noAutofit/>
          </a:bodyPr>
          <a:lstStyle/>
          <a:p>
            <a:pPr algn="l">
              <a:lnSpc>
                <a:spcPct val="125000"/>
              </a:lnSpc>
            </a:pPr>
            <a:r>
              <a:rPr sz="900" b="1" i="0" spc="200">
                <a:solidFill>
                  <a:srgbClr val="FF5A36"/>
                </a:solidFill>
                <a:latin typeface="IBM Plex Mono"/>
                <a:ea typeface="IBM Plex Mono"/>
                <a:cs typeface="IBM Plex Sans Arabic"/>
              </a:rPr>
              <a:t>GOAL</a:t>
            </a:r>
          </a:p>
        </p:txBody>
      </p:sp>
      <p:sp>
        <p:nvSpPr>
          <p:cNvPr id="7" name="TextBox 6"/>
          <p:cNvSpPr txBox="1"/>
          <p:nvPr/>
        </p:nvSpPr>
        <p:spPr>
          <a:xfrm>
            <a:off x="1841500" y="3530600"/>
            <a:ext cx="3556000" cy="571500"/>
          </a:xfrm>
          <a:prstGeom prst="rect">
            <a:avLst/>
          </a:prstGeom>
          <a:noFill/>
        </p:spPr>
        <p:txBody>
          <a:bodyPr wrap="square" lIns="0" rIns="0" tIns="0" bIns="0" anchor="t">
            <a:noAutofit/>
          </a:bodyPr>
          <a:lstStyle/>
          <a:p>
            <a:pPr algn="l">
              <a:lnSpc>
                <a:spcPct val="135000"/>
              </a:lnSpc>
            </a:pPr>
            <a:r>
              <a:rPr sz="1300" b="0" i="0">
                <a:solidFill>
                  <a:srgbClr val="EDE8E1"/>
                </a:solidFill>
                <a:latin typeface="IBM Plex Sans"/>
                <a:ea typeface="IBM Plex Sans"/>
                <a:cs typeface="IBM Plex Sans Arabic"/>
              </a:rPr>
              <a:t>Enough meat for ten, ready to grill, delivered before 6 pm.</a:t>
            </a:r>
          </a:p>
        </p:txBody>
      </p:sp>
      <p:sp>
        <p:nvSpPr>
          <p:cNvPr id="8" name="TextBox 7"/>
          <p:cNvSpPr txBox="1"/>
          <p:nvPr/>
        </p:nvSpPr>
        <p:spPr>
          <a:xfrm>
            <a:off x="762000" y="4254500"/>
            <a:ext cx="1016000" cy="228600"/>
          </a:xfrm>
          <a:prstGeom prst="rect">
            <a:avLst/>
          </a:prstGeom>
          <a:noFill/>
        </p:spPr>
        <p:txBody>
          <a:bodyPr wrap="square" lIns="0" rIns="0" tIns="0" bIns="0" anchor="t">
            <a:noAutofit/>
          </a:bodyPr>
          <a:lstStyle/>
          <a:p>
            <a:pPr algn="l">
              <a:lnSpc>
                <a:spcPct val="125000"/>
              </a:lnSpc>
            </a:pPr>
            <a:r>
              <a:rPr sz="900" b="1" i="0" spc="200">
                <a:solidFill>
                  <a:srgbClr val="FF5A36"/>
                </a:solidFill>
                <a:latin typeface="IBM Plex Mono"/>
                <a:ea typeface="IBM Plex Mono"/>
                <a:cs typeface="IBM Plex Sans Arabic"/>
              </a:rPr>
              <a:t>WORRIES</a:t>
            </a:r>
          </a:p>
        </p:txBody>
      </p:sp>
      <p:sp>
        <p:nvSpPr>
          <p:cNvPr id="9" name="TextBox 8"/>
          <p:cNvSpPr txBox="1"/>
          <p:nvPr/>
        </p:nvSpPr>
        <p:spPr>
          <a:xfrm>
            <a:off x="1841500" y="4229100"/>
            <a:ext cx="3556000" cy="571500"/>
          </a:xfrm>
          <a:prstGeom prst="rect">
            <a:avLst/>
          </a:prstGeom>
          <a:noFill/>
        </p:spPr>
        <p:txBody>
          <a:bodyPr wrap="square" lIns="0" rIns="0" tIns="0" bIns="0" anchor="t">
            <a:noAutofit/>
          </a:bodyPr>
          <a:lstStyle/>
          <a:p>
            <a:pPr algn="l">
              <a:lnSpc>
                <a:spcPct val="135000"/>
              </a:lnSpc>
            </a:pPr>
            <a:r>
              <a:rPr sz="1300" b="0" i="0">
                <a:solidFill>
                  <a:srgbClr val="EDE8E1"/>
                </a:solidFill>
                <a:latin typeface="IBM Plex Sans"/>
                <a:ea typeface="IBM Plex Sans"/>
                <a:cs typeface="IBM Plex Sans Arabic"/>
              </a:rPr>
              <a:t>Buying too little, spending too much, forgetting the charcoal.</a:t>
            </a:r>
          </a:p>
        </p:txBody>
      </p:sp>
      <p:sp>
        <p:nvSpPr>
          <p:cNvPr id="10" name="TextBox 9"/>
          <p:cNvSpPr txBox="1"/>
          <p:nvPr/>
        </p:nvSpPr>
        <p:spPr>
          <a:xfrm>
            <a:off x="762000" y="4953000"/>
            <a:ext cx="1016000" cy="228600"/>
          </a:xfrm>
          <a:prstGeom prst="rect">
            <a:avLst/>
          </a:prstGeom>
          <a:noFill/>
        </p:spPr>
        <p:txBody>
          <a:bodyPr wrap="square" lIns="0" rIns="0" tIns="0" bIns="0" anchor="t">
            <a:noAutofit/>
          </a:bodyPr>
          <a:lstStyle/>
          <a:p>
            <a:pPr algn="l">
              <a:lnSpc>
                <a:spcPct val="125000"/>
              </a:lnSpc>
            </a:pPr>
            <a:r>
              <a:rPr sz="900" b="1" i="0" spc="200">
                <a:solidFill>
                  <a:srgbClr val="FF5A36"/>
                </a:solidFill>
                <a:latin typeface="IBM Plex Mono"/>
                <a:ea typeface="IBM Plex Mono"/>
                <a:cs typeface="IBM Plex Sans Arabic"/>
              </a:rPr>
              <a:t>USES</a:t>
            </a:r>
          </a:p>
        </p:txBody>
      </p:sp>
      <p:sp>
        <p:nvSpPr>
          <p:cNvPr id="11" name="TextBox 10"/>
          <p:cNvSpPr txBox="1"/>
          <p:nvPr/>
        </p:nvSpPr>
        <p:spPr>
          <a:xfrm>
            <a:off x="1841500" y="4927600"/>
            <a:ext cx="3556000" cy="571500"/>
          </a:xfrm>
          <a:prstGeom prst="rect">
            <a:avLst/>
          </a:prstGeom>
          <a:noFill/>
        </p:spPr>
        <p:txBody>
          <a:bodyPr wrap="square" lIns="0" rIns="0" tIns="0" bIns="0" anchor="t">
            <a:noAutofit/>
          </a:bodyPr>
          <a:lstStyle/>
          <a:p>
            <a:pPr algn="l">
              <a:lnSpc>
                <a:spcPct val="135000"/>
              </a:lnSpc>
            </a:pPr>
            <a:r>
              <a:rPr sz="1300" b="0" i="0">
                <a:solidFill>
                  <a:srgbClr val="EDE8E1"/>
                </a:solidFill>
                <a:latin typeface="IBM Plex Sans"/>
                <a:ea typeface="IBM Plex Sans"/>
                <a:cs typeface="IBM Plex Sans Arabic"/>
              </a:rPr>
              <a:t>His phone, between meetings, in Arabic or English.</a:t>
            </a:r>
          </a:p>
        </p:txBody>
      </p:sp>
      <p:sp>
        <p:nvSpPr>
          <p:cNvPr id="12" name="Rectangle 11"/>
          <p:cNvSpPr/>
          <p:nvPr/>
        </p:nvSpPr>
        <p:spPr>
          <a:xfrm>
            <a:off x="6350000" y="762000"/>
            <a:ext cx="5080000" cy="5207000"/>
          </a:xfrm>
          <a:prstGeom prst="rect">
            <a:avLst/>
          </a:prstGeom>
          <a:solidFill>
            <a:srgbClr val="F2ECE2"/>
          </a:solidFill>
          <a:ln>
            <a:noFill/>
          </a:ln>
          <a:effectLst/>
        </p:spPr>
        <p:txBody>
          <a:bodyPr rtlCol="0" anchor="ctr" lIns="0" rIns="0"/>
          <a:lstStyle/>
          <a:p>
            <a:pPr algn="ctr"/>
          </a:p>
        </p:txBody>
      </p:sp>
      <p:sp>
        <p:nvSpPr>
          <p:cNvPr id="13" name="Freeform 12"/>
          <p:cNvSpPr/>
          <p:nvPr/>
        </p:nvSpPr>
        <p:spPr>
          <a:xfrm>
            <a:off x="6350000" y="755650"/>
            <a:ext cx="5080000" cy="82550"/>
          </a:xfrm>
          <a:custGeom>
            <a:avLst/>
            <a:gdLst/>
            <a:ahLst/>
            <a:cxnLst/>
            <a:rect l="l" t="t" r="r" b="b"/>
            <a:pathLst>
              <a:path w="5080000" h="82550">
                <a:moveTo>
                  <a:pt x="0" y="0"/>
                </a:moveTo>
                <a:lnTo>
                  <a:pt x="76970" y="82550"/>
                </a:lnTo>
                <a:lnTo>
                  <a:pt x="153939" y="0"/>
                </a:lnTo>
                <a:lnTo>
                  <a:pt x="230909" y="82550"/>
                </a:lnTo>
                <a:lnTo>
                  <a:pt x="307879" y="0"/>
                </a:lnTo>
                <a:lnTo>
                  <a:pt x="384848" y="82550"/>
                </a:lnTo>
                <a:lnTo>
                  <a:pt x="461818" y="0"/>
                </a:lnTo>
                <a:lnTo>
                  <a:pt x="538788" y="82550"/>
                </a:lnTo>
                <a:lnTo>
                  <a:pt x="615758" y="0"/>
                </a:lnTo>
                <a:lnTo>
                  <a:pt x="692727" y="82550"/>
                </a:lnTo>
                <a:lnTo>
                  <a:pt x="769697" y="0"/>
                </a:lnTo>
                <a:lnTo>
                  <a:pt x="846667" y="82550"/>
                </a:lnTo>
                <a:lnTo>
                  <a:pt x="923636" y="0"/>
                </a:lnTo>
                <a:lnTo>
                  <a:pt x="1000606" y="82550"/>
                </a:lnTo>
                <a:lnTo>
                  <a:pt x="1077576" y="0"/>
                </a:lnTo>
                <a:lnTo>
                  <a:pt x="1154545" y="82550"/>
                </a:lnTo>
                <a:lnTo>
                  <a:pt x="1231515" y="0"/>
                </a:lnTo>
                <a:lnTo>
                  <a:pt x="1308485" y="82550"/>
                </a:lnTo>
                <a:lnTo>
                  <a:pt x="1385455" y="0"/>
                </a:lnTo>
                <a:lnTo>
                  <a:pt x="1462424" y="82550"/>
                </a:lnTo>
                <a:lnTo>
                  <a:pt x="1539394" y="0"/>
                </a:lnTo>
                <a:lnTo>
                  <a:pt x="1616364" y="82550"/>
                </a:lnTo>
                <a:lnTo>
                  <a:pt x="1693333" y="0"/>
                </a:lnTo>
                <a:lnTo>
                  <a:pt x="1770303" y="82550"/>
                </a:lnTo>
                <a:lnTo>
                  <a:pt x="1847273" y="0"/>
                </a:lnTo>
                <a:lnTo>
                  <a:pt x="1924242" y="82550"/>
                </a:lnTo>
                <a:lnTo>
                  <a:pt x="2001212" y="0"/>
                </a:lnTo>
                <a:lnTo>
                  <a:pt x="2078182" y="82550"/>
                </a:lnTo>
                <a:lnTo>
                  <a:pt x="2155152" y="0"/>
                </a:lnTo>
                <a:lnTo>
                  <a:pt x="2232121" y="82550"/>
                </a:lnTo>
                <a:lnTo>
                  <a:pt x="2309091" y="0"/>
                </a:lnTo>
                <a:lnTo>
                  <a:pt x="2386061" y="82550"/>
                </a:lnTo>
                <a:lnTo>
                  <a:pt x="2463030" y="0"/>
                </a:lnTo>
                <a:lnTo>
                  <a:pt x="2540000" y="82550"/>
                </a:lnTo>
                <a:lnTo>
                  <a:pt x="2616970" y="0"/>
                </a:lnTo>
                <a:lnTo>
                  <a:pt x="2693939" y="82550"/>
                </a:lnTo>
                <a:lnTo>
                  <a:pt x="2770909" y="0"/>
                </a:lnTo>
                <a:lnTo>
                  <a:pt x="2847879" y="82550"/>
                </a:lnTo>
                <a:lnTo>
                  <a:pt x="2924848" y="0"/>
                </a:lnTo>
                <a:lnTo>
                  <a:pt x="3001818" y="82550"/>
                </a:lnTo>
                <a:lnTo>
                  <a:pt x="3078788" y="0"/>
                </a:lnTo>
                <a:lnTo>
                  <a:pt x="3155758" y="82550"/>
                </a:lnTo>
                <a:lnTo>
                  <a:pt x="3232727" y="0"/>
                </a:lnTo>
                <a:lnTo>
                  <a:pt x="3309697" y="82550"/>
                </a:lnTo>
                <a:lnTo>
                  <a:pt x="3386667" y="0"/>
                </a:lnTo>
                <a:lnTo>
                  <a:pt x="3463636" y="82550"/>
                </a:lnTo>
                <a:lnTo>
                  <a:pt x="3540606" y="0"/>
                </a:lnTo>
                <a:lnTo>
                  <a:pt x="3617576" y="82550"/>
                </a:lnTo>
                <a:lnTo>
                  <a:pt x="3694545" y="0"/>
                </a:lnTo>
                <a:lnTo>
                  <a:pt x="3771515" y="82550"/>
                </a:lnTo>
                <a:lnTo>
                  <a:pt x="3848485" y="0"/>
                </a:lnTo>
                <a:lnTo>
                  <a:pt x="3925455" y="82550"/>
                </a:lnTo>
                <a:lnTo>
                  <a:pt x="4002424" y="0"/>
                </a:lnTo>
                <a:lnTo>
                  <a:pt x="4079394" y="82550"/>
                </a:lnTo>
                <a:lnTo>
                  <a:pt x="4156364" y="0"/>
                </a:lnTo>
                <a:lnTo>
                  <a:pt x="4233333" y="82550"/>
                </a:lnTo>
                <a:lnTo>
                  <a:pt x="4310303" y="0"/>
                </a:lnTo>
                <a:lnTo>
                  <a:pt x="4387273" y="82550"/>
                </a:lnTo>
                <a:lnTo>
                  <a:pt x="4464242" y="0"/>
                </a:lnTo>
                <a:lnTo>
                  <a:pt x="4541212" y="82550"/>
                </a:lnTo>
                <a:lnTo>
                  <a:pt x="4618182" y="0"/>
                </a:lnTo>
                <a:lnTo>
                  <a:pt x="4695152" y="82550"/>
                </a:lnTo>
                <a:lnTo>
                  <a:pt x="4772121" y="0"/>
                </a:lnTo>
                <a:lnTo>
                  <a:pt x="4849091" y="82550"/>
                </a:lnTo>
                <a:lnTo>
                  <a:pt x="4926061" y="0"/>
                </a:lnTo>
                <a:lnTo>
                  <a:pt x="5003030" y="82550"/>
                </a:lnTo>
                <a:lnTo>
                  <a:pt x="5080000" y="0"/>
                </a:lnTo>
                <a:close/>
              </a:path>
            </a:pathLst>
          </a:custGeom>
          <a:solidFill>
            <a:srgbClr val="161A1F"/>
          </a:solidFill>
          <a:ln>
            <a:noFill/>
          </a:ln>
          <a:effectLst/>
        </p:spPr>
        <p:txBody>
          <a:bodyPr rtlCol="0" anchor="ctr"/>
          <a:lstStyle/>
          <a:p>
            <a:pPr algn="ctr"/>
          </a:p>
        </p:txBody>
      </p:sp>
      <p:sp>
        <p:nvSpPr>
          <p:cNvPr id="14" name="Freeform 13"/>
          <p:cNvSpPr/>
          <p:nvPr/>
        </p:nvSpPr>
        <p:spPr>
          <a:xfrm>
            <a:off x="6350000" y="5892800"/>
            <a:ext cx="5080000" cy="82550"/>
          </a:xfrm>
          <a:custGeom>
            <a:avLst/>
            <a:gdLst/>
            <a:ahLst/>
            <a:cxnLst/>
            <a:rect l="l" t="t" r="r" b="b"/>
            <a:pathLst>
              <a:path w="5080000" h="82550">
                <a:moveTo>
                  <a:pt x="0" y="82550"/>
                </a:moveTo>
                <a:lnTo>
                  <a:pt x="76970" y="0"/>
                </a:lnTo>
                <a:lnTo>
                  <a:pt x="153939" y="82550"/>
                </a:lnTo>
                <a:lnTo>
                  <a:pt x="230909" y="0"/>
                </a:lnTo>
                <a:lnTo>
                  <a:pt x="307879" y="82550"/>
                </a:lnTo>
                <a:lnTo>
                  <a:pt x="384848" y="0"/>
                </a:lnTo>
                <a:lnTo>
                  <a:pt x="461818" y="82550"/>
                </a:lnTo>
                <a:lnTo>
                  <a:pt x="538788" y="0"/>
                </a:lnTo>
                <a:lnTo>
                  <a:pt x="615758" y="82550"/>
                </a:lnTo>
                <a:lnTo>
                  <a:pt x="692727" y="0"/>
                </a:lnTo>
                <a:lnTo>
                  <a:pt x="769697" y="82550"/>
                </a:lnTo>
                <a:lnTo>
                  <a:pt x="846667" y="0"/>
                </a:lnTo>
                <a:lnTo>
                  <a:pt x="923636" y="82550"/>
                </a:lnTo>
                <a:lnTo>
                  <a:pt x="1000606" y="0"/>
                </a:lnTo>
                <a:lnTo>
                  <a:pt x="1077576" y="82550"/>
                </a:lnTo>
                <a:lnTo>
                  <a:pt x="1154545" y="0"/>
                </a:lnTo>
                <a:lnTo>
                  <a:pt x="1231515" y="82550"/>
                </a:lnTo>
                <a:lnTo>
                  <a:pt x="1308485" y="0"/>
                </a:lnTo>
                <a:lnTo>
                  <a:pt x="1385455" y="82550"/>
                </a:lnTo>
                <a:lnTo>
                  <a:pt x="1462424" y="0"/>
                </a:lnTo>
                <a:lnTo>
                  <a:pt x="1539394" y="82550"/>
                </a:lnTo>
                <a:lnTo>
                  <a:pt x="1616364" y="0"/>
                </a:lnTo>
                <a:lnTo>
                  <a:pt x="1693333" y="82550"/>
                </a:lnTo>
                <a:lnTo>
                  <a:pt x="1770303" y="0"/>
                </a:lnTo>
                <a:lnTo>
                  <a:pt x="1847273" y="82550"/>
                </a:lnTo>
                <a:lnTo>
                  <a:pt x="1924242" y="0"/>
                </a:lnTo>
                <a:lnTo>
                  <a:pt x="2001212" y="82550"/>
                </a:lnTo>
                <a:lnTo>
                  <a:pt x="2078182" y="0"/>
                </a:lnTo>
                <a:lnTo>
                  <a:pt x="2155152" y="82550"/>
                </a:lnTo>
                <a:lnTo>
                  <a:pt x="2232121" y="0"/>
                </a:lnTo>
                <a:lnTo>
                  <a:pt x="2309091" y="82550"/>
                </a:lnTo>
                <a:lnTo>
                  <a:pt x="2386061" y="0"/>
                </a:lnTo>
                <a:lnTo>
                  <a:pt x="2463030" y="82550"/>
                </a:lnTo>
                <a:lnTo>
                  <a:pt x="2540000" y="0"/>
                </a:lnTo>
                <a:lnTo>
                  <a:pt x="2616970" y="82550"/>
                </a:lnTo>
                <a:lnTo>
                  <a:pt x="2693939" y="0"/>
                </a:lnTo>
                <a:lnTo>
                  <a:pt x="2770909" y="82550"/>
                </a:lnTo>
                <a:lnTo>
                  <a:pt x="2847879" y="0"/>
                </a:lnTo>
                <a:lnTo>
                  <a:pt x="2924848" y="82550"/>
                </a:lnTo>
                <a:lnTo>
                  <a:pt x="3001818" y="0"/>
                </a:lnTo>
                <a:lnTo>
                  <a:pt x="3078788" y="82550"/>
                </a:lnTo>
                <a:lnTo>
                  <a:pt x="3155758" y="0"/>
                </a:lnTo>
                <a:lnTo>
                  <a:pt x="3232727" y="82550"/>
                </a:lnTo>
                <a:lnTo>
                  <a:pt x="3309697" y="0"/>
                </a:lnTo>
                <a:lnTo>
                  <a:pt x="3386667" y="82550"/>
                </a:lnTo>
                <a:lnTo>
                  <a:pt x="3463636" y="0"/>
                </a:lnTo>
                <a:lnTo>
                  <a:pt x="3540606" y="82550"/>
                </a:lnTo>
                <a:lnTo>
                  <a:pt x="3617576" y="0"/>
                </a:lnTo>
                <a:lnTo>
                  <a:pt x="3694545" y="82550"/>
                </a:lnTo>
                <a:lnTo>
                  <a:pt x="3771515" y="0"/>
                </a:lnTo>
                <a:lnTo>
                  <a:pt x="3848485" y="82550"/>
                </a:lnTo>
                <a:lnTo>
                  <a:pt x="3925455" y="0"/>
                </a:lnTo>
                <a:lnTo>
                  <a:pt x="4002424" y="82550"/>
                </a:lnTo>
                <a:lnTo>
                  <a:pt x="4079394" y="0"/>
                </a:lnTo>
                <a:lnTo>
                  <a:pt x="4156364" y="82550"/>
                </a:lnTo>
                <a:lnTo>
                  <a:pt x="4233333" y="0"/>
                </a:lnTo>
                <a:lnTo>
                  <a:pt x="4310303" y="82550"/>
                </a:lnTo>
                <a:lnTo>
                  <a:pt x="4387273" y="0"/>
                </a:lnTo>
                <a:lnTo>
                  <a:pt x="4464242" y="82550"/>
                </a:lnTo>
                <a:lnTo>
                  <a:pt x="4541212" y="0"/>
                </a:lnTo>
                <a:lnTo>
                  <a:pt x="4618182" y="82550"/>
                </a:lnTo>
                <a:lnTo>
                  <a:pt x="4695152" y="0"/>
                </a:lnTo>
                <a:lnTo>
                  <a:pt x="4772121" y="82550"/>
                </a:lnTo>
                <a:lnTo>
                  <a:pt x="4849091" y="0"/>
                </a:lnTo>
                <a:lnTo>
                  <a:pt x="4926061" y="82550"/>
                </a:lnTo>
                <a:lnTo>
                  <a:pt x="5003030" y="0"/>
                </a:lnTo>
                <a:lnTo>
                  <a:pt x="5080000" y="82550"/>
                </a:lnTo>
                <a:close/>
              </a:path>
            </a:pathLst>
          </a:custGeom>
          <a:solidFill>
            <a:srgbClr val="161A1F"/>
          </a:solidFill>
          <a:ln>
            <a:noFill/>
          </a:ln>
          <a:effectLst/>
        </p:spPr>
        <p:txBody>
          <a:bodyPr rtlCol="0" anchor="ctr"/>
          <a:lstStyle/>
          <a:p>
            <a:pPr algn="ctr"/>
          </a:p>
        </p:txBody>
      </p:sp>
      <p:sp>
        <p:nvSpPr>
          <p:cNvPr id="15" name="TextBox 14"/>
          <p:cNvSpPr txBox="1"/>
          <p:nvPr/>
        </p:nvSpPr>
        <p:spPr>
          <a:xfrm>
            <a:off x="6667500" y="1079500"/>
            <a:ext cx="4445000" cy="190500"/>
          </a:xfrm>
          <a:prstGeom prst="rect">
            <a:avLst/>
          </a:prstGeom>
          <a:noFill/>
        </p:spPr>
        <p:txBody>
          <a:bodyPr wrap="square" lIns="0" rIns="0" tIns="0" bIns="0" anchor="t">
            <a:noAutofit/>
          </a:bodyPr>
          <a:lstStyle/>
          <a:p>
            <a:pPr algn="ctr">
              <a:lnSpc>
                <a:spcPct val="125000"/>
              </a:lnSpc>
            </a:pPr>
            <a:r>
              <a:rPr sz="850" b="0" i="0" spc="300">
                <a:solidFill>
                  <a:srgbClr val="7A6E62"/>
                </a:solidFill>
                <a:latin typeface="IBM Plex Mono"/>
                <a:ea typeface="IBM Plex Mono"/>
                <a:cs typeface="IBM Plex Sans Arabic"/>
              </a:rPr>
              <a:t>PERSONA CARD</a:t>
            </a:r>
          </a:p>
        </p:txBody>
      </p:sp>
      <p:cxnSp>
        <p:nvCxnSpPr>
          <p:cNvPr id="16" name="Connector 15"/>
          <p:cNvCxnSpPr/>
          <p:nvPr/>
        </p:nvCxnSpPr>
        <p:spPr>
          <a:xfrm>
            <a:off x="6667500" y="1397000"/>
            <a:ext cx="4445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667500" y="1587500"/>
            <a:ext cx="698500" cy="698500"/>
          </a:xfrm>
          <a:prstGeom prst="ellipse">
            <a:avLst/>
          </a:prstGeom>
          <a:solidFill>
            <a:srgbClr val="FF5A36"/>
          </a:solidFill>
          <a:ln>
            <a:noFill/>
          </a:ln>
          <a:effectLst/>
        </p:spPr>
        <p:txBody>
          <a:bodyPr rtlCol="0" anchor="ctr"/>
          <a:lstStyle/>
          <a:p>
            <a:pPr algn="ctr"/>
          </a:p>
        </p:txBody>
      </p:sp>
      <p:sp>
        <p:nvSpPr>
          <p:cNvPr id="18" name="TextBox 17"/>
          <p:cNvSpPr txBox="1"/>
          <p:nvPr/>
        </p:nvSpPr>
        <p:spPr>
          <a:xfrm>
            <a:off x="6667500" y="1587500"/>
            <a:ext cx="698500" cy="698500"/>
          </a:xfrm>
          <a:prstGeom prst="rect">
            <a:avLst/>
          </a:prstGeom>
          <a:noFill/>
        </p:spPr>
        <p:txBody>
          <a:bodyPr wrap="square" lIns="0" rIns="0" tIns="0" bIns="0" anchor="ctr">
            <a:noAutofit/>
          </a:bodyPr>
          <a:lstStyle/>
          <a:p>
            <a:pPr algn="ctr">
              <a:lnSpc>
                <a:spcPct val="100000"/>
              </a:lnSpc>
            </a:pPr>
            <a:r>
              <a:rPr sz="2800" b="1" i="0">
                <a:solidFill>
                  <a:srgbClr val="FFFFFF"/>
                </a:solidFill>
                <a:latin typeface="Alexandria"/>
                <a:ea typeface="Alexandria"/>
                <a:cs typeface="IBM Plex Sans Arabic"/>
              </a:rPr>
              <a:t>K</a:t>
            </a:r>
          </a:p>
        </p:txBody>
      </p:sp>
      <p:sp>
        <p:nvSpPr>
          <p:cNvPr id="19" name="TextBox 18"/>
          <p:cNvSpPr txBox="1"/>
          <p:nvPr/>
        </p:nvSpPr>
        <p:spPr>
          <a:xfrm>
            <a:off x="7556500" y="1663700"/>
            <a:ext cx="3429000" cy="317500"/>
          </a:xfrm>
          <a:prstGeom prst="rect">
            <a:avLst/>
          </a:prstGeom>
          <a:noFill/>
        </p:spPr>
        <p:txBody>
          <a:bodyPr wrap="square" lIns="0" rIns="0" tIns="0" bIns="0" anchor="t">
            <a:noAutofit/>
          </a:bodyPr>
          <a:lstStyle/>
          <a:p>
            <a:pPr algn="l">
              <a:lnSpc>
                <a:spcPct val="100000"/>
              </a:lnSpc>
            </a:pPr>
            <a:r>
              <a:rPr sz="2000" b="1" i="0">
                <a:solidFill>
                  <a:srgbClr val="1A1512"/>
                </a:solidFill>
                <a:latin typeface="Alexandria"/>
                <a:ea typeface="Alexandria"/>
                <a:cs typeface="IBM Plex Sans Arabic"/>
              </a:rPr>
              <a:t>Khalid, 34</a:t>
            </a:r>
          </a:p>
        </p:txBody>
      </p:sp>
      <p:sp>
        <p:nvSpPr>
          <p:cNvPr id="20" name="TextBox 19"/>
          <p:cNvSpPr txBox="1"/>
          <p:nvPr/>
        </p:nvSpPr>
        <p:spPr>
          <a:xfrm>
            <a:off x="7556500" y="2006600"/>
            <a:ext cx="3429000" cy="254000"/>
          </a:xfrm>
          <a:prstGeom prst="rect">
            <a:avLst/>
          </a:prstGeom>
          <a:noFill/>
        </p:spPr>
        <p:txBody>
          <a:bodyPr wrap="square" lIns="0" rIns="0" tIns="0" bIns="0" anchor="t">
            <a:noAutofit/>
          </a:bodyPr>
          <a:lstStyle/>
          <a:p>
            <a:pPr algn="l">
              <a:lnSpc>
                <a:spcPct val="100000"/>
              </a:lnSpc>
            </a:pPr>
            <a:r>
              <a:rPr sz="1100" b="0" i="0">
                <a:solidFill>
                  <a:srgbClr val="7A6E62"/>
                </a:solidFill>
                <a:latin typeface="IBM Plex Mono"/>
                <a:ea typeface="IBM Plex Mono"/>
                <a:cs typeface="IBM Plex Sans Arabic"/>
              </a:rPr>
              <a:t>Riyadh · Host of the week</a:t>
            </a:r>
          </a:p>
        </p:txBody>
      </p:sp>
      <p:cxnSp>
        <p:nvCxnSpPr>
          <p:cNvPr id="21" name="Connector 20"/>
          <p:cNvCxnSpPr/>
          <p:nvPr/>
        </p:nvCxnSpPr>
        <p:spPr>
          <a:xfrm>
            <a:off x="6667500" y="2489200"/>
            <a:ext cx="4445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67500" y="2667000"/>
            <a:ext cx="1905000" cy="254000"/>
          </a:xfrm>
          <a:prstGeom prst="rect">
            <a:avLst/>
          </a:prstGeom>
          <a:noFill/>
        </p:spPr>
        <p:txBody>
          <a:bodyPr wrap="square" lIns="0" rIns="0" tIns="0" bIns="0" anchor="t">
            <a:noAutofit/>
          </a:bodyPr>
          <a:lstStyle/>
          <a:p>
            <a:pPr algn="l">
              <a:lnSpc>
                <a:spcPct val="100000"/>
              </a:lnSpc>
            </a:pPr>
            <a:r>
              <a:rPr sz="1200" b="0" i="0">
                <a:solidFill>
                  <a:srgbClr val="7A6E62"/>
                </a:solidFill>
                <a:latin typeface="IBM Plex Sans"/>
                <a:ea typeface="IBM Plex Sans"/>
                <a:cs typeface="IBM Plex Sans Arabic"/>
              </a:rPr>
              <a:t>Occasion</a:t>
            </a:r>
          </a:p>
        </p:txBody>
      </p:sp>
      <p:sp>
        <p:nvSpPr>
          <p:cNvPr id="23" name="TextBox 22"/>
          <p:cNvSpPr txBox="1"/>
          <p:nvPr/>
        </p:nvSpPr>
        <p:spPr>
          <a:xfrm>
            <a:off x="8445500" y="2667000"/>
            <a:ext cx="2667000" cy="2540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BBQ party</a:t>
            </a:r>
          </a:p>
        </p:txBody>
      </p:sp>
      <p:sp>
        <p:nvSpPr>
          <p:cNvPr id="24" name="TextBox 23"/>
          <p:cNvSpPr txBox="1"/>
          <p:nvPr/>
        </p:nvSpPr>
        <p:spPr>
          <a:xfrm>
            <a:off x="6667500" y="3035300"/>
            <a:ext cx="1905000" cy="254000"/>
          </a:xfrm>
          <a:prstGeom prst="rect">
            <a:avLst/>
          </a:prstGeom>
          <a:noFill/>
        </p:spPr>
        <p:txBody>
          <a:bodyPr wrap="square" lIns="0" rIns="0" tIns="0" bIns="0" anchor="t">
            <a:noAutofit/>
          </a:bodyPr>
          <a:lstStyle/>
          <a:p>
            <a:pPr algn="l">
              <a:lnSpc>
                <a:spcPct val="100000"/>
              </a:lnSpc>
            </a:pPr>
            <a:r>
              <a:rPr sz="1200" b="0" i="0">
                <a:solidFill>
                  <a:srgbClr val="7A6E62"/>
                </a:solidFill>
                <a:latin typeface="IBM Plex Sans"/>
                <a:ea typeface="IBM Plex Sans"/>
                <a:cs typeface="IBM Plex Sans Arabic"/>
              </a:rPr>
              <a:t>Guests</a:t>
            </a:r>
          </a:p>
        </p:txBody>
      </p:sp>
      <p:sp>
        <p:nvSpPr>
          <p:cNvPr id="25" name="TextBox 24"/>
          <p:cNvSpPr txBox="1"/>
          <p:nvPr/>
        </p:nvSpPr>
        <p:spPr>
          <a:xfrm>
            <a:off x="8445500" y="3035300"/>
            <a:ext cx="2667000" cy="2540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10 people</a:t>
            </a:r>
          </a:p>
        </p:txBody>
      </p:sp>
      <p:sp>
        <p:nvSpPr>
          <p:cNvPr id="26" name="TextBox 25"/>
          <p:cNvSpPr txBox="1"/>
          <p:nvPr/>
        </p:nvSpPr>
        <p:spPr>
          <a:xfrm>
            <a:off x="6667500" y="3403600"/>
            <a:ext cx="1905000" cy="254000"/>
          </a:xfrm>
          <a:prstGeom prst="rect">
            <a:avLst/>
          </a:prstGeom>
          <a:noFill/>
        </p:spPr>
        <p:txBody>
          <a:bodyPr wrap="square" lIns="0" rIns="0" tIns="0" bIns="0" anchor="t">
            <a:noAutofit/>
          </a:bodyPr>
          <a:lstStyle/>
          <a:p>
            <a:pPr algn="l">
              <a:lnSpc>
                <a:spcPct val="100000"/>
              </a:lnSpc>
            </a:pPr>
            <a:r>
              <a:rPr sz="1200" b="0" i="0">
                <a:solidFill>
                  <a:srgbClr val="7A6E62"/>
                </a:solidFill>
                <a:latin typeface="IBM Plex Sans"/>
                <a:ea typeface="IBM Plex Sans"/>
                <a:cs typeface="IBM Plex Sans Arabic"/>
              </a:rPr>
              <a:t>When</a:t>
            </a:r>
          </a:p>
        </p:txBody>
      </p:sp>
      <p:sp>
        <p:nvSpPr>
          <p:cNvPr id="27" name="TextBox 26"/>
          <p:cNvSpPr txBox="1"/>
          <p:nvPr/>
        </p:nvSpPr>
        <p:spPr>
          <a:xfrm>
            <a:off x="8445500" y="3403600"/>
            <a:ext cx="2667000" cy="2540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Thursday, 3 – 6 pm</a:t>
            </a:r>
          </a:p>
        </p:txBody>
      </p:sp>
      <p:sp>
        <p:nvSpPr>
          <p:cNvPr id="28" name="TextBox 27"/>
          <p:cNvSpPr txBox="1"/>
          <p:nvPr/>
        </p:nvSpPr>
        <p:spPr>
          <a:xfrm>
            <a:off x="6667500" y="3771900"/>
            <a:ext cx="1905000" cy="254000"/>
          </a:xfrm>
          <a:prstGeom prst="rect">
            <a:avLst/>
          </a:prstGeom>
          <a:noFill/>
        </p:spPr>
        <p:txBody>
          <a:bodyPr wrap="square" lIns="0" rIns="0" tIns="0" bIns="0" anchor="t">
            <a:noAutofit/>
          </a:bodyPr>
          <a:lstStyle/>
          <a:p>
            <a:pPr algn="l">
              <a:lnSpc>
                <a:spcPct val="100000"/>
              </a:lnSpc>
            </a:pPr>
            <a:r>
              <a:rPr sz="1200" b="0" i="0">
                <a:solidFill>
                  <a:srgbClr val="7A6E62"/>
                </a:solidFill>
                <a:latin typeface="IBM Plex Sans"/>
                <a:ea typeface="IBM Plex Sans"/>
                <a:cs typeface="IBM Plex Sans Arabic"/>
              </a:rPr>
              <a:t>Device</a:t>
            </a:r>
          </a:p>
        </p:txBody>
      </p:sp>
      <p:sp>
        <p:nvSpPr>
          <p:cNvPr id="29" name="TextBox 28"/>
          <p:cNvSpPr txBox="1"/>
          <p:nvPr/>
        </p:nvSpPr>
        <p:spPr>
          <a:xfrm>
            <a:off x="8445500" y="3771900"/>
            <a:ext cx="2667000" cy="2540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iPhone · Arabic + English</a:t>
            </a:r>
          </a:p>
        </p:txBody>
      </p:sp>
      <p:sp>
        <p:nvSpPr>
          <p:cNvPr id="30" name="TextBox 29"/>
          <p:cNvSpPr txBox="1"/>
          <p:nvPr/>
        </p:nvSpPr>
        <p:spPr>
          <a:xfrm>
            <a:off x="6667500" y="4140200"/>
            <a:ext cx="1905000" cy="254000"/>
          </a:xfrm>
          <a:prstGeom prst="rect">
            <a:avLst/>
          </a:prstGeom>
          <a:noFill/>
        </p:spPr>
        <p:txBody>
          <a:bodyPr wrap="square" lIns="0" rIns="0" tIns="0" bIns="0" anchor="t">
            <a:noAutofit/>
          </a:bodyPr>
          <a:lstStyle/>
          <a:p>
            <a:pPr algn="l">
              <a:lnSpc>
                <a:spcPct val="100000"/>
              </a:lnSpc>
            </a:pPr>
            <a:r>
              <a:rPr sz="1200" b="0" i="0">
                <a:solidFill>
                  <a:srgbClr val="7A6E62"/>
                </a:solidFill>
                <a:latin typeface="IBM Plex Sans"/>
                <a:ea typeface="IBM Plex Sans"/>
                <a:cs typeface="IBM Plex Sans Arabic"/>
              </a:rPr>
              <a:t>Budget feel</a:t>
            </a:r>
          </a:p>
        </p:txBody>
      </p:sp>
      <p:sp>
        <p:nvSpPr>
          <p:cNvPr id="31" name="TextBox 30"/>
          <p:cNvSpPr txBox="1"/>
          <p:nvPr/>
        </p:nvSpPr>
        <p:spPr>
          <a:xfrm>
            <a:off x="8445500" y="4140200"/>
            <a:ext cx="2667000" cy="2540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“Around 35–40 SAR a head”</a:t>
            </a:r>
          </a:p>
        </p:txBody>
      </p:sp>
      <p:cxnSp>
        <p:nvCxnSpPr>
          <p:cNvPr id="32" name="Connector 31"/>
          <p:cNvCxnSpPr/>
          <p:nvPr/>
        </p:nvCxnSpPr>
        <p:spPr>
          <a:xfrm>
            <a:off x="6667500" y="4546600"/>
            <a:ext cx="4445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667500" y="4724400"/>
            <a:ext cx="4445000" cy="952500"/>
          </a:xfrm>
          <a:prstGeom prst="rect">
            <a:avLst/>
          </a:prstGeom>
          <a:noFill/>
        </p:spPr>
        <p:txBody>
          <a:bodyPr wrap="square" lIns="0" rIns="0" tIns="0" bIns="0" anchor="t">
            <a:noAutofit/>
          </a:bodyPr>
          <a:lstStyle/>
          <a:p>
            <a:pPr algn="l">
              <a:lnSpc>
                <a:spcPct val="125000"/>
              </a:lnSpc>
            </a:pPr>
            <a:r>
              <a:rPr sz="1700" b="1" i="0">
                <a:solidFill>
                  <a:srgbClr val="1A1512"/>
                </a:solidFill>
                <a:latin typeface="Alexandria"/>
                <a:ea typeface="Alexandria"/>
                <a:cs typeface="IBM Plex Sans Arabic"/>
              </a:rPr>
              <a:t>“Just tell me what to buy — and make sure it's enough.”</a:t>
            </a:r>
          </a:p>
        </p:txBody>
      </p:sp>
      <p:pic>
        <p:nvPicPr>
          <p:cNvPr id="34" name="Picture 33" descr="logo-bone.png"/>
          <p:cNvPicPr>
            <a:picLocks noChangeAspect="1"/>
          </p:cNvPicPr>
          <p:nvPr/>
        </p:nvPicPr>
        <p:blipFill>
          <a:blip r:embed="rId3"/>
          <a:stretch>
            <a:fillRect/>
          </a:stretch>
        </p:blipFill>
        <p:spPr>
          <a:xfrm>
            <a:off x="762000" y="6426200"/>
            <a:ext cx="208788" cy="152400"/>
          </a:xfrm>
          <a:prstGeom prst="rect">
            <a:avLst/>
          </a:prstGeom>
        </p:spPr>
      </p:pic>
      <p:sp>
        <p:nvSpPr>
          <p:cNvPr id="35" name="TextBox 34"/>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36" name="TextBox 35"/>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05</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05</a:t>
            </a:r>
            <a:r>
              <a:rPr sz="950" b="0" i="0" spc="240">
                <a:solidFill>
                  <a:srgbClr val="8E969D"/>
                </a:solidFill>
                <a:latin typeface="IBM Plex Mono"/>
                <a:ea typeface="IBM Plex Mono"/>
                <a:cs typeface="IBM Plex Sans Arabic"/>
              </a:rPr>
              <a:t>  UX JOURNEY · HOW KHALID FEELS</a:t>
            </a:r>
          </a:p>
        </p:txBody>
      </p:sp>
      <p:sp>
        <p:nvSpPr>
          <p:cNvPr id="4" name="TextBox 3"/>
          <p:cNvSpPr txBox="1"/>
          <p:nvPr/>
        </p:nvSpPr>
        <p:spPr>
          <a:xfrm>
            <a:off x="762000" y="952500"/>
            <a:ext cx="9525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From “how much do I need?”</a:t>
            </a:r>
          </a:p>
          <a:p>
            <a:pPr algn="l">
              <a:lnSpc>
                <a:spcPct val="106000"/>
              </a:lnSpc>
            </a:pPr>
            <a:r>
              <a:rPr sz="3000" b="1" i="0" spc="-50">
                <a:solidFill>
                  <a:srgbClr val="FF5A36"/>
                </a:solidFill>
                <a:latin typeface="Alexandria"/>
                <a:ea typeface="Alexandria"/>
                <a:cs typeface="IBM Plex Sans Arabic"/>
              </a:rPr>
              <a:t>to “same again next week”.</a:t>
            </a:r>
          </a:p>
        </p:txBody>
      </p:sp>
      <p:cxnSp>
        <p:nvCxnSpPr>
          <p:cNvPr id="5" name="Connector 4"/>
          <p:cNvCxnSpPr/>
          <p:nvPr/>
        </p:nvCxnSpPr>
        <p:spPr>
          <a:xfrm>
            <a:off x="1079500" y="4381500"/>
            <a:ext cx="10033000" cy="0"/>
          </a:xfrm>
          <a:prstGeom prst="line">
            <a:avLst/>
          </a:prstGeom>
          <a:ln w="12700">
            <a:solidFill>
              <a:srgbClr val="383B3E"/>
            </a:solidFill>
            <a:prstDash val="dash"/>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2000" y="4292600"/>
            <a:ext cx="381000" cy="177800"/>
          </a:xfrm>
          <a:prstGeom prst="rect">
            <a:avLst/>
          </a:prstGeom>
          <a:noFill/>
        </p:spPr>
        <p:txBody>
          <a:bodyPr wrap="square" lIns="0" rIns="0" tIns="0" bIns="0" anchor="t">
            <a:noAutofit/>
          </a:bodyPr>
          <a:lstStyle/>
          <a:p>
            <a:pPr algn="l">
              <a:lnSpc>
                <a:spcPct val="100000"/>
              </a:lnSpc>
            </a:pPr>
            <a:r>
              <a:rPr sz="750" b="0" i="0">
                <a:solidFill>
                  <a:srgbClr val="5A646C"/>
                </a:solidFill>
                <a:latin typeface="IBM Plex Mono"/>
                <a:ea typeface="IBM Plex Mono"/>
                <a:cs typeface="IBM Plex Sans Arabic"/>
              </a:rPr>
              <a:t>OK</a:t>
            </a:r>
          </a:p>
        </p:txBody>
      </p:sp>
      <p:sp>
        <p:nvSpPr>
          <p:cNvPr id="7" name="TextBox 6"/>
          <p:cNvSpPr txBox="1"/>
          <p:nvPr/>
        </p:nvSpPr>
        <p:spPr>
          <a:xfrm>
            <a:off x="762000" y="2482850"/>
            <a:ext cx="381000" cy="177800"/>
          </a:xfrm>
          <a:prstGeom prst="rect">
            <a:avLst/>
          </a:prstGeom>
          <a:noFill/>
        </p:spPr>
        <p:txBody>
          <a:bodyPr wrap="square" lIns="0" rIns="0" tIns="0" bIns="0" anchor="t">
            <a:noAutofit/>
          </a:bodyPr>
          <a:lstStyle/>
          <a:p>
            <a:pPr algn="l">
              <a:lnSpc>
                <a:spcPct val="100000"/>
              </a:lnSpc>
            </a:pPr>
            <a:r>
              <a:rPr sz="750" b="0" i="0">
                <a:solidFill>
                  <a:srgbClr val="5A646C"/>
                </a:solidFill>
                <a:latin typeface="IBM Plex Mono"/>
                <a:ea typeface="IBM Plex Mono"/>
                <a:cs typeface="IBM Plex Sans Arabic"/>
              </a:rPr>
              <a:t>GREAT</a:t>
            </a:r>
          </a:p>
        </p:txBody>
      </p:sp>
      <p:sp>
        <p:nvSpPr>
          <p:cNvPr id="8" name="Freeform 7"/>
          <p:cNvSpPr/>
          <p:nvPr/>
        </p:nvSpPr>
        <p:spPr>
          <a:xfrm>
            <a:off x="1333500" y="2571750"/>
            <a:ext cx="9525000" cy="1809750"/>
          </a:xfrm>
          <a:custGeom>
            <a:avLst/>
            <a:gdLst/>
            <a:ahLst/>
            <a:cxnLst/>
            <a:rect l="l" t="t" r="r" b="b"/>
            <a:pathLst>
              <a:path w="9525000" h="1809750">
                <a:moveTo>
                  <a:pt x="0" y="1809750"/>
                </a:moveTo>
                <a:lnTo>
                  <a:pt x="55617" y="1760051"/>
                </a:lnTo>
                <a:lnTo>
                  <a:pt x="122473" y="1695403"/>
                </a:lnTo>
                <a:lnTo>
                  <a:pt x="199406" y="1618061"/>
                </a:lnTo>
                <a:lnTo>
                  <a:pt x="285254" y="1530276"/>
                </a:lnTo>
                <a:lnTo>
                  <a:pt x="378853" y="1434302"/>
                </a:lnTo>
                <a:lnTo>
                  <a:pt x="479041" y="1332393"/>
                </a:lnTo>
                <a:lnTo>
                  <a:pt x="584654" y="1226802"/>
                </a:lnTo>
                <a:lnTo>
                  <a:pt x="694531" y="1119783"/>
                </a:lnTo>
                <a:lnTo>
                  <a:pt x="807509" y="1013588"/>
                </a:lnTo>
                <a:lnTo>
                  <a:pt x="922424" y="910472"/>
                </a:lnTo>
                <a:lnTo>
                  <a:pt x="1038115" y="812686"/>
                </a:lnTo>
                <a:lnTo>
                  <a:pt x="1153418" y="722486"/>
                </a:lnTo>
                <a:lnTo>
                  <a:pt x="1267171" y="642124"/>
                </a:lnTo>
                <a:lnTo>
                  <a:pt x="1378210" y="573853"/>
                </a:lnTo>
                <a:lnTo>
                  <a:pt x="1485374" y="519928"/>
                </a:lnTo>
                <a:lnTo>
                  <a:pt x="1587500" y="482600"/>
                </a:lnTo>
                <a:lnTo>
                  <a:pt x="1686719" y="461274"/>
                </a:lnTo>
                <a:lnTo>
                  <a:pt x="1785938" y="452909"/>
                </a:lnTo>
                <a:lnTo>
                  <a:pt x="1885156" y="456090"/>
                </a:lnTo>
                <a:lnTo>
                  <a:pt x="1984375" y="469404"/>
                </a:lnTo>
                <a:lnTo>
                  <a:pt x="2083594" y="491437"/>
                </a:lnTo>
                <a:lnTo>
                  <a:pt x="2182812" y="520774"/>
                </a:lnTo>
                <a:lnTo>
                  <a:pt x="2282031" y="556003"/>
                </a:lnTo>
                <a:lnTo>
                  <a:pt x="2381250" y="595709"/>
                </a:lnTo>
                <a:lnTo>
                  <a:pt x="2480469" y="638479"/>
                </a:lnTo>
                <a:lnTo>
                  <a:pt x="2579688" y="682898"/>
                </a:lnTo>
                <a:lnTo>
                  <a:pt x="2678906" y="727552"/>
                </a:lnTo>
                <a:lnTo>
                  <a:pt x="2778125" y="771029"/>
                </a:lnTo>
                <a:lnTo>
                  <a:pt x="2877344" y="811913"/>
                </a:lnTo>
                <a:lnTo>
                  <a:pt x="2976562" y="848792"/>
                </a:lnTo>
                <a:lnTo>
                  <a:pt x="3075781" y="880250"/>
                </a:lnTo>
                <a:lnTo>
                  <a:pt x="3175000" y="904875"/>
                </a:lnTo>
                <a:lnTo>
                  <a:pt x="3274219" y="924596"/>
                </a:lnTo>
                <a:lnTo>
                  <a:pt x="3373438" y="942460"/>
                </a:lnTo>
                <a:lnTo>
                  <a:pt x="3472656" y="958735"/>
                </a:lnTo>
                <a:lnTo>
                  <a:pt x="3571875" y="973683"/>
                </a:lnTo>
                <a:lnTo>
                  <a:pt x="3671094" y="987572"/>
                </a:lnTo>
                <a:lnTo>
                  <a:pt x="3770312" y="1000665"/>
                </a:lnTo>
                <a:lnTo>
                  <a:pt x="3869531" y="1013227"/>
                </a:lnTo>
                <a:lnTo>
                  <a:pt x="3968750" y="1025525"/>
                </a:lnTo>
                <a:lnTo>
                  <a:pt x="4067969" y="1037823"/>
                </a:lnTo>
                <a:lnTo>
                  <a:pt x="4167188" y="1050385"/>
                </a:lnTo>
                <a:lnTo>
                  <a:pt x="4266406" y="1063478"/>
                </a:lnTo>
                <a:lnTo>
                  <a:pt x="4365625" y="1077367"/>
                </a:lnTo>
                <a:lnTo>
                  <a:pt x="4464844" y="1092315"/>
                </a:lnTo>
                <a:lnTo>
                  <a:pt x="4564062" y="1108590"/>
                </a:lnTo>
                <a:lnTo>
                  <a:pt x="4663281" y="1126454"/>
                </a:lnTo>
                <a:lnTo>
                  <a:pt x="4762500" y="1146175"/>
                </a:lnTo>
                <a:lnTo>
                  <a:pt x="4861719" y="1169474"/>
                </a:lnTo>
                <a:lnTo>
                  <a:pt x="4960938" y="1197310"/>
                </a:lnTo>
                <a:lnTo>
                  <a:pt x="5060156" y="1228798"/>
                </a:lnTo>
                <a:lnTo>
                  <a:pt x="5159375" y="1263055"/>
                </a:lnTo>
                <a:lnTo>
                  <a:pt x="5258594" y="1299197"/>
                </a:lnTo>
                <a:lnTo>
                  <a:pt x="5357812" y="1336340"/>
                </a:lnTo>
                <a:lnTo>
                  <a:pt x="5457031" y="1373601"/>
                </a:lnTo>
                <a:lnTo>
                  <a:pt x="5556250" y="1410097"/>
                </a:lnTo>
                <a:lnTo>
                  <a:pt x="5655469" y="1444943"/>
                </a:lnTo>
                <a:lnTo>
                  <a:pt x="5754688" y="1477256"/>
                </a:lnTo>
                <a:lnTo>
                  <a:pt x="5853906" y="1506151"/>
                </a:lnTo>
                <a:lnTo>
                  <a:pt x="5953125" y="1530747"/>
                </a:lnTo>
                <a:lnTo>
                  <a:pt x="6052344" y="1550158"/>
                </a:lnTo>
                <a:lnTo>
                  <a:pt x="6151562" y="1563501"/>
                </a:lnTo>
                <a:lnTo>
                  <a:pt x="6250781" y="1569893"/>
                </a:lnTo>
                <a:lnTo>
                  <a:pt x="6350000" y="1568450"/>
                </a:lnTo>
                <a:lnTo>
                  <a:pt x="6449219" y="1559577"/>
                </a:lnTo>
                <a:lnTo>
                  <a:pt x="6548438" y="1544591"/>
                </a:lnTo>
                <a:lnTo>
                  <a:pt x="6647656" y="1523979"/>
                </a:lnTo>
                <a:lnTo>
                  <a:pt x="6746875" y="1498228"/>
                </a:lnTo>
                <a:lnTo>
                  <a:pt x="6846094" y="1467822"/>
                </a:lnTo>
                <a:lnTo>
                  <a:pt x="6945312" y="1433249"/>
                </a:lnTo>
                <a:lnTo>
                  <a:pt x="7044531" y="1394994"/>
                </a:lnTo>
                <a:lnTo>
                  <a:pt x="7143750" y="1353542"/>
                </a:lnTo>
                <a:lnTo>
                  <a:pt x="7242969" y="1309381"/>
                </a:lnTo>
                <a:lnTo>
                  <a:pt x="7342188" y="1262996"/>
                </a:lnTo>
                <a:lnTo>
                  <a:pt x="7441406" y="1214873"/>
                </a:lnTo>
                <a:lnTo>
                  <a:pt x="7540625" y="1165498"/>
                </a:lnTo>
                <a:lnTo>
                  <a:pt x="7639844" y="1115357"/>
                </a:lnTo>
                <a:lnTo>
                  <a:pt x="7739062" y="1064937"/>
                </a:lnTo>
                <a:lnTo>
                  <a:pt x="7838281" y="1014722"/>
                </a:lnTo>
                <a:lnTo>
                  <a:pt x="7937500" y="965200"/>
                </a:lnTo>
                <a:lnTo>
                  <a:pt x="8039626" y="913049"/>
                </a:lnTo>
                <a:lnTo>
                  <a:pt x="8146790" y="855272"/>
                </a:lnTo>
                <a:lnTo>
                  <a:pt x="8257829" y="792841"/>
                </a:lnTo>
                <a:lnTo>
                  <a:pt x="8371582" y="726728"/>
                </a:lnTo>
                <a:lnTo>
                  <a:pt x="8486885" y="657905"/>
                </a:lnTo>
                <a:lnTo>
                  <a:pt x="8602576" y="587344"/>
                </a:lnTo>
                <a:lnTo>
                  <a:pt x="8717491" y="516017"/>
                </a:lnTo>
                <a:lnTo>
                  <a:pt x="8830469" y="444897"/>
                </a:lnTo>
                <a:lnTo>
                  <a:pt x="8940346" y="374955"/>
                </a:lnTo>
                <a:lnTo>
                  <a:pt x="9045959" y="307163"/>
                </a:lnTo>
                <a:lnTo>
                  <a:pt x="9146147" y="242493"/>
                </a:lnTo>
                <a:lnTo>
                  <a:pt x="9239746" y="181918"/>
                </a:lnTo>
                <a:lnTo>
                  <a:pt x="9325594" y="126409"/>
                </a:lnTo>
                <a:lnTo>
                  <a:pt x="9402527" y="76938"/>
                </a:lnTo>
                <a:lnTo>
                  <a:pt x="9469383" y="34478"/>
                </a:lnTo>
                <a:lnTo>
                  <a:pt x="9525000" y="0"/>
                </a:lnTo>
              </a:path>
            </a:pathLst>
          </a:custGeom>
          <a:noFill/>
          <a:ln w="50800">
            <a:solidFill>
              <a:srgbClr val="FF5A36"/>
            </a:solidFill>
          </a:ln>
          <a:effectLst/>
        </p:spPr>
        <p:txBody>
          <a:bodyPr rtlCol="0" anchor="ctr"/>
          <a:lstStyle/>
          <a:p>
            <a:pPr algn="ctr"/>
          </a:p>
        </p:txBody>
      </p:sp>
      <p:sp>
        <p:nvSpPr>
          <p:cNvPr id="9" name="Oval 8"/>
          <p:cNvSpPr/>
          <p:nvPr/>
        </p:nvSpPr>
        <p:spPr>
          <a:xfrm>
            <a:off x="1250950" y="4298950"/>
            <a:ext cx="165100" cy="165100"/>
          </a:xfrm>
          <a:prstGeom prst="ellipse">
            <a:avLst/>
          </a:prstGeom>
          <a:solidFill>
            <a:srgbClr val="161A1F"/>
          </a:solidFill>
          <a:ln w="38100">
            <a:solidFill>
              <a:srgbClr val="FF5A36"/>
            </a:solidFill>
          </a:ln>
          <a:effectLst/>
        </p:spPr>
        <p:txBody>
          <a:bodyPr rtlCol="0" anchor="ctr"/>
          <a:lstStyle/>
          <a:p>
            <a:pPr algn="ctr"/>
          </a:p>
        </p:txBody>
      </p:sp>
      <p:sp>
        <p:nvSpPr>
          <p:cNvPr id="10" name="TextBox 9"/>
          <p:cNvSpPr txBox="1"/>
          <p:nvPr/>
        </p:nvSpPr>
        <p:spPr>
          <a:xfrm>
            <a:off x="584200" y="4546600"/>
            <a:ext cx="1498600" cy="546100"/>
          </a:xfrm>
          <a:prstGeom prst="rect">
            <a:avLst/>
          </a:prstGeom>
          <a:noFill/>
        </p:spPr>
        <p:txBody>
          <a:bodyPr wrap="square" lIns="0" rIns="0" tIns="0" bIns="0" anchor="t">
            <a:noAutofit/>
          </a:bodyPr>
          <a:lstStyle/>
          <a:p>
            <a:pPr algn="ctr">
              <a:lnSpc>
                <a:spcPct val="130000"/>
              </a:lnSpc>
            </a:pPr>
            <a:r>
              <a:rPr sz="1000" b="0" i="1">
                <a:solidFill>
                  <a:srgbClr val="EDE8E1"/>
                </a:solidFill>
                <a:latin typeface="IBM Plex Sans"/>
                <a:ea typeface="IBM Plex Sans"/>
                <a:cs typeface="IBM Plex Sans Arabic"/>
              </a:rPr>
              <a:t>“How many kilos for ten people?”</a:t>
            </a:r>
          </a:p>
        </p:txBody>
      </p:sp>
      <p:sp>
        <p:nvSpPr>
          <p:cNvPr id="11" name="Oval 10"/>
          <p:cNvSpPr/>
          <p:nvPr/>
        </p:nvSpPr>
        <p:spPr>
          <a:xfrm>
            <a:off x="2838450" y="2971800"/>
            <a:ext cx="165100" cy="165100"/>
          </a:xfrm>
          <a:prstGeom prst="ellipse">
            <a:avLst/>
          </a:prstGeom>
          <a:solidFill>
            <a:srgbClr val="161A1F"/>
          </a:solidFill>
          <a:ln w="38100">
            <a:solidFill>
              <a:srgbClr val="FF5A36"/>
            </a:solidFill>
          </a:ln>
          <a:effectLst/>
        </p:spPr>
        <p:txBody>
          <a:bodyPr rtlCol="0" anchor="ctr"/>
          <a:lstStyle/>
          <a:p>
            <a:pPr algn="ctr"/>
          </a:p>
        </p:txBody>
      </p:sp>
      <p:sp>
        <p:nvSpPr>
          <p:cNvPr id="12" name="TextBox 11"/>
          <p:cNvSpPr txBox="1"/>
          <p:nvPr/>
        </p:nvSpPr>
        <p:spPr>
          <a:xfrm>
            <a:off x="2171700" y="2343150"/>
            <a:ext cx="1498600" cy="546100"/>
          </a:xfrm>
          <a:prstGeom prst="rect">
            <a:avLst/>
          </a:prstGeom>
          <a:noFill/>
        </p:spPr>
        <p:txBody>
          <a:bodyPr wrap="square" lIns="0" rIns="0" tIns="0" bIns="0" anchor="b">
            <a:noAutofit/>
          </a:bodyPr>
          <a:lstStyle/>
          <a:p>
            <a:pPr algn="ctr">
              <a:lnSpc>
                <a:spcPct val="130000"/>
              </a:lnSpc>
            </a:pPr>
            <a:r>
              <a:rPr sz="1000" b="0" i="1">
                <a:solidFill>
                  <a:srgbClr val="EDE8E1"/>
                </a:solidFill>
                <a:latin typeface="IBM Plex Sans"/>
                <a:ea typeface="IBM Plex Sans"/>
                <a:cs typeface="IBM Plex Sans Arabic"/>
              </a:rPr>
              <a:t>“It did the maths — even the charcoal.”</a:t>
            </a:r>
          </a:p>
        </p:txBody>
      </p:sp>
      <p:sp>
        <p:nvSpPr>
          <p:cNvPr id="13" name="Oval 12"/>
          <p:cNvSpPr/>
          <p:nvPr/>
        </p:nvSpPr>
        <p:spPr>
          <a:xfrm>
            <a:off x="4425950" y="3394075"/>
            <a:ext cx="165100" cy="165100"/>
          </a:xfrm>
          <a:prstGeom prst="ellipse">
            <a:avLst/>
          </a:prstGeom>
          <a:solidFill>
            <a:srgbClr val="161A1F"/>
          </a:solidFill>
          <a:ln w="38100">
            <a:solidFill>
              <a:srgbClr val="FF5A36"/>
            </a:solidFill>
          </a:ln>
          <a:effectLst/>
        </p:spPr>
        <p:txBody>
          <a:bodyPr rtlCol="0" anchor="ctr"/>
          <a:lstStyle/>
          <a:p>
            <a:pPr algn="ctr"/>
          </a:p>
        </p:txBody>
      </p:sp>
      <p:sp>
        <p:nvSpPr>
          <p:cNvPr id="14" name="TextBox 13"/>
          <p:cNvSpPr txBox="1"/>
          <p:nvPr/>
        </p:nvSpPr>
        <p:spPr>
          <a:xfrm>
            <a:off x="3759200" y="2765425"/>
            <a:ext cx="1498600" cy="546100"/>
          </a:xfrm>
          <a:prstGeom prst="rect">
            <a:avLst/>
          </a:prstGeom>
          <a:noFill/>
        </p:spPr>
        <p:txBody>
          <a:bodyPr wrap="square" lIns="0" rIns="0" tIns="0" bIns="0" anchor="b">
            <a:noAutofit/>
          </a:bodyPr>
          <a:lstStyle/>
          <a:p>
            <a:pPr algn="ctr">
              <a:lnSpc>
                <a:spcPct val="130000"/>
              </a:lnSpc>
            </a:pPr>
            <a:r>
              <a:rPr sz="1000" b="0" i="1">
                <a:solidFill>
                  <a:srgbClr val="EDE8E1"/>
                </a:solidFill>
                <a:latin typeface="IBM Plex Sans"/>
                <a:ea typeface="IBM Plex Sans"/>
                <a:cs typeface="IBM Plex Sans Arabic"/>
              </a:rPr>
              <a:t>“I can see the price of every extra.”</a:t>
            </a:r>
          </a:p>
        </p:txBody>
      </p:sp>
      <p:sp>
        <p:nvSpPr>
          <p:cNvPr id="15" name="Oval 14"/>
          <p:cNvSpPr/>
          <p:nvPr/>
        </p:nvSpPr>
        <p:spPr>
          <a:xfrm>
            <a:off x="6013450" y="3635375"/>
            <a:ext cx="165100" cy="165100"/>
          </a:xfrm>
          <a:prstGeom prst="ellipse">
            <a:avLst/>
          </a:prstGeom>
          <a:solidFill>
            <a:srgbClr val="161A1F"/>
          </a:solidFill>
          <a:ln w="38100">
            <a:solidFill>
              <a:srgbClr val="FF5A36"/>
            </a:solidFill>
          </a:ln>
          <a:effectLst/>
        </p:spPr>
        <p:txBody>
          <a:bodyPr rtlCol="0" anchor="ctr"/>
          <a:lstStyle/>
          <a:p>
            <a:pPr algn="ctr"/>
          </a:p>
        </p:txBody>
      </p:sp>
      <p:sp>
        <p:nvSpPr>
          <p:cNvPr id="16" name="TextBox 15"/>
          <p:cNvSpPr txBox="1"/>
          <p:nvPr/>
        </p:nvSpPr>
        <p:spPr>
          <a:xfrm>
            <a:off x="5346700" y="3006725"/>
            <a:ext cx="1498600" cy="546100"/>
          </a:xfrm>
          <a:prstGeom prst="rect">
            <a:avLst/>
          </a:prstGeom>
          <a:noFill/>
        </p:spPr>
        <p:txBody>
          <a:bodyPr wrap="square" lIns="0" rIns="0" tIns="0" bIns="0" anchor="b">
            <a:noAutofit/>
          </a:bodyPr>
          <a:lstStyle/>
          <a:p>
            <a:pPr algn="ctr">
              <a:lnSpc>
                <a:spcPct val="130000"/>
              </a:lnSpc>
            </a:pPr>
            <a:r>
              <a:rPr sz="1000" b="0" i="1">
                <a:solidFill>
                  <a:srgbClr val="EDE8E1"/>
                </a:solidFill>
                <a:latin typeface="IBM Plex Sans"/>
                <a:ea typeface="IBM Plex Sans"/>
                <a:cs typeface="IBM Plex Sans Arabic"/>
              </a:rPr>
              <a:t>“Is it enough? Yes — it's clear per person.”</a:t>
            </a:r>
          </a:p>
        </p:txBody>
      </p:sp>
      <p:sp>
        <p:nvSpPr>
          <p:cNvPr id="17" name="Oval 16"/>
          <p:cNvSpPr/>
          <p:nvPr/>
        </p:nvSpPr>
        <p:spPr>
          <a:xfrm>
            <a:off x="7600950" y="4057650"/>
            <a:ext cx="165100" cy="165100"/>
          </a:xfrm>
          <a:prstGeom prst="ellipse">
            <a:avLst/>
          </a:prstGeom>
          <a:solidFill>
            <a:srgbClr val="161A1F"/>
          </a:solidFill>
          <a:ln w="38100">
            <a:solidFill>
              <a:srgbClr val="FF5A36"/>
            </a:solidFill>
          </a:ln>
          <a:effectLst/>
        </p:spPr>
        <p:txBody>
          <a:bodyPr rtlCol="0" anchor="ctr"/>
          <a:lstStyle/>
          <a:p>
            <a:pPr algn="ctr"/>
          </a:p>
        </p:txBody>
      </p:sp>
      <p:sp>
        <p:nvSpPr>
          <p:cNvPr id="18" name="TextBox 17"/>
          <p:cNvSpPr txBox="1"/>
          <p:nvPr/>
        </p:nvSpPr>
        <p:spPr>
          <a:xfrm>
            <a:off x="6934200" y="4305300"/>
            <a:ext cx="1498600" cy="546100"/>
          </a:xfrm>
          <a:prstGeom prst="rect">
            <a:avLst/>
          </a:prstGeom>
          <a:noFill/>
        </p:spPr>
        <p:txBody>
          <a:bodyPr wrap="square" lIns="0" rIns="0" tIns="0" bIns="0" anchor="t">
            <a:noAutofit/>
          </a:bodyPr>
          <a:lstStyle/>
          <a:p>
            <a:pPr algn="ctr">
              <a:lnSpc>
                <a:spcPct val="130000"/>
              </a:lnSpc>
            </a:pPr>
            <a:r>
              <a:rPr sz="1000" b="0" i="1">
                <a:solidFill>
                  <a:srgbClr val="EDE8E1"/>
                </a:solidFill>
                <a:latin typeface="IBM Plex Sans"/>
                <a:ea typeface="IBM Plex Sans"/>
                <a:cs typeface="IBM Plex Sans Arabic"/>
              </a:rPr>
              <a:t>“Phone, code, time slot. Done.”</a:t>
            </a:r>
          </a:p>
        </p:txBody>
      </p:sp>
      <p:sp>
        <p:nvSpPr>
          <p:cNvPr id="19" name="Oval 18"/>
          <p:cNvSpPr/>
          <p:nvPr/>
        </p:nvSpPr>
        <p:spPr>
          <a:xfrm>
            <a:off x="9188450" y="3454400"/>
            <a:ext cx="165100" cy="165100"/>
          </a:xfrm>
          <a:prstGeom prst="ellipse">
            <a:avLst/>
          </a:prstGeom>
          <a:solidFill>
            <a:srgbClr val="161A1F"/>
          </a:solidFill>
          <a:ln w="38100">
            <a:solidFill>
              <a:srgbClr val="FF5A36"/>
            </a:solidFill>
          </a:ln>
          <a:effectLst/>
        </p:spPr>
        <p:txBody>
          <a:bodyPr rtlCol="0" anchor="ctr"/>
          <a:lstStyle/>
          <a:p>
            <a:pPr algn="ctr"/>
          </a:p>
        </p:txBody>
      </p:sp>
      <p:sp>
        <p:nvSpPr>
          <p:cNvPr id="20" name="TextBox 19"/>
          <p:cNvSpPr txBox="1"/>
          <p:nvPr/>
        </p:nvSpPr>
        <p:spPr>
          <a:xfrm>
            <a:off x="8521700" y="3702050"/>
            <a:ext cx="1498600" cy="546100"/>
          </a:xfrm>
          <a:prstGeom prst="rect">
            <a:avLst/>
          </a:prstGeom>
          <a:noFill/>
        </p:spPr>
        <p:txBody>
          <a:bodyPr wrap="square" lIns="0" rIns="0" tIns="0" bIns="0" anchor="t">
            <a:noAutofit/>
          </a:bodyPr>
          <a:lstStyle/>
          <a:p>
            <a:pPr algn="ctr">
              <a:lnSpc>
                <a:spcPct val="130000"/>
              </a:lnSpc>
            </a:pPr>
            <a:r>
              <a:rPr sz="1000" b="0" i="1">
                <a:solidFill>
                  <a:srgbClr val="EDE8E1"/>
                </a:solidFill>
                <a:latin typeface="IBM Plex Sans"/>
                <a:ea typeface="IBM Plex Sans"/>
                <a:cs typeface="IBM Plex Sans Arabic"/>
              </a:rPr>
              <a:t>“It's on the butcher's block now.”</a:t>
            </a:r>
          </a:p>
        </p:txBody>
      </p:sp>
      <p:sp>
        <p:nvSpPr>
          <p:cNvPr id="21" name="Oval 20"/>
          <p:cNvSpPr/>
          <p:nvPr/>
        </p:nvSpPr>
        <p:spPr>
          <a:xfrm>
            <a:off x="10775950" y="2489200"/>
            <a:ext cx="165100" cy="165100"/>
          </a:xfrm>
          <a:prstGeom prst="ellipse">
            <a:avLst/>
          </a:prstGeom>
          <a:solidFill>
            <a:srgbClr val="161A1F"/>
          </a:solidFill>
          <a:ln w="38100">
            <a:solidFill>
              <a:srgbClr val="FF5A36"/>
            </a:solidFill>
          </a:ln>
          <a:effectLst/>
        </p:spPr>
        <p:txBody>
          <a:bodyPr rtlCol="0" anchor="ctr"/>
          <a:lstStyle/>
          <a:p>
            <a:pPr algn="ctr"/>
          </a:p>
        </p:txBody>
      </p:sp>
      <p:sp>
        <p:nvSpPr>
          <p:cNvPr id="22" name="TextBox 21"/>
          <p:cNvSpPr txBox="1"/>
          <p:nvPr/>
        </p:nvSpPr>
        <p:spPr>
          <a:xfrm>
            <a:off x="10109200" y="1860550"/>
            <a:ext cx="1498600" cy="546100"/>
          </a:xfrm>
          <a:prstGeom prst="rect">
            <a:avLst/>
          </a:prstGeom>
          <a:noFill/>
        </p:spPr>
        <p:txBody>
          <a:bodyPr wrap="square" lIns="0" rIns="0" tIns="0" bIns="0" anchor="b">
            <a:noAutofit/>
          </a:bodyPr>
          <a:lstStyle/>
          <a:p>
            <a:pPr algn="ctr">
              <a:lnSpc>
                <a:spcPct val="130000"/>
              </a:lnSpc>
            </a:pPr>
            <a:r>
              <a:rPr sz="1000" b="0" i="1">
                <a:solidFill>
                  <a:srgbClr val="EDE8E1"/>
                </a:solidFill>
                <a:latin typeface="IBM Plex Sans"/>
                <a:ea typeface="IBM Plex Sans"/>
                <a:cs typeface="IBM Plex Sans Arabic"/>
              </a:rPr>
              <a:t>“Same again next Thursday.”</a:t>
            </a:r>
          </a:p>
        </p:txBody>
      </p:sp>
      <p:sp>
        <p:nvSpPr>
          <p:cNvPr id="23" name="Rounded Rectangle 22"/>
          <p:cNvSpPr/>
          <p:nvPr/>
        </p:nvSpPr>
        <p:spPr>
          <a:xfrm>
            <a:off x="5842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24" name="TextBox 23"/>
          <p:cNvSpPr txBox="1"/>
          <p:nvPr/>
        </p:nvSpPr>
        <p:spPr>
          <a:xfrm>
            <a:off x="6731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01 DISCOVER</a:t>
            </a:r>
          </a:p>
        </p:txBody>
      </p:sp>
      <p:sp>
        <p:nvSpPr>
          <p:cNvPr id="25" name="TextBox 24"/>
          <p:cNvSpPr txBox="1"/>
          <p:nvPr/>
        </p:nvSpPr>
        <p:spPr>
          <a:xfrm>
            <a:off x="6731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Advisor in the hero · 6 occasions</a:t>
            </a:r>
          </a:p>
        </p:txBody>
      </p:sp>
      <p:sp>
        <p:nvSpPr>
          <p:cNvPr id="26" name="Rounded Rectangle 25"/>
          <p:cNvSpPr/>
          <p:nvPr/>
        </p:nvSpPr>
        <p:spPr>
          <a:xfrm>
            <a:off x="21717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27" name="TextBox 26"/>
          <p:cNvSpPr txBox="1"/>
          <p:nvPr/>
        </p:nvSpPr>
        <p:spPr>
          <a:xfrm>
            <a:off x="22606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02 PLAN</a:t>
            </a:r>
          </a:p>
        </p:txBody>
      </p:sp>
      <p:sp>
        <p:nvSpPr>
          <p:cNvPr id="28" name="TextBox 27"/>
          <p:cNvSpPr txBox="1"/>
          <p:nvPr/>
        </p:nvSpPr>
        <p:spPr>
          <a:xfrm>
            <a:off x="22606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Grams per person · plan receipt</a:t>
            </a:r>
          </a:p>
        </p:txBody>
      </p:sp>
      <p:sp>
        <p:nvSpPr>
          <p:cNvPr id="29" name="Rounded Rectangle 28"/>
          <p:cNvSpPr/>
          <p:nvPr/>
        </p:nvSpPr>
        <p:spPr>
          <a:xfrm>
            <a:off x="37592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30" name="TextBox 29"/>
          <p:cNvSpPr txBox="1"/>
          <p:nvPr/>
        </p:nvSpPr>
        <p:spPr>
          <a:xfrm>
            <a:off x="38481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03 CHOOSE</a:t>
            </a:r>
          </a:p>
        </p:txBody>
      </p:sp>
      <p:sp>
        <p:nvSpPr>
          <p:cNvPr id="31" name="TextBox 30"/>
          <p:cNvSpPr txBox="1"/>
          <p:nvPr/>
        </p:nvSpPr>
        <p:spPr>
          <a:xfrm>
            <a:off x="38481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Free cutting · price per kg</a:t>
            </a:r>
          </a:p>
        </p:txBody>
      </p:sp>
      <p:sp>
        <p:nvSpPr>
          <p:cNvPr id="32" name="Rounded Rectangle 31"/>
          <p:cNvSpPr/>
          <p:nvPr/>
        </p:nvSpPr>
        <p:spPr>
          <a:xfrm>
            <a:off x="53467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33" name="TextBox 32"/>
          <p:cNvSpPr txBox="1"/>
          <p:nvPr/>
        </p:nvSpPr>
        <p:spPr>
          <a:xfrm>
            <a:off x="54356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04 CART</a:t>
            </a:r>
          </a:p>
        </p:txBody>
      </p:sp>
      <p:sp>
        <p:nvSpPr>
          <p:cNvPr id="34" name="TextBox 33"/>
          <p:cNvSpPr txBox="1"/>
          <p:nvPr/>
        </p:nvSpPr>
        <p:spPr>
          <a:xfrm>
            <a:off x="54356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Draft receipt · free delivery 300+</a:t>
            </a:r>
          </a:p>
        </p:txBody>
      </p:sp>
      <p:sp>
        <p:nvSpPr>
          <p:cNvPr id="35" name="Rounded Rectangle 34"/>
          <p:cNvSpPr/>
          <p:nvPr/>
        </p:nvSpPr>
        <p:spPr>
          <a:xfrm>
            <a:off x="69342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36" name="TextBox 35"/>
          <p:cNvSpPr txBox="1"/>
          <p:nvPr/>
        </p:nvSpPr>
        <p:spPr>
          <a:xfrm>
            <a:off x="70231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05 CHECKOUT</a:t>
            </a:r>
          </a:p>
        </p:txBody>
      </p:sp>
      <p:sp>
        <p:nvSpPr>
          <p:cNvPr id="37" name="TextBox 36"/>
          <p:cNvSpPr txBox="1"/>
          <p:nvPr/>
        </p:nvSpPr>
        <p:spPr>
          <a:xfrm>
            <a:off x="70231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OTP sign-in · 5 ways to pay</a:t>
            </a:r>
          </a:p>
        </p:txBody>
      </p:sp>
      <p:sp>
        <p:nvSpPr>
          <p:cNvPr id="38" name="Rounded Rectangle 37"/>
          <p:cNvSpPr/>
          <p:nvPr/>
        </p:nvSpPr>
        <p:spPr>
          <a:xfrm>
            <a:off x="85217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39" name="TextBox 38"/>
          <p:cNvSpPr txBox="1"/>
          <p:nvPr/>
        </p:nvSpPr>
        <p:spPr>
          <a:xfrm>
            <a:off x="86106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06 TRACK</a:t>
            </a:r>
          </a:p>
        </p:txBody>
      </p:sp>
      <p:sp>
        <p:nvSpPr>
          <p:cNvPr id="40" name="TextBox 39"/>
          <p:cNvSpPr txBox="1"/>
          <p:nvPr/>
        </p:nvSpPr>
        <p:spPr>
          <a:xfrm>
            <a:off x="86106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4-step tracking · printed receipt</a:t>
            </a:r>
          </a:p>
        </p:txBody>
      </p:sp>
      <p:sp>
        <p:nvSpPr>
          <p:cNvPr id="41" name="Rounded Rectangle 40"/>
          <p:cNvSpPr/>
          <p:nvPr/>
        </p:nvSpPr>
        <p:spPr>
          <a:xfrm>
            <a:off x="10109200" y="5016500"/>
            <a:ext cx="1498600" cy="952500"/>
          </a:xfrm>
          <a:prstGeom prst="roundRect">
            <a:avLst>
              <a:gd name="adj" fmla="val 9333"/>
            </a:avLst>
          </a:prstGeom>
          <a:solidFill>
            <a:srgbClr val="1C2228"/>
          </a:solidFill>
          <a:ln>
            <a:noFill/>
          </a:ln>
          <a:effectLst/>
        </p:spPr>
        <p:txBody>
          <a:bodyPr rtlCol="0" anchor="ctr" lIns="0" rIns="0"/>
          <a:lstStyle/>
          <a:p>
            <a:pPr algn="ctr"/>
          </a:p>
        </p:txBody>
      </p:sp>
      <p:sp>
        <p:nvSpPr>
          <p:cNvPr id="42" name="TextBox 41"/>
          <p:cNvSpPr txBox="1"/>
          <p:nvPr/>
        </p:nvSpPr>
        <p:spPr>
          <a:xfrm>
            <a:off x="10198100" y="5118100"/>
            <a:ext cx="1320800" cy="190500"/>
          </a:xfrm>
          <a:prstGeom prst="rect">
            <a:avLst/>
          </a:prstGeom>
          <a:noFill/>
        </p:spPr>
        <p:txBody>
          <a:bodyPr wrap="square" lIns="0" rIns="0" tIns="0" bIns="0" anchor="t">
            <a:noAutofit/>
          </a:bodyPr>
          <a:lstStyle/>
          <a:p>
            <a:pPr algn="l">
              <a:lnSpc>
                <a:spcPct val="100000"/>
              </a:lnSpc>
            </a:pPr>
            <a:r>
              <a:rPr sz="800" b="1" i="0" spc="120">
                <a:solidFill>
                  <a:srgbClr val="FF5A36"/>
                </a:solidFill>
                <a:latin typeface="IBM Plex Mono"/>
                <a:ea typeface="IBM Plex Mono"/>
                <a:cs typeface="IBM Plex Sans Arabic"/>
              </a:rPr>
              <a:t>07 COME BACK</a:t>
            </a:r>
          </a:p>
        </p:txBody>
      </p:sp>
      <p:sp>
        <p:nvSpPr>
          <p:cNvPr id="43" name="TextBox 42"/>
          <p:cNvSpPr txBox="1"/>
          <p:nvPr/>
        </p:nvSpPr>
        <p:spPr>
          <a:xfrm>
            <a:off x="10198100" y="5346700"/>
            <a:ext cx="1320800" cy="571500"/>
          </a:xfrm>
          <a:prstGeom prst="rect">
            <a:avLst/>
          </a:prstGeom>
          <a:noFill/>
        </p:spPr>
        <p:txBody>
          <a:bodyPr wrap="square" lIns="0" rIns="0" tIns="0" bIns="0" anchor="t">
            <a:noAutofit/>
          </a:bodyPr>
          <a:lstStyle/>
          <a:p>
            <a:pPr algn="l">
              <a:lnSpc>
                <a:spcPct val="135000"/>
              </a:lnSpc>
            </a:pPr>
            <a:r>
              <a:rPr sz="950" b="0" i="0">
                <a:solidFill>
                  <a:srgbClr val="C8C1B7"/>
                </a:solidFill>
                <a:latin typeface="IBM Plex Sans"/>
                <a:ea typeface="IBM Plex Sans"/>
                <a:cs typeface="IBM Plex Sans Arabic"/>
              </a:rPr>
              <a:t>Saved plans · order again</a:t>
            </a:r>
          </a:p>
        </p:txBody>
      </p:sp>
      <p:pic>
        <p:nvPicPr>
          <p:cNvPr id="44" name="Picture 43" descr="logo-bone.png"/>
          <p:cNvPicPr>
            <a:picLocks noChangeAspect="1"/>
          </p:cNvPicPr>
          <p:nvPr/>
        </p:nvPicPr>
        <p:blipFill>
          <a:blip r:embed="rId3"/>
          <a:stretch>
            <a:fillRect/>
          </a:stretch>
        </p:blipFill>
        <p:spPr>
          <a:xfrm>
            <a:off x="762000" y="6426200"/>
            <a:ext cx="208788" cy="152400"/>
          </a:xfrm>
          <a:prstGeom prst="rect">
            <a:avLst/>
          </a:prstGeom>
        </p:spPr>
      </p:pic>
      <p:sp>
        <p:nvSpPr>
          <p:cNvPr id="45" name="TextBox 44"/>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46" name="TextBox 45"/>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06</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06</a:t>
            </a:r>
            <a:r>
              <a:rPr sz="950" b="0" i="0" spc="240">
                <a:solidFill>
                  <a:srgbClr val="8E969D"/>
                </a:solidFill>
                <a:latin typeface="IBM Plex Mono"/>
                <a:ea typeface="IBM Plex Mono"/>
                <a:cs typeface="IBM Plex Sans Arabic"/>
              </a:rPr>
              <a:t>  USER FLOW</a:t>
            </a:r>
          </a:p>
        </p:txBody>
      </p:sp>
      <p:sp>
        <p:nvSpPr>
          <p:cNvPr id="4" name="TextBox 3"/>
          <p:cNvSpPr txBox="1"/>
          <p:nvPr/>
        </p:nvSpPr>
        <p:spPr>
          <a:xfrm>
            <a:off x="762000" y="952500"/>
            <a:ext cx="8890000" cy="5270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Two ways in. One way out.</a:t>
            </a:r>
          </a:p>
        </p:txBody>
      </p:sp>
      <p:sp>
        <p:nvSpPr>
          <p:cNvPr id="5" name="Rounded Rectangle 4"/>
          <p:cNvSpPr/>
          <p:nvPr/>
        </p:nvSpPr>
        <p:spPr>
          <a:xfrm>
            <a:off x="762000" y="2095500"/>
            <a:ext cx="1397000" cy="952500"/>
          </a:xfrm>
          <a:prstGeom prst="roundRect">
            <a:avLst>
              <a:gd name="adj" fmla="val 10666"/>
            </a:avLst>
          </a:prstGeom>
          <a:solidFill>
            <a:srgbClr val="1C2228"/>
          </a:solidFill>
          <a:ln w="12700">
            <a:solidFill>
              <a:srgbClr val="383B3E"/>
            </a:solidFill>
          </a:ln>
          <a:effectLst/>
        </p:spPr>
        <p:txBody>
          <a:bodyPr rtlCol="0" anchor="ctr" lIns="0" rIns="0"/>
          <a:lstStyle/>
          <a:p>
            <a:pPr algn="ctr"/>
          </a:p>
        </p:txBody>
      </p:sp>
      <p:sp>
        <p:nvSpPr>
          <p:cNvPr id="6" name="TextBox 5"/>
          <p:cNvSpPr txBox="1"/>
          <p:nvPr/>
        </p:nvSpPr>
        <p:spPr>
          <a:xfrm>
            <a:off x="863600" y="2184400"/>
            <a:ext cx="11938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Arrives</a:t>
            </a:r>
          </a:p>
        </p:txBody>
      </p:sp>
      <p:sp>
        <p:nvSpPr>
          <p:cNvPr id="7" name="TextBox 6"/>
          <p:cNvSpPr txBox="1"/>
          <p:nvPr/>
        </p:nvSpPr>
        <p:spPr>
          <a:xfrm>
            <a:off x="850900" y="2425700"/>
            <a:ext cx="1219200" cy="596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Instagram · Snapchat · Google · direct</a:t>
            </a:r>
          </a:p>
        </p:txBody>
      </p:sp>
      <p:sp>
        <p:nvSpPr>
          <p:cNvPr id="8" name="Rounded Rectangle 7"/>
          <p:cNvSpPr/>
          <p:nvPr/>
        </p:nvSpPr>
        <p:spPr>
          <a:xfrm>
            <a:off x="2540000" y="2095500"/>
            <a:ext cx="1397000" cy="952500"/>
          </a:xfrm>
          <a:prstGeom prst="roundRect">
            <a:avLst>
              <a:gd name="adj" fmla="val 10666"/>
            </a:avLst>
          </a:prstGeom>
          <a:solidFill>
            <a:srgbClr val="1C2228"/>
          </a:solidFill>
          <a:ln w="12700">
            <a:solidFill>
              <a:srgbClr val="383B3E"/>
            </a:solidFill>
          </a:ln>
          <a:effectLst/>
        </p:spPr>
        <p:txBody>
          <a:bodyPr rtlCol="0" anchor="ctr" lIns="0" rIns="0"/>
          <a:lstStyle/>
          <a:p>
            <a:pPr algn="ctr"/>
          </a:p>
        </p:txBody>
      </p:sp>
      <p:sp>
        <p:nvSpPr>
          <p:cNvPr id="9" name="TextBox 8"/>
          <p:cNvSpPr txBox="1"/>
          <p:nvPr/>
        </p:nvSpPr>
        <p:spPr>
          <a:xfrm>
            <a:off x="2641600" y="2184400"/>
            <a:ext cx="11938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Home page</a:t>
            </a:r>
          </a:p>
        </p:txBody>
      </p:sp>
      <p:sp>
        <p:nvSpPr>
          <p:cNvPr id="10" name="TextBox 9"/>
          <p:cNvSpPr txBox="1"/>
          <p:nvPr/>
        </p:nvSpPr>
        <p:spPr>
          <a:xfrm>
            <a:off x="2628900" y="2425700"/>
            <a:ext cx="1219200" cy="596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Advisor in the hero</a:t>
            </a:r>
          </a:p>
        </p:txBody>
      </p:sp>
      <p:sp>
        <p:nvSpPr>
          <p:cNvPr id="11" name="Rounded Rectangle 10"/>
          <p:cNvSpPr/>
          <p:nvPr/>
        </p:nvSpPr>
        <p:spPr>
          <a:xfrm>
            <a:off x="4445000" y="1663700"/>
            <a:ext cx="1778000" cy="762000"/>
          </a:xfrm>
          <a:prstGeom prst="roundRect">
            <a:avLst>
              <a:gd name="adj" fmla="val 13333"/>
            </a:avLst>
          </a:prstGeom>
          <a:solidFill>
            <a:srgbClr val="FF5A36"/>
          </a:solidFill>
          <a:ln>
            <a:noFill/>
          </a:ln>
          <a:effectLst/>
        </p:spPr>
        <p:txBody>
          <a:bodyPr rtlCol="0" anchor="ctr" lIns="0" rIns="0"/>
          <a:lstStyle/>
          <a:p>
            <a:pPr algn="ctr"/>
          </a:p>
        </p:txBody>
      </p:sp>
      <p:sp>
        <p:nvSpPr>
          <p:cNvPr id="12" name="TextBox 11"/>
          <p:cNvSpPr txBox="1"/>
          <p:nvPr/>
        </p:nvSpPr>
        <p:spPr>
          <a:xfrm>
            <a:off x="4546600" y="1752600"/>
            <a:ext cx="1574800" cy="228600"/>
          </a:xfrm>
          <a:prstGeom prst="rect">
            <a:avLst/>
          </a:prstGeom>
          <a:noFill/>
        </p:spPr>
        <p:txBody>
          <a:bodyPr wrap="square" lIns="0" rIns="0" tIns="0" bIns="0" anchor="t">
            <a:noAutofit/>
          </a:bodyPr>
          <a:lstStyle/>
          <a:p>
            <a:pPr algn="ctr">
              <a:lnSpc>
                <a:spcPct val="110000"/>
              </a:lnSpc>
            </a:pPr>
            <a:r>
              <a:rPr sz="1200" b="1" i="0">
                <a:solidFill>
                  <a:srgbClr val="161A1F"/>
                </a:solidFill>
                <a:latin typeface="Alexandria"/>
                <a:ea typeface="Alexandria"/>
                <a:cs typeface="IBM Plex Sans Arabic"/>
              </a:rPr>
              <a:t>Advisor</a:t>
            </a:r>
          </a:p>
        </p:txBody>
      </p:sp>
      <p:sp>
        <p:nvSpPr>
          <p:cNvPr id="13" name="TextBox 12"/>
          <p:cNvSpPr txBox="1"/>
          <p:nvPr/>
        </p:nvSpPr>
        <p:spPr>
          <a:xfrm>
            <a:off x="4533900" y="1993900"/>
            <a:ext cx="1600200" cy="406400"/>
          </a:xfrm>
          <a:prstGeom prst="rect">
            <a:avLst/>
          </a:prstGeom>
          <a:noFill/>
        </p:spPr>
        <p:txBody>
          <a:bodyPr wrap="square" lIns="0" rIns="0" tIns="0" bIns="0" anchor="t">
            <a:noAutofit/>
          </a:bodyPr>
          <a:lstStyle/>
          <a:p>
            <a:pPr algn="ctr">
              <a:lnSpc>
                <a:spcPct val="130000"/>
              </a:lnSpc>
            </a:pPr>
            <a:r>
              <a:rPr sz="850" b="0" i="0">
                <a:solidFill>
                  <a:srgbClr val="161A1F"/>
                </a:solidFill>
                <a:latin typeface="IBM Plex Sans"/>
                <a:ea typeface="IBM Plex Sans"/>
                <a:cs typeface="IBM Plex Sans Arabic"/>
              </a:rPr>
              <a:t>Occasion → guests → questions</a:t>
            </a:r>
          </a:p>
        </p:txBody>
      </p:sp>
      <p:sp>
        <p:nvSpPr>
          <p:cNvPr id="14" name="Rounded Rectangle 13"/>
          <p:cNvSpPr/>
          <p:nvPr/>
        </p:nvSpPr>
        <p:spPr>
          <a:xfrm>
            <a:off x="4445000" y="2743200"/>
            <a:ext cx="1778000" cy="762000"/>
          </a:xfrm>
          <a:prstGeom prst="roundRect">
            <a:avLst>
              <a:gd name="adj" fmla="val 13333"/>
            </a:avLst>
          </a:prstGeom>
          <a:solidFill>
            <a:srgbClr val="1C2228"/>
          </a:solidFill>
          <a:ln w="12700">
            <a:solidFill>
              <a:srgbClr val="383B3E"/>
            </a:solidFill>
          </a:ln>
          <a:effectLst/>
        </p:spPr>
        <p:txBody>
          <a:bodyPr rtlCol="0" anchor="ctr" lIns="0" rIns="0"/>
          <a:lstStyle/>
          <a:p>
            <a:pPr algn="ctr"/>
          </a:p>
        </p:txBody>
      </p:sp>
      <p:sp>
        <p:nvSpPr>
          <p:cNvPr id="15" name="TextBox 14"/>
          <p:cNvSpPr txBox="1"/>
          <p:nvPr/>
        </p:nvSpPr>
        <p:spPr>
          <a:xfrm>
            <a:off x="4546600" y="2832100"/>
            <a:ext cx="15748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Shop · Search · Herd</a:t>
            </a:r>
          </a:p>
        </p:txBody>
      </p:sp>
      <p:sp>
        <p:nvSpPr>
          <p:cNvPr id="16" name="TextBox 15"/>
          <p:cNvSpPr txBox="1"/>
          <p:nvPr/>
        </p:nvSpPr>
        <p:spPr>
          <a:xfrm>
            <a:off x="4533900" y="3073400"/>
            <a:ext cx="1600200" cy="4064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Filters, cut map</a:t>
            </a:r>
          </a:p>
        </p:txBody>
      </p:sp>
      <p:sp>
        <p:nvSpPr>
          <p:cNvPr id="17" name="Rounded Rectangle 16"/>
          <p:cNvSpPr/>
          <p:nvPr/>
        </p:nvSpPr>
        <p:spPr>
          <a:xfrm>
            <a:off x="6667500" y="1663700"/>
            <a:ext cx="1778000" cy="762000"/>
          </a:xfrm>
          <a:prstGeom prst="roundRect">
            <a:avLst>
              <a:gd name="adj" fmla="val 13333"/>
            </a:avLst>
          </a:prstGeom>
          <a:solidFill>
            <a:srgbClr val="1C2228"/>
          </a:solidFill>
          <a:ln w="12700">
            <a:solidFill>
              <a:srgbClr val="383B3E"/>
            </a:solidFill>
          </a:ln>
          <a:effectLst/>
        </p:spPr>
        <p:txBody>
          <a:bodyPr rtlCol="0" anchor="ctr" lIns="0" rIns="0"/>
          <a:lstStyle/>
          <a:p>
            <a:pPr algn="ctr"/>
          </a:p>
        </p:txBody>
      </p:sp>
      <p:sp>
        <p:nvSpPr>
          <p:cNvPr id="18" name="TextBox 17"/>
          <p:cNvSpPr txBox="1"/>
          <p:nvPr/>
        </p:nvSpPr>
        <p:spPr>
          <a:xfrm>
            <a:off x="6769100" y="1752600"/>
            <a:ext cx="15748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Plan receipt</a:t>
            </a:r>
          </a:p>
        </p:txBody>
      </p:sp>
      <p:sp>
        <p:nvSpPr>
          <p:cNvPr id="19" name="TextBox 18"/>
          <p:cNvSpPr txBox="1"/>
          <p:nvPr/>
        </p:nvSpPr>
        <p:spPr>
          <a:xfrm>
            <a:off x="6756400" y="1993900"/>
            <a:ext cx="1600200" cy="4064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Adjust · save · add occasion</a:t>
            </a:r>
          </a:p>
        </p:txBody>
      </p:sp>
      <p:sp>
        <p:nvSpPr>
          <p:cNvPr id="20" name="Rounded Rectangle 19"/>
          <p:cNvSpPr/>
          <p:nvPr/>
        </p:nvSpPr>
        <p:spPr>
          <a:xfrm>
            <a:off x="6667500" y="2743200"/>
            <a:ext cx="1778000" cy="762000"/>
          </a:xfrm>
          <a:prstGeom prst="roundRect">
            <a:avLst>
              <a:gd name="adj" fmla="val 13333"/>
            </a:avLst>
          </a:prstGeom>
          <a:solidFill>
            <a:srgbClr val="1C2228"/>
          </a:solidFill>
          <a:ln w="12700">
            <a:solidFill>
              <a:srgbClr val="383B3E"/>
            </a:solidFill>
          </a:ln>
          <a:effectLst/>
        </p:spPr>
        <p:txBody>
          <a:bodyPr rtlCol="0" anchor="ctr" lIns="0" rIns="0"/>
          <a:lstStyle/>
          <a:p>
            <a:pPr algn="ctr"/>
          </a:p>
        </p:txBody>
      </p:sp>
      <p:sp>
        <p:nvSpPr>
          <p:cNvPr id="21" name="TextBox 20"/>
          <p:cNvSpPr txBox="1"/>
          <p:nvPr/>
        </p:nvSpPr>
        <p:spPr>
          <a:xfrm>
            <a:off x="6769100" y="2832100"/>
            <a:ext cx="15748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Product page</a:t>
            </a:r>
          </a:p>
        </p:txBody>
      </p:sp>
      <p:sp>
        <p:nvSpPr>
          <p:cNvPr id="22" name="TextBox 21"/>
          <p:cNvSpPr txBox="1"/>
          <p:nvPr/>
        </p:nvSpPr>
        <p:spPr>
          <a:xfrm>
            <a:off x="6756400" y="3073400"/>
            <a:ext cx="1600200" cy="4064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Weight · cut · marinade</a:t>
            </a:r>
          </a:p>
        </p:txBody>
      </p:sp>
      <p:sp>
        <p:nvSpPr>
          <p:cNvPr id="23" name="Rounded Rectangle 22"/>
          <p:cNvSpPr/>
          <p:nvPr/>
        </p:nvSpPr>
        <p:spPr>
          <a:xfrm>
            <a:off x="9017000" y="2095500"/>
            <a:ext cx="1587500" cy="952500"/>
          </a:xfrm>
          <a:prstGeom prst="roundRect">
            <a:avLst>
              <a:gd name="adj" fmla="val 10666"/>
            </a:avLst>
          </a:prstGeom>
          <a:solidFill>
            <a:srgbClr val="1C2228"/>
          </a:solidFill>
          <a:ln w="12700">
            <a:solidFill>
              <a:srgbClr val="383B3E"/>
            </a:solidFill>
          </a:ln>
          <a:effectLst/>
        </p:spPr>
        <p:txBody>
          <a:bodyPr rtlCol="0" anchor="ctr" lIns="0" rIns="0"/>
          <a:lstStyle/>
          <a:p>
            <a:pPr algn="ctr"/>
          </a:p>
        </p:txBody>
      </p:sp>
      <p:sp>
        <p:nvSpPr>
          <p:cNvPr id="24" name="TextBox 23"/>
          <p:cNvSpPr txBox="1"/>
          <p:nvPr/>
        </p:nvSpPr>
        <p:spPr>
          <a:xfrm>
            <a:off x="9118600" y="2184400"/>
            <a:ext cx="13843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Cart</a:t>
            </a:r>
          </a:p>
        </p:txBody>
      </p:sp>
      <p:sp>
        <p:nvSpPr>
          <p:cNvPr id="25" name="TextBox 24"/>
          <p:cNvSpPr txBox="1"/>
          <p:nvPr/>
        </p:nvSpPr>
        <p:spPr>
          <a:xfrm>
            <a:off x="9105900" y="2425700"/>
            <a:ext cx="1409700" cy="596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Draft receipt</a:t>
            </a:r>
          </a:p>
        </p:txBody>
      </p:sp>
      <p:cxnSp>
        <p:nvCxnSpPr>
          <p:cNvPr id="26" name="Connector 25"/>
          <p:cNvCxnSpPr/>
          <p:nvPr/>
        </p:nvCxnSpPr>
        <p:spPr>
          <a:xfrm>
            <a:off x="2159000" y="2571750"/>
            <a:ext cx="381000" cy="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937000" y="2044700"/>
            <a:ext cx="508000" cy="36830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937000" y="2730500"/>
            <a:ext cx="508000" cy="39370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556000" y="1663700"/>
            <a:ext cx="1079500" cy="190500"/>
          </a:xfrm>
          <a:prstGeom prst="rect">
            <a:avLst/>
          </a:prstGeom>
          <a:noFill/>
        </p:spPr>
        <p:txBody>
          <a:bodyPr wrap="square" lIns="0" rIns="0" tIns="0" bIns="0" anchor="t">
            <a:noAutofit/>
          </a:bodyPr>
          <a:lstStyle/>
          <a:p>
            <a:pPr algn="l">
              <a:lnSpc>
                <a:spcPct val="100000"/>
              </a:lnSpc>
            </a:pPr>
            <a:r>
              <a:rPr sz="750" b="0" i="0">
                <a:solidFill>
                  <a:srgbClr val="FF5A36"/>
                </a:solidFill>
                <a:latin typeface="IBM Plex Mono"/>
                <a:ea typeface="IBM Plex Mono"/>
                <a:cs typeface="IBM Plex Sans Arabic"/>
              </a:rPr>
              <a:t>help me plan</a:t>
            </a:r>
          </a:p>
        </p:txBody>
      </p:sp>
      <p:sp>
        <p:nvSpPr>
          <p:cNvPr id="30" name="TextBox 29"/>
          <p:cNvSpPr txBox="1"/>
          <p:nvPr/>
        </p:nvSpPr>
        <p:spPr>
          <a:xfrm>
            <a:off x="3302000" y="3213100"/>
            <a:ext cx="1206500" cy="190500"/>
          </a:xfrm>
          <a:prstGeom prst="rect">
            <a:avLst/>
          </a:prstGeom>
          <a:noFill/>
        </p:spPr>
        <p:txBody>
          <a:bodyPr wrap="square" lIns="0" rIns="0" tIns="0" bIns="0" anchor="t">
            <a:noAutofit/>
          </a:bodyPr>
          <a:lstStyle/>
          <a:p>
            <a:pPr algn="l">
              <a:lnSpc>
                <a:spcPct val="100000"/>
              </a:lnSpc>
            </a:pPr>
            <a:r>
              <a:rPr sz="750" b="0" i="0">
                <a:solidFill>
                  <a:srgbClr val="8E969D"/>
                </a:solidFill>
                <a:latin typeface="IBM Plex Mono"/>
                <a:ea typeface="IBM Plex Mono"/>
                <a:cs typeface="IBM Plex Sans Arabic"/>
              </a:rPr>
              <a:t>I know what I want</a:t>
            </a:r>
          </a:p>
        </p:txBody>
      </p:sp>
      <p:cxnSp>
        <p:nvCxnSpPr>
          <p:cNvPr id="31" name="Connector 30"/>
          <p:cNvCxnSpPr/>
          <p:nvPr/>
        </p:nvCxnSpPr>
        <p:spPr>
          <a:xfrm>
            <a:off x="6223000" y="2044700"/>
            <a:ext cx="444500" cy="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223000" y="3124200"/>
            <a:ext cx="444500" cy="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445500" y="2044700"/>
            <a:ext cx="571500" cy="36830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445500" y="2730500"/>
            <a:ext cx="571500" cy="39370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017000" y="4064000"/>
            <a:ext cx="1587500" cy="825500"/>
          </a:xfrm>
          <a:prstGeom prst="roundRect">
            <a:avLst>
              <a:gd name="adj" fmla="val 12307"/>
            </a:avLst>
          </a:prstGeom>
          <a:solidFill>
            <a:srgbClr val="1C2228"/>
          </a:solidFill>
          <a:ln w="12700">
            <a:solidFill>
              <a:srgbClr val="383B3E"/>
            </a:solidFill>
          </a:ln>
          <a:effectLst/>
        </p:spPr>
        <p:txBody>
          <a:bodyPr rtlCol="0" anchor="ctr" lIns="0" rIns="0"/>
          <a:lstStyle/>
          <a:p>
            <a:pPr algn="ctr"/>
          </a:p>
        </p:txBody>
      </p:sp>
      <p:sp>
        <p:nvSpPr>
          <p:cNvPr id="36" name="TextBox 35"/>
          <p:cNvSpPr txBox="1"/>
          <p:nvPr/>
        </p:nvSpPr>
        <p:spPr>
          <a:xfrm>
            <a:off x="9118600" y="4152900"/>
            <a:ext cx="13843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Sign in</a:t>
            </a:r>
          </a:p>
        </p:txBody>
      </p:sp>
      <p:sp>
        <p:nvSpPr>
          <p:cNvPr id="37" name="TextBox 36"/>
          <p:cNvSpPr txBox="1"/>
          <p:nvPr/>
        </p:nvSpPr>
        <p:spPr>
          <a:xfrm>
            <a:off x="9105900" y="4394200"/>
            <a:ext cx="1409700" cy="469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Phone + 4-digit code</a:t>
            </a:r>
          </a:p>
        </p:txBody>
      </p:sp>
      <p:sp>
        <p:nvSpPr>
          <p:cNvPr id="38" name="Rounded Rectangle 37"/>
          <p:cNvSpPr/>
          <p:nvPr/>
        </p:nvSpPr>
        <p:spPr>
          <a:xfrm>
            <a:off x="6858000" y="4064000"/>
            <a:ext cx="1714500" cy="825500"/>
          </a:xfrm>
          <a:prstGeom prst="roundRect">
            <a:avLst>
              <a:gd name="adj" fmla="val 12307"/>
            </a:avLst>
          </a:prstGeom>
          <a:solidFill>
            <a:srgbClr val="1C2228"/>
          </a:solidFill>
          <a:ln w="12700">
            <a:solidFill>
              <a:srgbClr val="383B3E"/>
            </a:solidFill>
          </a:ln>
          <a:effectLst/>
        </p:spPr>
        <p:txBody>
          <a:bodyPr rtlCol="0" anchor="ctr" lIns="0" rIns="0"/>
          <a:lstStyle/>
          <a:p>
            <a:pPr algn="ctr"/>
          </a:p>
        </p:txBody>
      </p:sp>
      <p:sp>
        <p:nvSpPr>
          <p:cNvPr id="39" name="TextBox 38"/>
          <p:cNvSpPr txBox="1"/>
          <p:nvPr/>
        </p:nvSpPr>
        <p:spPr>
          <a:xfrm>
            <a:off x="6959600" y="4152900"/>
            <a:ext cx="15113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Checkout</a:t>
            </a:r>
          </a:p>
        </p:txBody>
      </p:sp>
      <p:sp>
        <p:nvSpPr>
          <p:cNvPr id="40" name="TextBox 39"/>
          <p:cNvSpPr txBox="1"/>
          <p:nvPr/>
        </p:nvSpPr>
        <p:spPr>
          <a:xfrm>
            <a:off x="6946900" y="4394200"/>
            <a:ext cx="1536700" cy="469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Address · time · payment</a:t>
            </a:r>
          </a:p>
        </p:txBody>
      </p:sp>
      <p:sp>
        <p:nvSpPr>
          <p:cNvPr id="41" name="Rounded Rectangle 40"/>
          <p:cNvSpPr/>
          <p:nvPr/>
        </p:nvSpPr>
        <p:spPr>
          <a:xfrm>
            <a:off x="4699000" y="4064000"/>
            <a:ext cx="1714500" cy="825500"/>
          </a:xfrm>
          <a:prstGeom prst="roundRect">
            <a:avLst>
              <a:gd name="adj" fmla="val 12307"/>
            </a:avLst>
          </a:prstGeom>
          <a:solidFill>
            <a:srgbClr val="1C2228"/>
          </a:solidFill>
          <a:ln w="12700">
            <a:solidFill>
              <a:srgbClr val="383B3E"/>
            </a:solidFill>
          </a:ln>
          <a:effectLst/>
        </p:spPr>
        <p:txBody>
          <a:bodyPr rtlCol="0" anchor="ctr" lIns="0" rIns="0"/>
          <a:lstStyle/>
          <a:p>
            <a:pPr algn="ctr"/>
          </a:p>
        </p:txBody>
      </p:sp>
      <p:sp>
        <p:nvSpPr>
          <p:cNvPr id="42" name="TextBox 41"/>
          <p:cNvSpPr txBox="1"/>
          <p:nvPr/>
        </p:nvSpPr>
        <p:spPr>
          <a:xfrm>
            <a:off x="4800600" y="4152900"/>
            <a:ext cx="15113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Receipt + tracking</a:t>
            </a:r>
          </a:p>
        </p:txBody>
      </p:sp>
      <p:sp>
        <p:nvSpPr>
          <p:cNvPr id="43" name="TextBox 42"/>
          <p:cNvSpPr txBox="1"/>
          <p:nvPr/>
        </p:nvSpPr>
        <p:spPr>
          <a:xfrm>
            <a:off x="4787900" y="4394200"/>
            <a:ext cx="1536700" cy="469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Received → delivered</a:t>
            </a:r>
          </a:p>
        </p:txBody>
      </p:sp>
      <p:sp>
        <p:nvSpPr>
          <p:cNvPr id="44" name="Rounded Rectangle 43"/>
          <p:cNvSpPr/>
          <p:nvPr/>
        </p:nvSpPr>
        <p:spPr>
          <a:xfrm>
            <a:off x="2540000" y="4064000"/>
            <a:ext cx="1714500" cy="825500"/>
          </a:xfrm>
          <a:prstGeom prst="roundRect">
            <a:avLst>
              <a:gd name="adj" fmla="val 12307"/>
            </a:avLst>
          </a:prstGeom>
          <a:solidFill>
            <a:srgbClr val="1C2228"/>
          </a:solidFill>
          <a:ln w="12700">
            <a:solidFill>
              <a:srgbClr val="383B3E"/>
            </a:solidFill>
          </a:ln>
          <a:effectLst/>
        </p:spPr>
        <p:txBody>
          <a:bodyPr rtlCol="0" anchor="ctr" lIns="0" rIns="0"/>
          <a:lstStyle/>
          <a:p>
            <a:pPr algn="ctr"/>
          </a:p>
        </p:txBody>
      </p:sp>
      <p:sp>
        <p:nvSpPr>
          <p:cNvPr id="45" name="TextBox 44"/>
          <p:cNvSpPr txBox="1"/>
          <p:nvPr/>
        </p:nvSpPr>
        <p:spPr>
          <a:xfrm>
            <a:off x="2641600" y="4152900"/>
            <a:ext cx="1511300" cy="228600"/>
          </a:xfrm>
          <a:prstGeom prst="rect">
            <a:avLst/>
          </a:prstGeom>
          <a:noFill/>
        </p:spPr>
        <p:txBody>
          <a:bodyPr wrap="square" lIns="0" rIns="0" tIns="0" bIns="0" anchor="t">
            <a:noAutofit/>
          </a:bodyPr>
          <a:lstStyle/>
          <a:p>
            <a:pPr algn="ctr">
              <a:lnSpc>
                <a:spcPct val="110000"/>
              </a:lnSpc>
            </a:pPr>
            <a:r>
              <a:rPr sz="1200" b="1" i="0">
                <a:solidFill>
                  <a:srgbClr val="EDE8E1"/>
                </a:solidFill>
                <a:latin typeface="Alexandria"/>
                <a:ea typeface="Alexandria"/>
                <a:cs typeface="IBM Plex Sans Arabic"/>
              </a:rPr>
              <a:t>My account</a:t>
            </a:r>
          </a:p>
        </p:txBody>
      </p:sp>
      <p:sp>
        <p:nvSpPr>
          <p:cNvPr id="46" name="TextBox 45"/>
          <p:cNvSpPr txBox="1"/>
          <p:nvPr/>
        </p:nvSpPr>
        <p:spPr>
          <a:xfrm>
            <a:off x="2628900" y="4394200"/>
            <a:ext cx="1536700" cy="469900"/>
          </a:xfrm>
          <a:prstGeom prst="rect">
            <a:avLst/>
          </a:prstGeom>
          <a:noFill/>
        </p:spPr>
        <p:txBody>
          <a:bodyPr wrap="square" lIns="0" rIns="0" tIns="0" bIns="0" anchor="t">
            <a:noAutofit/>
          </a:bodyPr>
          <a:lstStyle/>
          <a:p>
            <a:pPr algn="ctr">
              <a:lnSpc>
                <a:spcPct val="130000"/>
              </a:lnSpc>
            </a:pPr>
            <a:r>
              <a:rPr sz="850" b="0" i="0">
                <a:solidFill>
                  <a:srgbClr val="8E969D"/>
                </a:solidFill>
                <a:latin typeface="IBM Plex Sans"/>
                <a:ea typeface="IBM Plex Sans"/>
                <a:cs typeface="IBM Plex Sans Arabic"/>
              </a:rPr>
              <a:t>Orders · plans · wishlist</a:t>
            </a:r>
          </a:p>
        </p:txBody>
      </p:sp>
      <p:cxnSp>
        <p:nvCxnSpPr>
          <p:cNvPr id="47" name="Connector 46"/>
          <p:cNvCxnSpPr/>
          <p:nvPr/>
        </p:nvCxnSpPr>
        <p:spPr>
          <a:xfrm>
            <a:off x="9810750" y="3048000"/>
            <a:ext cx="0" cy="101600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906000" y="3873500"/>
            <a:ext cx="1016000" cy="190500"/>
          </a:xfrm>
          <a:prstGeom prst="rect">
            <a:avLst/>
          </a:prstGeom>
          <a:noFill/>
        </p:spPr>
        <p:txBody>
          <a:bodyPr wrap="square" lIns="0" rIns="0" tIns="0" bIns="0" anchor="t">
            <a:noAutofit/>
          </a:bodyPr>
          <a:lstStyle/>
          <a:p>
            <a:pPr algn="l">
              <a:lnSpc>
                <a:spcPct val="100000"/>
              </a:lnSpc>
            </a:pPr>
            <a:r>
              <a:rPr sz="750" b="0" i="0">
                <a:solidFill>
                  <a:srgbClr val="8E969D"/>
                </a:solidFill>
                <a:latin typeface="IBM Plex Mono"/>
                <a:ea typeface="IBM Plex Mono"/>
                <a:cs typeface="IBM Plex Sans Arabic"/>
              </a:rPr>
              <a:t>if needed</a:t>
            </a:r>
          </a:p>
        </p:txBody>
      </p:sp>
      <p:cxnSp>
        <p:nvCxnSpPr>
          <p:cNvPr id="49" name="Connector 48"/>
          <p:cNvCxnSpPr/>
          <p:nvPr/>
        </p:nvCxnSpPr>
        <p:spPr>
          <a:xfrm flipH="1">
            <a:off x="8572500" y="4476750"/>
            <a:ext cx="444500" cy="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413500" y="4476750"/>
            <a:ext cx="444500" cy="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4254500" y="4476750"/>
            <a:ext cx="444500" cy="0"/>
          </a:xfrm>
          <a:prstGeom prst="line">
            <a:avLst/>
          </a:prstGeom>
          <a:ln w="22225">
            <a:solidFill>
              <a:srgbClr val="8E969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1905000" y="3797300"/>
            <a:ext cx="7905750" cy="679450"/>
          </a:xfrm>
          <a:custGeom>
            <a:avLst/>
            <a:gdLst/>
            <a:ahLst/>
            <a:cxnLst/>
            <a:rect l="l" t="t" r="r" b="b"/>
            <a:pathLst>
              <a:path w="7905750" h="679450">
                <a:moveTo>
                  <a:pt x="635000" y="679450"/>
                </a:moveTo>
                <a:lnTo>
                  <a:pt x="0" y="679450"/>
                </a:lnTo>
                <a:lnTo>
                  <a:pt x="0" y="0"/>
                </a:lnTo>
                <a:lnTo>
                  <a:pt x="7905750" y="0"/>
                </a:lnTo>
              </a:path>
            </a:pathLst>
          </a:custGeom>
          <a:noFill/>
          <a:ln w="22225">
            <a:solidFill>
              <a:srgbClr val="FF5A36"/>
            </a:solidFill>
          </a:ln>
          <a:effectLst/>
        </p:spPr>
        <p:txBody>
          <a:bodyPr rtlCol="0" anchor="ctr"/>
          <a:lstStyle/>
          <a:p>
            <a:pPr algn="ctr"/>
          </a:p>
        </p:txBody>
      </p:sp>
      <p:sp>
        <p:nvSpPr>
          <p:cNvPr id="53" name="TextBox 52"/>
          <p:cNvSpPr txBox="1"/>
          <p:nvPr/>
        </p:nvSpPr>
        <p:spPr>
          <a:xfrm>
            <a:off x="952500" y="4381500"/>
            <a:ext cx="889000" cy="381000"/>
          </a:xfrm>
          <a:prstGeom prst="rect">
            <a:avLst/>
          </a:prstGeom>
          <a:noFill/>
        </p:spPr>
        <p:txBody>
          <a:bodyPr wrap="square" lIns="0" rIns="0" tIns="0" bIns="0" anchor="t">
            <a:noAutofit/>
          </a:bodyPr>
          <a:lstStyle/>
          <a:p>
            <a:pPr algn="r">
              <a:lnSpc>
                <a:spcPct val="120000"/>
              </a:lnSpc>
            </a:pPr>
            <a:r>
              <a:rPr sz="800" b="0" i="0">
                <a:solidFill>
                  <a:srgbClr val="FF5A36"/>
                </a:solidFill>
                <a:latin typeface="IBM Plex Mono"/>
                <a:ea typeface="IBM Plex Mono"/>
                <a:cs typeface="IBM Plex Sans Arabic"/>
              </a:rPr>
              <a:t>Order it again</a:t>
            </a:r>
          </a:p>
        </p:txBody>
      </p:sp>
      <p:cxnSp>
        <p:nvCxnSpPr>
          <p:cNvPr id="54" name="Connector 53"/>
          <p:cNvCxnSpPr/>
          <p:nvPr/>
        </p:nvCxnSpPr>
        <p:spPr>
          <a:xfrm>
            <a:off x="7715250" y="4889500"/>
            <a:ext cx="0" cy="571500"/>
          </a:xfrm>
          <a:prstGeom prst="line">
            <a:avLst/>
          </a:prstGeom>
          <a:ln w="19050">
            <a:solidFill>
              <a:srgbClr val="FF5A3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62000" y="5461000"/>
            <a:ext cx="10668000" cy="571500"/>
          </a:xfrm>
          <a:prstGeom prst="roundRect">
            <a:avLst>
              <a:gd name="adj" fmla="val 15555"/>
            </a:avLst>
          </a:prstGeom>
          <a:solidFill>
            <a:srgbClr val="3A2420"/>
          </a:solidFill>
          <a:ln>
            <a:noFill/>
          </a:ln>
          <a:effectLst/>
        </p:spPr>
        <p:txBody>
          <a:bodyPr rtlCol="0" anchor="ctr" lIns="0" rIns="0"/>
          <a:lstStyle/>
          <a:p>
            <a:pPr algn="ctr"/>
          </a:p>
        </p:txBody>
      </p:sp>
      <p:sp>
        <p:nvSpPr>
          <p:cNvPr id="56" name="TextBox 55"/>
          <p:cNvSpPr txBox="1"/>
          <p:nvPr/>
        </p:nvSpPr>
        <p:spPr>
          <a:xfrm>
            <a:off x="952500" y="5461000"/>
            <a:ext cx="10287000" cy="571500"/>
          </a:xfrm>
          <a:prstGeom prst="rect">
            <a:avLst/>
          </a:prstGeom>
          <a:noFill/>
        </p:spPr>
        <p:txBody>
          <a:bodyPr wrap="square" lIns="0" rIns="0" tIns="0" bIns="0" anchor="ctr">
            <a:noAutofit/>
          </a:bodyPr>
          <a:lstStyle/>
          <a:p>
            <a:pPr algn="l">
              <a:lnSpc>
                <a:spcPct val="125000"/>
              </a:lnSpc>
            </a:pPr>
            <a:r>
              <a:rPr sz="1000" b="1" i="0" spc="200">
                <a:solidFill>
                  <a:srgbClr val="FF5A36"/>
                </a:solidFill>
                <a:latin typeface="IBM Plex Mono"/>
                <a:ea typeface="IBM Plex Mono"/>
                <a:cs typeface="IBM Plex Sans Arabic"/>
              </a:rPr>
              <a:t>Dashboard  </a:t>
            </a:r>
            <a:r>
              <a:rPr sz="1200" b="0" i="0">
                <a:solidFill>
                  <a:srgbClr val="EDE8E1"/>
                </a:solidFill>
                <a:latin typeface="IBM Plex Sans"/>
                <a:ea typeface="IBM Plex Sans"/>
                <a:cs typeface="IBM Plex Sans Arabic"/>
              </a:rPr>
              <a:t>Every order lands in Orders. The team moves it Received → Cutting → On the way → Delivered, and the customer's tracking updates.</a:t>
            </a:r>
          </a:p>
        </p:txBody>
      </p:sp>
      <p:pic>
        <p:nvPicPr>
          <p:cNvPr id="57" name="Picture 56" descr="logo-bone.png"/>
          <p:cNvPicPr>
            <a:picLocks noChangeAspect="1"/>
          </p:cNvPicPr>
          <p:nvPr/>
        </p:nvPicPr>
        <p:blipFill>
          <a:blip r:embed="rId3"/>
          <a:stretch>
            <a:fillRect/>
          </a:stretch>
        </p:blipFill>
        <p:spPr>
          <a:xfrm>
            <a:off x="762000" y="6426200"/>
            <a:ext cx="208788" cy="152400"/>
          </a:xfrm>
          <a:prstGeom prst="rect">
            <a:avLst/>
          </a:prstGeom>
        </p:spPr>
      </p:pic>
      <p:sp>
        <p:nvSpPr>
          <p:cNvPr id="58" name="TextBox 57"/>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59" name="TextBox 58"/>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07</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pic>
        <p:nvPicPr>
          <p:cNvPr id="2" name="Picture 1" descr="div1.jpg"/>
          <p:cNvPicPr>
            <a:picLocks noChangeAspect="1"/>
          </p:cNvPicPr>
          <p:nvPr/>
        </p:nvPicPr>
        <p:blipFill>
          <a:blip r:embed="rId3"/>
          <a:stretch>
            <a:fillRect/>
          </a:stretch>
        </p:blipFill>
        <p:spPr>
          <a:xfrm>
            <a:off x="0" y="0"/>
            <a:ext cx="12192000" cy="6858000"/>
          </a:xfrm>
          <a:prstGeom prst="rect">
            <a:avLst/>
          </a:prstGeom>
        </p:spPr>
      </p:pic>
      <p:cxnSp>
        <p:nvCxnSpPr>
          <p:cNvPr id="3" name="Connector 2"/>
          <p:cNvCxnSpPr/>
          <p:nvPr/>
        </p:nvCxnSpPr>
        <p:spPr>
          <a:xfrm>
            <a:off x="7493000" y="0"/>
            <a:ext cx="2413000" cy="6858000"/>
          </a:xfrm>
          <a:prstGeom prst="line">
            <a:avLst/>
          </a:prstGeom>
          <a:ln w="15240">
            <a:solidFill>
              <a:srgbClr val="FF5A3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62000" y="1435100"/>
            <a:ext cx="5080000" cy="254000"/>
          </a:xfrm>
          <a:prstGeom prst="rect">
            <a:avLst/>
          </a:prstGeom>
          <a:noFill/>
        </p:spPr>
        <p:txBody>
          <a:bodyPr wrap="square" lIns="0" rIns="0" tIns="0" bIns="0" anchor="t">
            <a:noAutofit/>
          </a:bodyPr>
          <a:lstStyle/>
          <a:p>
            <a:pPr algn="l">
              <a:lnSpc>
                <a:spcPct val="125000"/>
              </a:lnSpc>
            </a:pPr>
            <a:r>
              <a:rPr sz="1300" b="0" i="0" spc="600">
                <a:solidFill>
                  <a:srgbClr val="8E969D"/>
                </a:solidFill>
                <a:latin typeface="IBM Plex Mono"/>
                <a:ea typeface="IBM Plex Mono"/>
                <a:cs typeface="IBM Plex Sans Arabic"/>
              </a:rPr>
              <a:t>PART</a:t>
            </a:r>
          </a:p>
        </p:txBody>
      </p:sp>
      <p:sp>
        <p:nvSpPr>
          <p:cNvPr id="5" name="TextBox 4"/>
          <p:cNvSpPr txBox="1"/>
          <p:nvPr/>
        </p:nvSpPr>
        <p:spPr>
          <a:xfrm>
            <a:off x="762000" y="1778000"/>
            <a:ext cx="5080000" cy="1905000"/>
          </a:xfrm>
          <a:prstGeom prst="rect">
            <a:avLst/>
          </a:prstGeom>
          <a:noFill/>
        </p:spPr>
        <p:txBody>
          <a:bodyPr wrap="square" lIns="0" rIns="0" tIns="0" bIns="0" anchor="t">
            <a:noAutofit/>
          </a:bodyPr>
          <a:lstStyle/>
          <a:p>
            <a:pPr algn="l">
              <a:lnSpc>
                <a:spcPct val="100000"/>
              </a:lnSpc>
            </a:pPr>
            <a:r>
              <a:rPr sz="15000" b="1" i="0">
                <a:solidFill>
                  <a:srgbClr val="FF5A36"/>
                </a:solidFill>
                <a:latin typeface="IBM Plex Mono"/>
                <a:ea typeface="IBM Plex Mono"/>
                <a:cs typeface="IBM Plex Sans Arabic"/>
              </a:rPr>
              <a:t>01</a:t>
            </a:r>
          </a:p>
        </p:txBody>
      </p:sp>
      <p:sp>
        <p:nvSpPr>
          <p:cNvPr id="6" name="TextBox 5"/>
          <p:cNvSpPr txBox="1"/>
          <p:nvPr/>
        </p:nvSpPr>
        <p:spPr>
          <a:xfrm>
            <a:off x="762000" y="3873500"/>
            <a:ext cx="5715000" cy="692150"/>
          </a:xfrm>
          <a:prstGeom prst="rect">
            <a:avLst/>
          </a:prstGeom>
          <a:noFill/>
        </p:spPr>
        <p:txBody>
          <a:bodyPr wrap="square" lIns="0" rIns="0" tIns="0" bIns="0" anchor="t">
            <a:noAutofit/>
          </a:bodyPr>
          <a:lstStyle/>
          <a:p>
            <a:pPr algn="l">
              <a:lnSpc>
                <a:spcPct val="106000"/>
              </a:lnSpc>
            </a:pPr>
            <a:r>
              <a:rPr sz="4200" b="1" i="0" spc="-50">
                <a:solidFill>
                  <a:srgbClr val="EDE8E1"/>
                </a:solidFill>
                <a:latin typeface="Alexandria"/>
                <a:ea typeface="Alexandria"/>
                <a:cs typeface="IBM Plex Sans Arabic"/>
              </a:rPr>
              <a:t>The customer side</a:t>
            </a:r>
          </a:p>
        </p:txBody>
      </p:sp>
      <p:sp>
        <p:nvSpPr>
          <p:cNvPr id="7" name="TextBox 6"/>
          <p:cNvSpPr txBox="1"/>
          <p:nvPr/>
        </p:nvSpPr>
        <p:spPr>
          <a:xfrm>
            <a:off x="762000" y="4572000"/>
            <a:ext cx="5207000" cy="1270000"/>
          </a:xfrm>
          <a:prstGeom prst="rect">
            <a:avLst/>
          </a:prstGeom>
          <a:noFill/>
        </p:spPr>
        <p:txBody>
          <a:bodyPr wrap="square" lIns="0" rIns="0" tIns="0" bIns="0" anchor="t">
            <a:noAutofit/>
          </a:bodyPr>
          <a:lstStyle/>
          <a:p>
            <a:pPr algn="l">
              <a:lnSpc>
                <a:spcPct val="155000"/>
              </a:lnSpc>
            </a:pPr>
            <a:r>
              <a:rPr sz="1300" b="0" i="0">
                <a:solidFill>
                  <a:srgbClr val="C8C1B7"/>
                </a:solidFill>
                <a:latin typeface="IBM Plex Sans"/>
                <a:ea typeface="IBM Plex Sans"/>
                <a:cs typeface="IBM Plex Sans Arabic"/>
              </a:rPr>
              <a:t>Home · Advisor · The Herd · Shop &amp; search · Product page · Prices · Cart · Sign in · Checkout · Tracking · Account · Mobile · Languages</a:t>
            </a:r>
          </a:p>
        </p:txBody>
      </p:sp>
      <p:pic>
        <p:nvPicPr>
          <p:cNvPr id="8" name="Picture 7" descr="logo-bone.png"/>
          <p:cNvPicPr>
            <a:picLocks noChangeAspect="1"/>
          </p:cNvPicPr>
          <p:nvPr/>
        </p:nvPicPr>
        <p:blipFill>
          <a:blip r:embed="rId4"/>
          <a:stretch>
            <a:fillRect/>
          </a:stretch>
        </p:blipFill>
        <p:spPr>
          <a:xfrm>
            <a:off x="762000" y="6426200"/>
            <a:ext cx="208788" cy="152400"/>
          </a:xfrm>
          <a:prstGeom prst="rect">
            <a:avLst/>
          </a:prstGeom>
        </p:spPr>
      </p:pic>
      <p:sp>
        <p:nvSpPr>
          <p:cNvPr id="9" name="TextBox 8"/>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10" name="TextBox 9"/>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08</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07</a:t>
            </a:r>
            <a:r>
              <a:rPr sz="950" b="0" i="0" spc="240">
                <a:solidFill>
                  <a:srgbClr val="8E969D"/>
                </a:solidFill>
                <a:latin typeface="IBM Plex Mono"/>
                <a:ea typeface="IBM Plex Mono"/>
                <a:cs typeface="IBM Plex Sans Arabic"/>
              </a:rPr>
              <a:t>  DISCOVER · HOME PAGE</a:t>
            </a:r>
          </a:p>
        </p:txBody>
      </p:sp>
      <p:sp>
        <p:nvSpPr>
          <p:cNvPr id="4" name="TextBox 3"/>
          <p:cNvSpPr txBox="1"/>
          <p:nvPr/>
        </p:nvSpPr>
        <p:spPr>
          <a:xfrm>
            <a:off x="762000" y="952500"/>
            <a:ext cx="4064000" cy="133350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The home page</a:t>
            </a:r>
          </a:p>
          <a:p>
            <a:pPr algn="l">
              <a:lnSpc>
                <a:spcPct val="106000"/>
              </a:lnSpc>
            </a:pPr>
            <a:r>
              <a:rPr sz="3000" b="1" i="0" spc="-50">
                <a:solidFill>
                  <a:srgbClr val="EDE8E1"/>
                </a:solidFill>
                <a:latin typeface="Alexandria"/>
                <a:ea typeface="Alexandria"/>
                <a:cs typeface="IBM Plex Sans Arabic"/>
              </a:rPr>
              <a:t>starts a</a:t>
            </a:r>
          </a:p>
          <a:p>
            <a:pPr algn="l">
              <a:lnSpc>
                <a:spcPct val="106000"/>
              </a:lnSpc>
            </a:pPr>
            <a:r>
              <a:rPr sz="3000" b="1" i="0" spc="-50">
                <a:solidFill>
                  <a:srgbClr val="FF5A36"/>
                </a:solidFill>
                <a:latin typeface="Alexandria"/>
                <a:ea typeface="Alexandria"/>
                <a:cs typeface="IBM Plex Sans Arabic"/>
              </a:rPr>
              <a:t>conversation.</a:t>
            </a:r>
          </a:p>
        </p:txBody>
      </p:sp>
      <p:sp>
        <p:nvSpPr>
          <p:cNvPr id="5" name="TextBox 4"/>
          <p:cNvSpPr txBox="1"/>
          <p:nvPr/>
        </p:nvSpPr>
        <p:spPr>
          <a:xfrm>
            <a:off x="762000" y="267970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01</a:t>
            </a:r>
          </a:p>
        </p:txBody>
      </p:sp>
      <p:sp>
        <p:nvSpPr>
          <p:cNvPr id="6" name="TextBox 5"/>
          <p:cNvSpPr txBox="1"/>
          <p:nvPr/>
        </p:nvSpPr>
        <p:spPr>
          <a:xfrm>
            <a:off x="1117600" y="266700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The advisor, in the hero</a:t>
            </a:r>
          </a:p>
        </p:txBody>
      </p:sp>
      <p:sp>
        <p:nvSpPr>
          <p:cNvPr id="7" name="TextBox 6"/>
          <p:cNvSpPr txBox="1"/>
          <p:nvPr/>
        </p:nvSpPr>
        <p:spPr>
          <a:xfrm>
            <a:off x="762000" y="301625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02</a:t>
            </a:r>
          </a:p>
        </p:txBody>
      </p:sp>
      <p:sp>
        <p:nvSpPr>
          <p:cNvPr id="8" name="TextBox 7"/>
          <p:cNvSpPr txBox="1"/>
          <p:nvPr/>
        </p:nvSpPr>
        <p:spPr>
          <a:xfrm>
            <a:off x="1117600" y="300355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Six occasions to start from</a:t>
            </a:r>
          </a:p>
        </p:txBody>
      </p:sp>
      <p:sp>
        <p:nvSpPr>
          <p:cNvPr id="9" name="TextBox 8"/>
          <p:cNvSpPr txBox="1"/>
          <p:nvPr/>
        </p:nvSpPr>
        <p:spPr>
          <a:xfrm>
            <a:off x="762000" y="335280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03</a:t>
            </a:r>
          </a:p>
        </p:txBody>
      </p:sp>
      <p:sp>
        <p:nvSpPr>
          <p:cNvPr id="10" name="TextBox 9"/>
          <p:cNvSpPr txBox="1"/>
          <p:nvPr/>
        </p:nvSpPr>
        <p:spPr>
          <a:xfrm>
            <a:off x="1117600" y="334010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The herd — six animals</a:t>
            </a:r>
          </a:p>
        </p:txBody>
      </p:sp>
      <p:sp>
        <p:nvSpPr>
          <p:cNvPr id="11" name="TextBox 10"/>
          <p:cNvSpPr txBox="1"/>
          <p:nvPr/>
        </p:nvSpPr>
        <p:spPr>
          <a:xfrm>
            <a:off x="762000" y="368935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04</a:t>
            </a:r>
          </a:p>
        </p:txBody>
      </p:sp>
      <p:sp>
        <p:nvSpPr>
          <p:cNvPr id="12" name="TextBox 11"/>
          <p:cNvSpPr txBox="1"/>
          <p:nvPr/>
        </p:nvSpPr>
        <p:spPr>
          <a:xfrm>
            <a:off x="1117600" y="367665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How it works, in 3 steps</a:t>
            </a:r>
          </a:p>
        </p:txBody>
      </p:sp>
      <p:sp>
        <p:nvSpPr>
          <p:cNvPr id="13" name="TextBox 12"/>
          <p:cNvSpPr txBox="1"/>
          <p:nvPr/>
        </p:nvSpPr>
        <p:spPr>
          <a:xfrm>
            <a:off x="762000" y="402590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05</a:t>
            </a:r>
          </a:p>
        </p:txBody>
      </p:sp>
      <p:sp>
        <p:nvSpPr>
          <p:cNvPr id="14" name="TextBox 13"/>
          <p:cNvSpPr txBox="1"/>
          <p:nvPr/>
        </p:nvSpPr>
        <p:spPr>
          <a:xfrm>
            <a:off x="1117600" y="401320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Shop by dish</a:t>
            </a:r>
          </a:p>
        </p:txBody>
      </p:sp>
      <p:sp>
        <p:nvSpPr>
          <p:cNvPr id="15" name="TextBox 14"/>
          <p:cNvSpPr txBox="1"/>
          <p:nvPr/>
        </p:nvSpPr>
        <p:spPr>
          <a:xfrm>
            <a:off x="762000" y="436245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06</a:t>
            </a:r>
          </a:p>
        </p:txBody>
      </p:sp>
      <p:sp>
        <p:nvSpPr>
          <p:cNvPr id="16" name="TextBox 15"/>
          <p:cNvSpPr txBox="1"/>
          <p:nvPr/>
        </p:nvSpPr>
        <p:spPr>
          <a:xfrm>
            <a:off x="1117600" y="434975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Services and cutting styles</a:t>
            </a:r>
          </a:p>
        </p:txBody>
      </p:sp>
      <p:sp>
        <p:nvSpPr>
          <p:cNvPr id="17" name="TextBox 16"/>
          <p:cNvSpPr txBox="1"/>
          <p:nvPr/>
        </p:nvSpPr>
        <p:spPr>
          <a:xfrm>
            <a:off x="762000" y="4699000"/>
            <a:ext cx="355600" cy="190500"/>
          </a:xfrm>
          <a:prstGeom prst="rect">
            <a:avLst/>
          </a:prstGeom>
          <a:noFill/>
        </p:spPr>
        <p:txBody>
          <a:bodyPr wrap="square" lIns="0" rIns="0" tIns="0" bIns="0" anchor="t">
            <a:noAutofit/>
          </a:bodyPr>
          <a:lstStyle/>
          <a:p>
            <a:pPr algn="l">
              <a:lnSpc>
                <a:spcPct val="100000"/>
              </a:lnSpc>
            </a:pPr>
            <a:r>
              <a:rPr sz="1000" b="1" i="0">
                <a:solidFill>
                  <a:srgbClr val="FF5A36"/>
                </a:solidFill>
                <a:latin typeface="IBM Plex Mono"/>
                <a:ea typeface="IBM Plex Mono"/>
                <a:cs typeface="IBM Plex Sans Arabic"/>
              </a:rPr>
              <a:t>07</a:t>
            </a:r>
          </a:p>
        </p:txBody>
      </p:sp>
      <p:sp>
        <p:nvSpPr>
          <p:cNvPr id="18" name="TextBox 17"/>
          <p:cNvSpPr txBox="1"/>
          <p:nvPr/>
        </p:nvSpPr>
        <p:spPr>
          <a:xfrm>
            <a:off x="1117600" y="4686300"/>
            <a:ext cx="3454400" cy="234950"/>
          </a:xfrm>
          <a:prstGeom prst="rect">
            <a:avLst/>
          </a:prstGeom>
          <a:noFill/>
        </p:spPr>
        <p:txBody>
          <a:bodyPr wrap="square" lIns="0" rIns="0" tIns="0" bIns="0" anchor="t">
            <a:noAutofit/>
          </a:bodyPr>
          <a:lstStyle/>
          <a:p>
            <a:pPr algn="l">
              <a:lnSpc>
                <a:spcPct val="128000"/>
              </a:lnSpc>
            </a:pPr>
            <a:r>
              <a:rPr sz="1300" b="1" i="0">
                <a:solidFill>
                  <a:srgbClr val="EDE8E1"/>
                </a:solidFill>
                <a:latin typeface="IBM Plex Sans"/>
                <a:ea typeface="IBM Plex Sans"/>
                <a:cs typeface="IBM Plex Sans Arabic"/>
              </a:rPr>
              <a:t>Carcasses and FAQ</a:t>
            </a:r>
          </a:p>
        </p:txBody>
      </p:sp>
      <p:pic>
        <p:nvPicPr>
          <p:cNvPr id="19" name="Picture 18" descr="b-home.jpg"/>
          <p:cNvPicPr>
            <a:picLocks noChangeAspect="1"/>
          </p:cNvPicPr>
          <p:nvPr/>
        </p:nvPicPr>
        <p:blipFill>
          <a:blip r:embed="rId3"/>
          <a:stretch>
            <a:fillRect/>
          </a:stretch>
        </p:blipFill>
        <p:spPr>
          <a:xfrm>
            <a:off x="4724400" y="596900"/>
            <a:ext cx="7061200" cy="5537200"/>
          </a:xfrm>
          <a:prstGeom prst="rect">
            <a:avLst/>
          </a:prstGeom>
        </p:spPr>
      </p:pic>
      <p:pic>
        <p:nvPicPr>
          <p:cNvPr id="20" name="Picture 19" descr="logo-bone.png"/>
          <p:cNvPicPr>
            <a:picLocks noChangeAspect="1"/>
          </p:cNvPicPr>
          <p:nvPr/>
        </p:nvPicPr>
        <p:blipFill>
          <a:blip r:embed="rId4"/>
          <a:stretch>
            <a:fillRect/>
          </a:stretch>
        </p:blipFill>
        <p:spPr>
          <a:xfrm>
            <a:off x="762000" y="6426200"/>
            <a:ext cx="208788" cy="152400"/>
          </a:xfrm>
          <a:prstGeom prst="rect">
            <a:avLst/>
          </a:prstGeom>
        </p:spPr>
      </p:pic>
      <p:sp>
        <p:nvSpPr>
          <p:cNvPr id="21" name="TextBox 20"/>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2" name="TextBox 21"/>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09</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08</a:t>
            </a:r>
            <a:r>
              <a:rPr sz="950" b="0" i="0" spc="240">
                <a:solidFill>
                  <a:srgbClr val="8E969D"/>
                </a:solidFill>
                <a:latin typeface="IBM Plex Mono"/>
                <a:ea typeface="IBM Plex Mono"/>
                <a:cs typeface="IBM Plex Sans Arabic"/>
              </a:rPr>
              <a:t>  PLAN · THE ADVISOR</a:t>
            </a:r>
          </a:p>
        </p:txBody>
      </p:sp>
      <p:pic>
        <p:nvPicPr>
          <p:cNvPr id="4" name="Picture 3" descr="p-adv.jpg"/>
          <p:cNvPicPr>
            <a:picLocks noChangeAspect="1"/>
          </p:cNvPicPr>
          <p:nvPr/>
        </p:nvPicPr>
        <p:blipFill>
          <a:blip r:embed="rId3"/>
          <a:stretch>
            <a:fillRect/>
          </a:stretch>
        </p:blipFill>
        <p:spPr>
          <a:xfrm>
            <a:off x="533400" y="596900"/>
            <a:ext cx="3026156" cy="5791200"/>
          </a:xfrm>
          <a:prstGeom prst="rect">
            <a:avLst/>
          </a:prstGeom>
        </p:spPr>
      </p:pic>
      <p:sp>
        <p:nvSpPr>
          <p:cNvPr id="5" name="TextBox 4"/>
          <p:cNvSpPr txBox="1"/>
          <p:nvPr/>
        </p:nvSpPr>
        <p:spPr>
          <a:xfrm>
            <a:off x="4127500" y="952500"/>
            <a:ext cx="7302500" cy="5270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It talks like a butcher.</a:t>
            </a:r>
          </a:p>
        </p:txBody>
      </p:sp>
      <p:sp>
        <p:nvSpPr>
          <p:cNvPr id="6" name="TextBox 5"/>
          <p:cNvSpPr txBox="1"/>
          <p:nvPr/>
        </p:nvSpPr>
        <p:spPr>
          <a:xfrm>
            <a:off x="4127500" y="1587500"/>
            <a:ext cx="6985000" cy="571500"/>
          </a:xfrm>
          <a:prstGeom prst="rect">
            <a:avLst/>
          </a:prstGeom>
          <a:noFill/>
        </p:spPr>
        <p:txBody>
          <a:bodyPr wrap="square" lIns="0" rIns="0" tIns="0" bIns="0" anchor="t">
            <a:noAutofit/>
          </a:bodyPr>
          <a:lstStyle/>
          <a:p>
            <a:pPr algn="l">
              <a:lnSpc>
                <a:spcPct val="140000"/>
              </a:lnSpc>
            </a:pPr>
            <a:r>
              <a:rPr sz="1400" b="0" i="0">
                <a:solidFill>
                  <a:srgbClr val="C8C1B7"/>
                </a:solidFill>
                <a:latin typeface="IBM Plex Sans"/>
                <a:ea typeface="IBM Plex Sans"/>
                <a:cs typeface="IBM Plex Sans Arabic"/>
              </a:rPr>
              <a:t>A guided chat. One question at a time — tap an answer or type it your way.</a:t>
            </a:r>
          </a:p>
        </p:txBody>
      </p:sp>
      <p:sp>
        <p:nvSpPr>
          <p:cNvPr id="7" name="TextBox 6"/>
          <p:cNvSpPr txBox="1"/>
          <p:nvPr/>
        </p:nvSpPr>
        <p:spPr>
          <a:xfrm>
            <a:off x="4127500" y="2286000"/>
            <a:ext cx="3810000" cy="190500"/>
          </a:xfrm>
          <a:prstGeom prst="rect">
            <a:avLst/>
          </a:prstGeom>
          <a:noFill/>
        </p:spPr>
        <p:txBody>
          <a:bodyPr wrap="square" lIns="0" rIns="0" tIns="0" bIns="0" anchor="t">
            <a:noAutofit/>
          </a:bodyPr>
          <a:lstStyle/>
          <a:p>
            <a:pPr algn="l">
              <a:lnSpc>
                <a:spcPct val="125000"/>
              </a:lnSpc>
            </a:pPr>
            <a:r>
              <a:rPr sz="850" b="0" i="0" spc="250">
                <a:solidFill>
                  <a:srgbClr val="8E969D"/>
                </a:solidFill>
                <a:latin typeface="IBM Plex Mono"/>
                <a:ea typeface="IBM Plex Mono"/>
                <a:cs typeface="IBM Plex Sans Arabic"/>
              </a:rPr>
              <a:t>THE QUESTIONS</a:t>
            </a:r>
          </a:p>
        </p:txBody>
      </p:sp>
      <p:sp>
        <p:nvSpPr>
          <p:cNvPr id="8" name="Rounded Rectangle 7"/>
          <p:cNvSpPr/>
          <p:nvPr/>
        </p:nvSpPr>
        <p:spPr>
          <a:xfrm>
            <a:off x="4127500" y="2514600"/>
            <a:ext cx="67310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9" name="TextBox 8"/>
          <p:cNvSpPr txBox="1"/>
          <p:nvPr/>
        </p:nvSpPr>
        <p:spPr>
          <a:xfrm>
            <a:off x="4127500" y="2514600"/>
            <a:ext cx="67310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Occasion</a:t>
            </a:r>
          </a:p>
        </p:txBody>
      </p:sp>
      <p:cxnSp>
        <p:nvCxnSpPr>
          <p:cNvPr id="10" name="Connector 9"/>
          <p:cNvCxnSpPr/>
          <p:nvPr/>
        </p:nvCxnSpPr>
        <p:spPr>
          <a:xfrm>
            <a:off x="483235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965700" y="2514600"/>
            <a:ext cx="55880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2" name="TextBox 11"/>
          <p:cNvSpPr txBox="1"/>
          <p:nvPr/>
        </p:nvSpPr>
        <p:spPr>
          <a:xfrm>
            <a:off x="4965700" y="2514600"/>
            <a:ext cx="55880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Guests</a:t>
            </a:r>
          </a:p>
        </p:txBody>
      </p:sp>
      <p:cxnSp>
        <p:nvCxnSpPr>
          <p:cNvPr id="13" name="Connector 12"/>
          <p:cNvCxnSpPr/>
          <p:nvPr/>
        </p:nvCxnSpPr>
        <p:spPr>
          <a:xfrm>
            <a:off x="555625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89600" y="2514600"/>
            <a:ext cx="72390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5" name="TextBox 14"/>
          <p:cNvSpPr txBox="1"/>
          <p:nvPr/>
        </p:nvSpPr>
        <p:spPr>
          <a:xfrm>
            <a:off x="5689600" y="2514600"/>
            <a:ext cx="72390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Cut shape</a:t>
            </a:r>
          </a:p>
        </p:txBody>
      </p:sp>
      <p:cxnSp>
        <p:nvCxnSpPr>
          <p:cNvPr id="16" name="Connector 15"/>
          <p:cNvCxnSpPr/>
          <p:nvPr/>
        </p:nvCxnSpPr>
        <p:spPr>
          <a:xfrm>
            <a:off x="644525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578600" y="2514600"/>
            <a:ext cx="56515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8" name="TextBox 17"/>
          <p:cNvSpPr txBox="1"/>
          <p:nvPr/>
        </p:nvSpPr>
        <p:spPr>
          <a:xfrm>
            <a:off x="6578600" y="2514600"/>
            <a:ext cx="56515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Animal</a:t>
            </a:r>
          </a:p>
        </p:txBody>
      </p:sp>
      <p:cxnSp>
        <p:nvCxnSpPr>
          <p:cNvPr id="19" name="Connector 18"/>
          <p:cNvCxnSpPr/>
          <p:nvPr/>
        </p:nvCxnSpPr>
        <p:spPr>
          <a:xfrm>
            <a:off x="717550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08850" y="2514600"/>
            <a:ext cx="69215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21" name="TextBox 20"/>
          <p:cNvSpPr txBox="1"/>
          <p:nvPr/>
        </p:nvSpPr>
        <p:spPr>
          <a:xfrm>
            <a:off x="7308850" y="2514600"/>
            <a:ext cx="69215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Marinade</a:t>
            </a:r>
          </a:p>
        </p:txBody>
      </p:sp>
      <p:cxnSp>
        <p:nvCxnSpPr>
          <p:cNvPr id="22" name="Connector 21"/>
          <p:cNvCxnSpPr/>
          <p:nvPr/>
        </p:nvCxnSpPr>
        <p:spPr>
          <a:xfrm>
            <a:off x="803275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66100" y="2514600"/>
            <a:ext cx="64770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24" name="TextBox 23"/>
          <p:cNvSpPr txBox="1"/>
          <p:nvPr/>
        </p:nvSpPr>
        <p:spPr>
          <a:xfrm>
            <a:off x="8166100" y="2514600"/>
            <a:ext cx="64770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Skewers</a:t>
            </a:r>
          </a:p>
        </p:txBody>
      </p:sp>
      <p:cxnSp>
        <p:nvCxnSpPr>
          <p:cNvPr id="25" name="Connector 24"/>
          <p:cNvCxnSpPr/>
          <p:nvPr/>
        </p:nvCxnSpPr>
        <p:spPr>
          <a:xfrm>
            <a:off x="884555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78900" y="2514600"/>
            <a:ext cx="590550" cy="2794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27" name="TextBox 26"/>
          <p:cNvSpPr txBox="1"/>
          <p:nvPr/>
        </p:nvSpPr>
        <p:spPr>
          <a:xfrm>
            <a:off x="8978900" y="2514600"/>
            <a:ext cx="590550" cy="2794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BBQ kit</a:t>
            </a:r>
          </a:p>
        </p:txBody>
      </p:sp>
      <p:cxnSp>
        <p:nvCxnSpPr>
          <p:cNvPr id="28" name="Connector 27"/>
          <p:cNvCxnSpPr/>
          <p:nvPr/>
        </p:nvCxnSpPr>
        <p:spPr>
          <a:xfrm>
            <a:off x="9601200" y="2654300"/>
            <a:ext cx="101600" cy="0"/>
          </a:xfrm>
          <a:prstGeom prst="line">
            <a:avLst/>
          </a:prstGeom>
          <a:ln w="1905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734550" y="2514600"/>
            <a:ext cx="596900" cy="279400"/>
          </a:xfrm>
          <a:prstGeom prst="roundRect">
            <a:avLst>
              <a:gd name="adj" fmla="val 50000"/>
            </a:avLst>
          </a:prstGeom>
          <a:solidFill>
            <a:srgbClr val="FF5A36"/>
          </a:solidFill>
          <a:ln>
            <a:noFill/>
          </a:ln>
          <a:effectLst/>
        </p:spPr>
        <p:txBody>
          <a:bodyPr rtlCol="0" anchor="ctr" lIns="0" rIns="0"/>
          <a:lstStyle/>
          <a:p>
            <a:pPr algn="ctr"/>
          </a:p>
        </p:txBody>
      </p:sp>
      <p:sp>
        <p:nvSpPr>
          <p:cNvPr id="30" name="TextBox 29"/>
          <p:cNvSpPr txBox="1"/>
          <p:nvPr/>
        </p:nvSpPr>
        <p:spPr>
          <a:xfrm>
            <a:off x="9734550" y="2514600"/>
            <a:ext cx="596900" cy="279400"/>
          </a:xfrm>
          <a:prstGeom prst="rect">
            <a:avLst/>
          </a:prstGeom>
          <a:noFill/>
        </p:spPr>
        <p:txBody>
          <a:bodyPr wrap="square" lIns="0" rIns="0" tIns="0" bIns="0" anchor="ctr">
            <a:noAutofit/>
          </a:bodyPr>
          <a:lstStyle/>
          <a:p>
            <a:pPr algn="ctr">
              <a:lnSpc>
                <a:spcPct val="100000"/>
              </a:lnSpc>
            </a:pPr>
            <a:r>
              <a:rPr sz="900" b="1" i="0">
                <a:solidFill>
                  <a:srgbClr val="161A1F"/>
                </a:solidFill>
                <a:latin typeface="IBM Plex Sans"/>
                <a:ea typeface="IBM Plex Sans"/>
                <a:cs typeface="IBM Plex Sans Arabic"/>
              </a:rPr>
              <a:t>Receipt</a:t>
            </a:r>
          </a:p>
        </p:txBody>
      </p:sp>
      <p:sp>
        <p:nvSpPr>
          <p:cNvPr id="31" name="TextBox 30"/>
          <p:cNvSpPr txBox="1"/>
          <p:nvPr/>
        </p:nvSpPr>
        <p:spPr>
          <a:xfrm>
            <a:off x="4127500" y="3086100"/>
            <a:ext cx="3810000" cy="190500"/>
          </a:xfrm>
          <a:prstGeom prst="rect">
            <a:avLst/>
          </a:prstGeom>
          <a:noFill/>
        </p:spPr>
        <p:txBody>
          <a:bodyPr wrap="square" lIns="0" rIns="0" tIns="0" bIns="0" anchor="t">
            <a:noAutofit/>
          </a:bodyPr>
          <a:lstStyle/>
          <a:p>
            <a:pPr algn="l">
              <a:lnSpc>
                <a:spcPct val="125000"/>
              </a:lnSpc>
            </a:pPr>
            <a:r>
              <a:rPr sz="850" b="0" i="0" spc="250">
                <a:solidFill>
                  <a:srgbClr val="8E969D"/>
                </a:solidFill>
                <a:latin typeface="IBM Plex Mono"/>
                <a:ea typeface="IBM Plex Mono"/>
                <a:cs typeface="IBM Plex Sans Arabic"/>
              </a:rPr>
              <a:t>OR JUST TYPE IT</a:t>
            </a:r>
          </a:p>
        </p:txBody>
      </p:sp>
      <p:sp>
        <p:nvSpPr>
          <p:cNvPr id="32" name="Rounded Rectangle 31"/>
          <p:cNvSpPr/>
          <p:nvPr/>
        </p:nvSpPr>
        <p:spPr>
          <a:xfrm>
            <a:off x="4127500" y="3340100"/>
            <a:ext cx="1416050" cy="355600"/>
          </a:xfrm>
          <a:prstGeom prst="roundRect">
            <a:avLst>
              <a:gd name="adj" fmla="val 32142"/>
            </a:avLst>
          </a:prstGeom>
          <a:solidFill>
            <a:srgbClr val="FF5A36"/>
          </a:solidFill>
          <a:ln>
            <a:noFill/>
          </a:ln>
          <a:effectLst/>
        </p:spPr>
        <p:txBody>
          <a:bodyPr rtlCol="0" anchor="ctr" lIns="0" rIns="0"/>
          <a:lstStyle/>
          <a:p>
            <a:pPr algn="ctr"/>
          </a:p>
        </p:txBody>
      </p:sp>
      <p:sp>
        <p:nvSpPr>
          <p:cNvPr id="33" name="TextBox 32"/>
          <p:cNvSpPr txBox="1"/>
          <p:nvPr/>
        </p:nvSpPr>
        <p:spPr>
          <a:xfrm>
            <a:off x="4279900" y="3340100"/>
            <a:ext cx="1111250" cy="355600"/>
          </a:xfrm>
          <a:prstGeom prst="rect">
            <a:avLst/>
          </a:prstGeom>
          <a:noFill/>
        </p:spPr>
        <p:txBody>
          <a:bodyPr wrap="square" lIns="0" rIns="0" tIns="0" bIns="0" anchor="ctr">
            <a:noAutofit/>
          </a:bodyPr>
          <a:lstStyle/>
          <a:p>
            <a:pPr algn="l">
              <a:lnSpc>
                <a:spcPct val="100000"/>
              </a:lnSpc>
            </a:pPr>
            <a:r>
              <a:rPr sz="1200" b="1" i="0">
                <a:solidFill>
                  <a:srgbClr val="FFFFFF"/>
                </a:solidFill>
                <a:latin typeface="IBM Plex Sans"/>
                <a:ea typeface="IBM Plex Sans"/>
                <a:cs typeface="IBM Plex Sans Arabic"/>
              </a:rPr>
              <a:t>bbq for 8 lamb</a:t>
            </a:r>
          </a:p>
        </p:txBody>
      </p:sp>
      <p:sp>
        <p:nvSpPr>
          <p:cNvPr id="34" name="Rounded Rectangle 33"/>
          <p:cNvSpPr/>
          <p:nvPr/>
        </p:nvSpPr>
        <p:spPr>
          <a:xfrm>
            <a:off x="4127500" y="3797300"/>
            <a:ext cx="1733550" cy="355600"/>
          </a:xfrm>
          <a:prstGeom prst="roundRect">
            <a:avLst>
              <a:gd name="adj" fmla="val 32142"/>
            </a:avLst>
          </a:prstGeom>
          <a:solidFill>
            <a:srgbClr val="FF5A36"/>
          </a:solidFill>
          <a:ln>
            <a:noFill/>
          </a:ln>
          <a:effectLst/>
        </p:spPr>
        <p:txBody>
          <a:bodyPr rtlCol="0" anchor="ctr" lIns="0" rIns="0"/>
          <a:lstStyle/>
          <a:p>
            <a:pPr algn="ctr"/>
          </a:p>
        </p:txBody>
      </p:sp>
      <p:sp>
        <p:nvSpPr>
          <p:cNvPr id="35" name="TextBox 34"/>
          <p:cNvSpPr txBox="1"/>
          <p:nvPr/>
        </p:nvSpPr>
        <p:spPr>
          <a:xfrm>
            <a:off x="4279900" y="3797300"/>
            <a:ext cx="1428750" cy="355600"/>
          </a:xfrm>
          <a:prstGeom prst="rect">
            <a:avLst/>
          </a:prstGeom>
          <a:noFill/>
        </p:spPr>
        <p:txBody>
          <a:bodyPr wrap="square" lIns="0" rIns="0" tIns="0" bIns="0" anchor="ctr">
            <a:noAutofit/>
          </a:bodyPr>
          <a:lstStyle/>
          <a:p>
            <a:pPr algn="l">
              <a:lnSpc>
                <a:spcPct val="100000"/>
              </a:lnSpc>
            </a:pPr>
            <a:r>
              <a:rPr sz="1200" b="1" i="0">
                <a:solidFill>
                  <a:srgbClr val="FFFFFF"/>
                </a:solidFill>
                <a:latin typeface="IBM Plex Sans"/>
                <a:ea typeface="IBM Plex Sans"/>
                <a:cs typeface="IBM Plex Sans Arabic"/>
              </a:rPr>
              <a:t>camel kabsa for 12</a:t>
            </a:r>
          </a:p>
        </p:txBody>
      </p:sp>
      <p:sp>
        <p:nvSpPr>
          <p:cNvPr id="36" name="Rounded Rectangle 35"/>
          <p:cNvSpPr/>
          <p:nvPr/>
        </p:nvSpPr>
        <p:spPr>
          <a:xfrm>
            <a:off x="4127500" y="4254500"/>
            <a:ext cx="3111500" cy="355600"/>
          </a:xfrm>
          <a:prstGeom prst="roundRect">
            <a:avLst>
              <a:gd name="adj" fmla="val 32142"/>
            </a:avLst>
          </a:prstGeom>
          <a:solidFill>
            <a:srgbClr val="FF5A36"/>
          </a:solidFill>
          <a:ln>
            <a:noFill/>
          </a:ln>
          <a:effectLst/>
        </p:spPr>
        <p:txBody>
          <a:bodyPr rtlCol="0" anchor="ctr" lIns="0" rIns="0"/>
          <a:lstStyle/>
          <a:p>
            <a:pPr algn="ctr"/>
          </a:p>
        </p:txBody>
      </p:sp>
      <p:sp>
        <p:nvSpPr>
          <p:cNvPr id="37" name="TextBox 36"/>
          <p:cNvSpPr txBox="1"/>
          <p:nvPr/>
        </p:nvSpPr>
        <p:spPr>
          <a:xfrm>
            <a:off x="4279900" y="4254500"/>
            <a:ext cx="2806700" cy="355600"/>
          </a:xfrm>
          <a:prstGeom prst="rect">
            <a:avLst/>
          </a:prstGeom>
          <a:noFill/>
        </p:spPr>
        <p:txBody>
          <a:bodyPr wrap="square" lIns="0" rIns="0" tIns="0" bIns="0" anchor="ctr">
            <a:noAutofit/>
          </a:bodyPr>
          <a:lstStyle/>
          <a:p>
            <a:pPr algn="r" rtl="1">
              <a:lnSpc>
                <a:spcPct val="100000"/>
              </a:lnSpc>
            </a:pPr>
            <a:r>
              <a:rPr sz="1200" b="1" i="0">
                <a:solidFill>
                  <a:srgbClr val="FFFFFF"/>
                </a:solidFill>
                <a:latin typeface="IBM Plex Sans Arabic"/>
                <a:ea typeface="IBM Plex Sans Arabic"/>
                <a:cs typeface="IBM Plex Sans Arabic"/>
              </a:rPr>
              <a:t>عايز اعمل عزومه ل 15 نفر كبسه جمل بالعظم</a:t>
            </a:r>
          </a:p>
        </p:txBody>
      </p:sp>
      <p:sp>
        <p:nvSpPr>
          <p:cNvPr id="38" name="TextBox 37"/>
          <p:cNvSpPr txBox="1"/>
          <p:nvPr/>
        </p:nvSpPr>
        <p:spPr>
          <a:xfrm>
            <a:off x="4127500" y="4762500"/>
            <a:ext cx="6985000" cy="254000"/>
          </a:xfrm>
          <a:prstGeom prst="rect">
            <a:avLst/>
          </a:prstGeom>
          <a:noFill/>
        </p:spPr>
        <p:txBody>
          <a:bodyPr wrap="square" lIns="0" rIns="0" tIns="0" bIns="0" anchor="t">
            <a:noAutofit/>
          </a:bodyPr>
          <a:lstStyle/>
          <a:p>
            <a:pPr algn="l">
              <a:lnSpc>
                <a:spcPct val="120000"/>
              </a:lnSpc>
            </a:pPr>
            <a:r>
              <a:rPr sz="950" b="0" i="1">
                <a:solidFill>
                  <a:srgbClr val="8E969D"/>
                </a:solidFill>
                <a:latin typeface="IBM Plex Sans"/>
                <a:ea typeface="IBM Plex Sans"/>
                <a:cs typeface="IBM Plex Sans Arabic"/>
              </a:rPr>
              <a:t>↑ Egyptian Arabic for “a feast for 15 — camel kabsa, bone-in”</a:t>
            </a:r>
          </a:p>
        </p:txBody>
      </p:sp>
      <p:sp>
        <p:nvSpPr>
          <p:cNvPr id="39" name="Rectangle 38"/>
          <p:cNvSpPr/>
          <p:nvPr/>
        </p:nvSpPr>
        <p:spPr>
          <a:xfrm>
            <a:off x="4127500" y="5262880"/>
            <a:ext cx="63500" cy="63500"/>
          </a:xfrm>
          <a:prstGeom prst="rect">
            <a:avLst/>
          </a:prstGeom>
          <a:solidFill>
            <a:srgbClr val="FF5A36"/>
          </a:solidFill>
          <a:ln>
            <a:noFill/>
          </a:ln>
          <a:effectLst/>
        </p:spPr>
        <p:txBody>
          <a:bodyPr rtlCol="0" anchor="ctr" lIns="0" rIns="0"/>
          <a:lstStyle/>
          <a:p>
            <a:pPr algn="ctr"/>
          </a:p>
        </p:txBody>
      </p:sp>
      <p:sp>
        <p:nvSpPr>
          <p:cNvPr id="40" name="TextBox 39"/>
          <p:cNvSpPr txBox="1"/>
          <p:nvPr/>
        </p:nvSpPr>
        <p:spPr>
          <a:xfrm>
            <a:off x="4318000" y="5194300"/>
            <a:ext cx="6794500" cy="209550"/>
          </a:xfrm>
          <a:prstGeom prst="rect">
            <a:avLst/>
          </a:prstGeom>
          <a:noFill/>
        </p:spPr>
        <p:txBody>
          <a:bodyPr wrap="square" lIns="0" rIns="0" tIns="0" bIns="0" anchor="t">
            <a:noAutofit/>
          </a:bodyPr>
          <a:lstStyle/>
          <a:p>
            <a:pPr algn="l">
              <a:lnSpc>
                <a:spcPct val="130000"/>
              </a:lnSpc>
            </a:pPr>
            <a:r>
              <a:rPr sz="1200" b="0" i="0">
                <a:solidFill>
                  <a:srgbClr val="C8C1B7"/>
                </a:solidFill>
                <a:latin typeface="IBM Plex Sans"/>
                <a:ea typeface="IBM Plex Sans"/>
                <a:cs typeface="IBM Plex Sans Arabic"/>
              </a:rPr>
              <a:t>Understands English, Saudi and Egyptian Arabic, typos and numbers in words.</a:t>
            </a:r>
          </a:p>
        </p:txBody>
      </p:sp>
      <p:sp>
        <p:nvSpPr>
          <p:cNvPr id="41" name="Rectangle 40"/>
          <p:cNvSpPr/>
          <p:nvPr/>
        </p:nvSpPr>
        <p:spPr>
          <a:xfrm>
            <a:off x="4127500" y="5535930"/>
            <a:ext cx="63500" cy="63500"/>
          </a:xfrm>
          <a:prstGeom prst="rect">
            <a:avLst/>
          </a:prstGeom>
          <a:solidFill>
            <a:srgbClr val="FF5A36"/>
          </a:solidFill>
          <a:ln>
            <a:noFill/>
          </a:ln>
          <a:effectLst/>
        </p:spPr>
        <p:txBody>
          <a:bodyPr rtlCol="0" anchor="ctr" lIns="0" rIns="0"/>
          <a:lstStyle/>
          <a:p>
            <a:pPr algn="ctr"/>
          </a:p>
        </p:txBody>
      </p:sp>
      <p:sp>
        <p:nvSpPr>
          <p:cNvPr id="42" name="TextBox 41"/>
          <p:cNvSpPr txBox="1"/>
          <p:nvPr/>
        </p:nvSpPr>
        <p:spPr>
          <a:xfrm>
            <a:off x="4318000" y="5467350"/>
            <a:ext cx="6794500" cy="209550"/>
          </a:xfrm>
          <a:prstGeom prst="rect">
            <a:avLst/>
          </a:prstGeom>
          <a:noFill/>
        </p:spPr>
        <p:txBody>
          <a:bodyPr wrap="square" lIns="0" rIns="0" tIns="0" bIns="0" anchor="t">
            <a:noAutofit/>
          </a:bodyPr>
          <a:lstStyle/>
          <a:p>
            <a:pPr algn="l">
              <a:lnSpc>
                <a:spcPct val="130000"/>
              </a:lnSpc>
            </a:pPr>
            <a:r>
              <a:rPr sz="1200" b="0" i="0">
                <a:solidFill>
                  <a:srgbClr val="C8C1B7"/>
                </a:solidFill>
                <a:latin typeface="IBM Plex Sans"/>
                <a:ea typeface="IBM Plex Sans"/>
                <a:cs typeface="IBM Plex Sans Arabic"/>
              </a:rPr>
              <a:t>Answers side questions — delivery, payment, prices — then carries on.</a:t>
            </a:r>
          </a:p>
        </p:txBody>
      </p:sp>
      <p:pic>
        <p:nvPicPr>
          <p:cNvPr id="43" name="Picture 42" descr="logo-bone.png"/>
          <p:cNvPicPr>
            <a:picLocks noChangeAspect="1"/>
          </p:cNvPicPr>
          <p:nvPr/>
        </p:nvPicPr>
        <p:blipFill>
          <a:blip r:embed="rId4"/>
          <a:stretch>
            <a:fillRect/>
          </a:stretch>
        </p:blipFill>
        <p:spPr>
          <a:xfrm>
            <a:off x="762000" y="6426200"/>
            <a:ext cx="208788" cy="152400"/>
          </a:xfrm>
          <a:prstGeom prst="rect">
            <a:avLst/>
          </a:prstGeom>
        </p:spPr>
      </p:pic>
      <p:sp>
        <p:nvSpPr>
          <p:cNvPr id="44" name="TextBox 43"/>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45" name="TextBox 44"/>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10</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09</a:t>
            </a:r>
            <a:r>
              <a:rPr sz="950" b="0" i="0" spc="240">
                <a:solidFill>
                  <a:srgbClr val="8E969D"/>
                </a:solidFill>
                <a:latin typeface="IBM Plex Mono"/>
                <a:ea typeface="IBM Plex Mono"/>
                <a:cs typeface="IBM Plex Sans Arabic"/>
              </a:rPr>
              <a:t>  PLAN · THE RECEIPT</a:t>
            </a:r>
          </a:p>
        </p:txBody>
      </p:sp>
      <p:sp>
        <p:nvSpPr>
          <p:cNvPr id="4" name="Rectangle 3"/>
          <p:cNvSpPr/>
          <p:nvPr/>
        </p:nvSpPr>
        <p:spPr>
          <a:xfrm>
            <a:off x="762000" y="698500"/>
            <a:ext cx="4445000" cy="5334000"/>
          </a:xfrm>
          <a:prstGeom prst="rect">
            <a:avLst/>
          </a:prstGeom>
          <a:solidFill>
            <a:srgbClr val="F2ECE2"/>
          </a:solidFill>
          <a:ln>
            <a:noFill/>
          </a:ln>
          <a:effectLst/>
        </p:spPr>
        <p:txBody>
          <a:bodyPr rtlCol="0" anchor="ctr" lIns="0" rIns="0"/>
          <a:lstStyle/>
          <a:p>
            <a:pPr algn="ctr"/>
          </a:p>
        </p:txBody>
      </p:sp>
      <p:sp>
        <p:nvSpPr>
          <p:cNvPr id="5" name="Freeform 4"/>
          <p:cNvSpPr/>
          <p:nvPr/>
        </p:nvSpPr>
        <p:spPr>
          <a:xfrm>
            <a:off x="762000" y="692150"/>
            <a:ext cx="4445000" cy="82550"/>
          </a:xfrm>
          <a:custGeom>
            <a:avLst/>
            <a:gdLst/>
            <a:ahLst/>
            <a:cxnLst/>
            <a:rect l="l" t="t" r="r" b="b"/>
            <a:pathLst>
              <a:path w="4445000" h="82550">
                <a:moveTo>
                  <a:pt x="0" y="0"/>
                </a:moveTo>
                <a:lnTo>
                  <a:pt x="76638" y="82550"/>
                </a:lnTo>
                <a:lnTo>
                  <a:pt x="153276" y="0"/>
                </a:lnTo>
                <a:lnTo>
                  <a:pt x="229914" y="82550"/>
                </a:lnTo>
                <a:lnTo>
                  <a:pt x="306552" y="0"/>
                </a:lnTo>
                <a:lnTo>
                  <a:pt x="383190" y="82550"/>
                </a:lnTo>
                <a:lnTo>
                  <a:pt x="459828" y="0"/>
                </a:lnTo>
                <a:lnTo>
                  <a:pt x="536466" y="82550"/>
                </a:lnTo>
                <a:lnTo>
                  <a:pt x="613103" y="0"/>
                </a:lnTo>
                <a:lnTo>
                  <a:pt x="689741" y="82550"/>
                </a:lnTo>
                <a:lnTo>
                  <a:pt x="766379" y="0"/>
                </a:lnTo>
                <a:lnTo>
                  <a:pt x="843017" y="82550"/>
                </a:lnTo>
                <a:lnTo>
                  <a:pt x="919655" y="0"/>
                </a:lnTo>
                <a:lnTo>
                  <a:pt x="996293" y="82550"/>
                </a:lnTo>
                <a:lnTo>
                  <a:pt x="1072931" y="0"/>
                </a:lnTo>
                <a:lnTo>
                  <a:pt x="1149569" y="82550"/>
                </a:lnTo>
                <a:lnTo>
                  <a:pt x="1226207" y="0"/>
                </a:lnTo>
                <a:lnTo>
                  <a:pt x="1302845" y="82550"/>
                </a:lnTo>
                <a:lnTo>
                  <a:pt x="1379483" y="0"/>
                </a:lnTo>
                <a:lnTo>
                  <a:pt x="1456121" y="82550"/>
                </a:lnTo>
                <a:lnTo>
                  <a:pt x="1532759" y="0"/>
                </a:lnTo>
                <a:lnTo>
                  <a:pt x="1609397" y="82550"/>
                </a:lnTo>
                <a:lnTo>
                  <a:pt x="1686034" y="0"/>
                </a:lnTo>
                <a:lnTo>
                  <a:pt x="1762672" y="82550"/>
                </a:lnTo>
                <a:lnTo>
                  <a:pt x="1839310" y="0"/>
                </a:lnTo>
                <a:lnTo>
                  <a:pt x="1915948" y="82550"/>
                </a:lnTo>
                <a:lnTo>
                  <a:pt x="1992586" y="0"/>
                </a:lnTo>
                <a:lnTo>
                  <a:pt x="2069224" y="82550"/>
                </a:lnTo>
                <a:lnTo>
                  <a:pt x="2145862" y="0"/>
                </a:lnTo>
                <a:lnTo>
                  <a:pt x="2222500" y="82550"/>
                </a:lnTo>
                <a:lnTo>
                  <a:pt x="2299138" y="0"/>
                </a:lnTo>
                <a:lnTo>
                  <a:pt x="2375776" y="82550"/>
                </a:lnTo>
                <a:lnTo>
                  <a:pt x="2452414" y="0"/>
                </a:lnTo>
                <a:lnTo>
                  <a:pt x="2529052" y="82550"/>
                </a:lnTo>
                <a:lnTo>
                  <a:pt x="2605690" y="0"/>
                </a:lnTo>
                <a:lnTo>
                  <a:pt x="2682328" y="82550"/>
                </a:lnTo>
                <a:lnTo>
                  <a:pt x="2758966" y="0"/>
                </a:lnTo>
                <a:lnTo>
                  <a:pt x="2835603" y="82550"/>
                </a:lnTo>
                <a:lnTo>
                  <a:pt x="2912241" y="0"/>
                </a:lnTo>
                <a:lnTo>
                  <a:pt x="2988879" y="82550"/>
                </a:lnTo>
                <a:lnTo>
                  <a:pt x="3065517" y="0"/>
                </a:lnTo>
                <a:lnTo>
                  <a:pt x="3142155" y="82550"/>
                </a:lnTo>
                <a:lnTo>
                  <a:pt x="3218793" y="0"/>
                </a:lnTo>
                <a:lnTo>
                  <a:pt x="3295431" y="82550"/>
                </a:lnTo>
                <a:lnTo>
                  <a:pt x="3372069" y="0"/>
                </a:lnTo>
                <a:lnTo>
                  <a:pt x="3448707" y="82550"/>
                </a:lnTo>
                <a:lnTo>
                  <a:pt x="3525345" y="0"/>
                </a:lnTo>
                <a:lnTo>
                  <a:pt x="3601983" y="82550"/>
                </a:lnTo>
                <a:lnTo>
                  <a:pt x="3678621" y="0"/>
                </a:lnTo>
                <a:lnTo>
                  <a:pt x="3755259" y="82550"/>
                </a:lnTo>
                <a:lnTo>
                  <a:pt x="3831897" y="0"/>
                </a:lnTo>
                <a:lnTo>
                  <a:pt x="3908534" y="82550"/>
                </a:lnTo>
                <a:lnTo>
                  <a:pt x="3985172" y="0"/>
                </a:lnTo>
                <a:lnTo>
                  <a:pt x="4061810" y="82550"/>
                </a:lnTo>
                <a:lnTo>
                  <a:pt x="4138448" y="0"/>
                </a:lnTo>
                <a:lnTo>
                  <a:pt x="4215086" y="82550"/>
                </a:lnTo>
                <a:lnTo>
                  <a:pt x="4291724" y="0"/>
                </a:lnTo>
                <a:lnTo>
                  <a:pt x="4368362" y="82550"/>
                </a:lnTo>
                <a:lnTo>
                  <a:pt x="4445000" y="0"/>
                </a:lnTo>
                <a:close/>
              </a:path>
            </a:pathLst>
          </a:custGeom>
          <a:solidFill>
            <a:srgbClr val="161A1F"/>
          </a:solidFill>
          <a:ln>
            <a:noFill/>
          </a:ln>
          <a:effectLst/>
        </p:spPr>
        <p:txBody>
          <a:bodyPr rtlCol="0" anchor="ctr"/>
          <a:lstStyle/>
          <a:p>
            <a:pPr algn="ctr"/>
          </a:p>
        </p:txBody>
      </p:sp>
      <p:sp>
        <p:nvSpPr>
          <p:cNvPr id="6" name="Freeform 5"/>
          <p:cNvSpPr/>
          <p:nvPr/>
        </p:nvSpPr>
        <p:spPr>
          <a:xfrm>
            <a:off x="762000" y="5956300"/>
            <a:ext cx="4445000" cy="82550"/>
          </a:xfrm>
          <a:custGeom>
            <a:avLst/>
            <a:gdLst/>
            <a:ahLst/>
            <a:cxnLst/>
            <a:rect l="l" t="t" r="r" b="b"/>
            <a:pathLst>
              <a:path w="4445000" h="82550">
                <a:moveTo>
                  <a:pt x="0" y="82550"/>
                </a:moveTo>
                <a:lnTo>
                  <a:pt x="76638" y="0"/>
                </a:lnTo>
                <a:lnTo>
                  <a:pt x="153276" y="82550"/>
                </a:lnTo>
                <a:lnTo>
                  <a:pt x="229914" y="0"/>
                </a:lnTo>
                <a:lnTo>
                  <a:pt x="306552" y="82550"/>
                </a:lnTo>
                <a:lnTo>
                  <a:pt x="383190" y="0"/>
                </a:lnTo>
                <a:lnTo>
                  <a:pt x="459828" y="82550"/>
                </a:lnTo>
                <a:lnTo>
                  <a:pt x="536466" y="0"/>
                </a:lnTo>
                <a:lnTo>
                  <a:pt x="613103" y="82550"/>
                </a:lnTo>
                <a:lnTo>
                  <a:pt x="689741" y="0"/>
                </a:lnTo>
                <a:lnTo>
                  <a:pt x="766379" y="82550"/>
                </a:lnTo>
                <a:lnTo>
                  <a:pt x="843017" y="0"/>
                </a:lnTo>
                <a:lnTo>
                  <a:pt x="919655" y="82550"/>
                </a:lnTo>
                <a:lnTo>
                  <a:pt x="996293" y="0"/>
                </a:lnTo>
                <a:lnTo>
                  <a:pt x="1072931" y="82550"/>
                </a:lnTo>
                <a:lnTo>
                  <a:pt x="1149569" y="0"/>
                </a:lnTo>
                <a:lnTo>
                  <a:pt x="1226207" y="82550"/>
                </a:lnTo>
                <a:lnTo>
                  <a:pt x="1302845" y="0"/>
                </a:lnTo>
                <a:lnTo>
                  <a:pt x="1379483" y="82550"/>
                </a:lnTo>
                <a:lnTo>
                  <a:pt x="1456121" y="0"/>
                </a:lnTo>
                <a:lnTo>
                  <a:pt x="1532759" y="82550"/>
                </a:lnTo>
                <a:lnTo>
                  <a:pt x="1609397" y="0"/>
                </a:lnTo>
                <a:lnTo>
                  <a:pt x="1686034" y="82550"/>
                </a:lnTo>
                <a:lnTo>
                  <a:pt x="1762672" y="0"/>
                </a:lnTo>
                <a:lnTo>
                  <a:pt x="1839310" y="82550"/>
                </a:lnTo>
                <a:lnTo>
                  <a:pt x="1915948" y="0"/>
                </a:lnTo>
                <a:lnTo>
                  <a:pt x="1992586" y="82550"/>
                </a:lnTo>
                <a:lnTo>
                  <a:pt x="2069224" y="0"/>
                </a:lnTo>
                <a:lnTo>
                  <a:pt x="2145862" y="82550"/>
                </a:lnTo>
                <a:lnTo>
                  <a:pt x="2222500" y="0"/>
                </a:lnTo>
                <a:lnTo>
                  <a:pt x="2299138" y="82550"/>
                </a:lnTo>
                <a:lnTo>
                  <a:pt x="2375776" y="0"/>
                </a:lnTo>
                <a:lnTo>
                  <a:pt x="2452414" y="82550"/>
                </a:lnTo>
                <a:lnTo>
                  <a:pt x="2529052" y="0"/>
                </a:lnTo>
                <a:lnTo>
                  <a:pt x="2605690" y="82550"/>
                </a:lnTo>
                <a:lnTo>
                  <a:pt x="2682328" y="0"/>
                </a:lnTo>
                <a:lnTo>
                  <a:pt x="2758966" y="82550"/>
                </a:lnTo>
                <a:lnTo>
                  <a:pt x="2835603" y="0"/>
                </a:lnTo>
                <a:lnTo>
                  <a:pt x="2912241" y="82550"/>
                </a:lnTo>
                <a:lnTo>
                  <a:pt x="2988879" y="0"/>
                </a:lnTo>
                <a:lnTo>
                  <a:pt x="3065517" y="82550"/>
                </a:lnTo>
                <a:lnTo>
                  <a:pt x="3142155" y="0"/>
                </a:lnTo>
                <a:lnTo>
                  <a:pt x="3218793" y="82550"/>
                </a:lnTo>
                <a:lnTo>
                  <a:pt x="3295431" y="0"/>
                </a:lnTo>
                <a:lnTo>
                  <a:pt x="3372069" y="82550"/>
                </a:lnTo>
                <a:lnTo>
                  <a:pt x="3448707" y="0"/>
                </a:lnTo>
                <a:lnTo>
                  <a:pt x="3525345" y="82550"/>
                </a:lnTo>
                <a:lnTo>
                  <a:pt x="3601983" y="0"/>
                </a:lnTo>
                <a:lnTo>
                  <a:pt x="3678621" y="82550"/>
                </a:lnTo>
                <a:lnTo>
                  <a:pt x="3755259" y="0"/>
                </a:lnTo>
                <a:lnTo>
                  <a:pt x="3831897" y="82550"/>
                </a:lnTo>
                <a:lnTo>
                  <a:pt x="3908534" y="0"/>
                </a:lnTo>
                <a:lnTo>
                  <a:pt x="3985172" y="82550"/>
                </a:lnTo>
                <a:lnTo>
                  <a:pt x="4061810" y="0"/>
                </a:lnTo>
                <a:lnTo>
                  <a:pt x="4138448" y="82550"/>
                </a:lnTo>
                <a:lnTo>
                  <a:pt x="4215086" y="0"/>
                </a:lnTo>
                <a:lnTo>
                  <a:pt x="4291724" y="82550"/>
                </a:lnTo>
                <a:lnTo>
                  <a:pt x="4368362" y="0"/>
                </a:lnTo>
                <a:lnTo>
                  <a:pt x="4445000" y="82550"/>
                </a:lnTo>
                <a:close/>
              </a:path>
            </a:pathLst>
          </a:custGeom>
          <a:solidFill>
            <a:srgbClr val="161A1F"/>
          </a:solidFill>
          <a:ln>
            <a:noFill/>
          </a:ln>
          <a:effectLst/>
        </p:spPr>
        <p:txBody>
          <a:bodyPr rtlCol="0" anchor="ctr"/>
          <a:lstStyle/>
          <a:p>
            <a:pPr algn="ctr"/>
          </a:p>
        </p:txBody>
      </p:sp>
      <p:sp>
        <p:nvSpPr>
          <p:cNvPr id="7" name="TextBox 6"/>
          <p:cNvSpPr txBox="1"/>
          <p:nvPr/>
        </p:nvSpPr>
        <p:spPr>
          <a:xfrm>
            <a:off x="1041400" y="952500"/>
            <a:ext cx="3886200" cy="190500"/>
          </a:xfrm>
          <a:prstGeom prst="rect">
            <a:avLst/>
          </a:prstGeom>
          <a:noFill/>
        </p:spPr>
        <p:txBody>
          <a:bodyPr wrap="square" lIns="0" rIns="0" tIns="0" bIns="0" anchor="t">
            <a:noAutofit/>
          </a:bodyPr>
          <a:lstStyle/>
          <a:p>
            <a:pPr algn="ctr">
              <a:lnSpc>
                <a:spcPct val="125000"/>
              </a:lnSpc>
            </a:pPr>
            <a:r>
              <a:rPr sz="850" b="0" i="0" spc="300">
                <a:solidFill>
                  <a:srgbClr val="7A6E62"/>
                </a:solidFill>
                <a:latin typeface="IBM Plex Mono"/>
                <a:ea typeface="IBM Plex Mono"/>
                <a:cs typeface="IBM Plex Sans Arabic"/>
              </a:rPr>
              <a:t>ADVISOR'S PLAN</a:t>
            </a:r>
          </a:p>
        </p:txBody>
      </p:sp>
      <p:sp>
        <p:nvSpPr>
          <p:cNvPr id="8" name="Rounded Rectangle 7"/>
          <p:cNvSpPr/>
          <p:nvPr/>
        </p:nvSpPr>
        <p:spPr>
          <a:xfrm>
            <a:off x="1041400" y="1244600"/>
            <a:ext cx="3886200" cy="406400"/>
          </a:xfrm>
          <a:prstGeom prst="roundRect">
            <a:avLst>
              <a:gd name="adj" fmla="val 12500"/>
            </a:avLst>
          </a:prstGeom>
          <a:noFill/>
          <a:ln w="19050">
            <a:solidFill>
              <a:srgbClr val="1A1512"/>
            </a:solidFill>
          </a:ln>
          <a:effectLst/>
        </p:spPr>
        <p:txBody>
          <a:bodyPr rtlCol="0" anchor="ctr" lIns="0" rIns="0"/>
          <a:lstStyle/>
          <a:p>
            <a:pPr algn="ctr"/>
          </a:p>
        </p:txBody>
      </p:sp>
      <p:sp>
        <p:nvSpPr>
          <p:cNvPr id="9" name="TextBox 8"/>
          <p:cNvSpPr txBox="1"/>
          <p:nvPr/>
        </p:nvSpPr>
        <p:spPr>
          <a:xfrm>
            <a:off x="1041400" y="1244600"/>
            <a:ext cx="3886200" cy="406400"/>
          </a:xfrm>
          <a:prstGeom prst="rect">
            <a:avLst/>
          </a:prstGeom>
          <a:noFill/>
        </p:spPr>
        <p:txBody>
          <a:bodyPr wrap="square" lIns="0" rIns="0" tIns="0" bIns="0" anchor="ctr">
            <a:noAutofit/>
          </a:bodyPr>
          <a:lstStyle/>
          <a:p>
            <a:pPr algn="ctr">
              <a:lnSpc>
                <a:spcPct val="100000"/>
              </a:lnSpc>
            </a:pPr>
            <a:r>
              <a:rPr sz="1400" b="1" i="0">
                <a:solidFill>
                  <a:srgbClr val="1A1512"/>
                </a:solidFill>
                <a:latin typeface="Alexandria"/>
                <a:ea typeface="Alexandria"/>
                <a:cs typeface="IBM Plex Sans Arabic"/>
              </a:rPr>
              <a:t>BBQ party · 10 people</a:t>
            </a:r>
          </a:p>
        </p:txBody>
      </p:sp>
      <p:cxnSp>
        <p:nvCxnSpPr>
          <p:cNvPr id="10" name="Connector 9"/>
          <p:cNvCxnSpPr/>
          <p:nvPr/>
        </p:nvCxnSpPr>
        <p:spPr>
          <a:xfrm>
            <a:off x="1041400" y="1816100"/>
            <a:ext cx="38862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41400" y="1943100"/>
            <a:ext cx="2667000" cy="228600"/>
          </a:xfrm>
          <a:prstGeom prst="rect">
            <a:avLst/>
          </a:prstGeom>
          <a:noFill/>
        </p:spPr>
        <p:txBody>
          <a:bodyPr wrap="square" lIns="0" rIns="0" tIns="0" bIns="0" anchor="t">
            <a:noAutofit/>
          </a:bodyPr>
          <a:lstStyle/>
          <a:p>
            <a:pPr algn="l">
              <a:lnSpc>
                <a:spcPct val="100000"/>
              </a:lnSpc>
            </a:pPr>
            <a:r>
              <a:rPr sz="1300" b="1" i="0">
                <a:solidFill>
                  <a:srgbClr val="1A1512"/>
                </a:solidFill>
                <a:latin typeface="Alexandria"/>
                <a:ea typeface="Alexandria"/>
                <a:cs typeface="IBM Plex Sans Arabic"/>
              </a:rPr>
              <a:t>Lamb shoulder</a:t>
            </a:r>
          </a:p>
        </p:txBody>
      </p:sp>
      <p:sp>
        <p:nvSpPr>
          <p:cNvPr id="12" name="TextBox 11"/>
          <p:cNvSpPr txBox="1"/>
          <p:nvPr/>
        </p:nvSpPr>
        <p:spPr>
          <a:xfrm>
            <a:off x="3708400" y="1943100"/>
            <a:ext cx="1219200" cy="2286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144.00</a:t>
            </a:r>
          </a:p>
        </p:txBody>
      </p:sp>
      <p:sp>
        <p:nvSpPr>
          <p:cNvPr id="13" name="TextBox 12"/>
          <p:cNvSpPr txBox="1"/>
          <p:nvPr/>
        </p:nvSpPr>
        <p:spPr>
          <a:xfrm>
            <a:off x="1041400" y="2197100"/>
            <a:ext cx="38862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Mono"/>
                <a:ea typeface="IBM Plex Mono"/>
                <a:cs typeface="IBM Plex Sans Arabic"/>
              </a:rPr>
              <a:t>Skewer cubes · 2 kg × 72.00</a:t>
            </a:r>
          </a:p>
        </p:txBody>
      </p:sp>
      <p:sp>
        <p:nvSpPr>
          <p:cNvPr id="14" name="TextBox 13"/>
          <p:cNvSpPr txBox="1"/>
          <p:nvPr/>
        </p:nvSpPr>
        <p:spPr>
          <a:xfrm>
            <a:off x="1041400" y="2387600"/>
            <a:ext cx="2921000" cy="177800"/>
          </a:xfrm>
          <a:prstGeom prst="rect">
            <a:avLst/>
          </a:prstGeom>
          <a:noFill/>
        </p:spPr>
        <p:txBody>
          <a:bodyPr wrap="square" lIns="0" rIns="0" tIns="0" bIns="0" anchor="t">
            <a:noAutofit/>
          </a:bodyPr>
          <a:lstStyle/>
          <a:p>
            <a:pPr algn="l">
              <a:lnSpc>
                <a:spcPct val="100000"/>
              </a:lnSpc>
            </a:pPr>
            <a:r>
              <a:rPr sz="950" b="0" i="0">
                <a:solidFill>
                  <a:srgbClr val="3A322C"/>
                </a:solidFill>
                <a:latin typeface="IBM Plex Sans"/>
                <a:ea typeface="IBM Plex Sans"/>
                <a:cs typeface="IBM Plex Sans Arabic"/>
              </a:rPr>
              <a:t>+ Hot grill marinade  2 kg × 10</a:t>
            </a:r>
          </a:p>
        </p:txBody>
      </p:sp>
      <p:sp>
        <p:nvSpPr>
          <p:cNvPr id="15" name="TextBox 14"/>
          <p:cNvSpPr txBox="1"/>
          <p:nvPr/>
        </p:nvSpPr>
        <p:spPr>
          <a:xfrm>
            <a:off x="3962400" y="2387600"/>
            <a:ext cx="965200" cy="177800"/>
          </a:xfrm>
          <a:prstGeom prst="rect">
            <a:avLst/>
          </a:prstGeom>
          <a:noFill/>
        </p:spPr>
        <p:txBody>
          <a:bodyPr wrap="square" lIns="0" rIns="0" tIns="0" bIns="0" anchor="t">
            <a:noAutofit/>
          </a:bodyPr>
          <a:lstStyle/>
          <a:p>
            <a:pPr algn="r">
              <a:lnSpc>
                <a:spcPct val="100000"/>
              </a:lnSpc>
            </a:pPr>
            <a:r>
              <a:rPr sz="950" b="0" i="0">
                <a:solidFill>
                  <a:srgbClr val="3A322C"/>
                </a:solidFill>
                <a:latin typeface="IBM Plex Mono"/>
                <a:ea typeface="IBM Plex Mono"/>
                <a:cs typeface="IBM Plex Sans Arabic"/>
              </a:rPr>
              <a:t>20.00</a:t>
            </a:r>
          </a:p>
        </p:txBody>
      </p:sp>
      <p:sp>
        <p:nvSpPr>
          <p:cNvPr id="16" name="TextBox 15"/>
          <p:cNvSpPr txBox="1"/>
          <p:nvPr/>
        </p:nvSpPr>
        <p:spPr>
          <a:xfrm>
            <a:off x="1041400" y="2565400"/>
            <a:ext cx="2921000" cy="177800"/>
          </a:xfrm>
          <a:prstGeom prst="rect">
            <a:avLst/>
          </a:prstGeom>
          <a:noFill/>
        </p:spPr>
        <p:txBody>
          <a:bodyPr wrap="square" lIns="0" rIns="0" tIns="0" bIns="0" anchor="t">
            <a:noAutofit/>
          </a:bodyPr>
          <a:lstStyle/>
          <a:p>
            <a:pPr algn="l">
              <a:lnSpc>
                <a:spcPct val="100000"/>
              </a:lnSpc>
            </a:pPr>
            <a:r>
              <a:rPr sz="950" b="0" i="0">
                <a:solidFill>
                  <a:srgbClr val="3A322C"/>
                </a:solidFill>
                <a:latin typeface="IBM Plex Sans"/>
                <a:ea typeface="IBM Plex Sans"/>
                <a:cs typeface="IBM Plex Sans Arabic"/>
              </a:rPr>
              <a:t>+ Ready skewered  2 kg × 6</a:t>
            </a:r>
          </a:p>
        </p:txBody>
      </p:sp>
      <p:sp>
        <p:nvSpPr>
          <p:cNvPr id="17" name="TextBox 16"/>
          <p:cNvSpPr txBox="1"/>
          <p:nvPr/>
        </p:nvSpPr>
        <p:spPr>
          <a:xfrm>
            <a:off x="3962400" y="2565400"/>
            <a:ext cx="965200" cy="177800"/>
          </a:xfrm>
          <a:prstGeom prst="rect">
            <a:avLst/>
          </a:prstGeom>
          <a:noFill/>
        </p:spPr>
        <p:txBody>
          <a:bodyPr wrap="square" lIns="0" rIns="0" tIns="0" bIns="0" anchor="t">
            <a:noAutofit/>
          </a:bodyPr>
          <a:lstStyle/>
          <a:p>
            <a:pPr algn="r">
              <a:lnSpc>
                <a:spcPct val="100000"/>
              </a:lnSpc>
            </a:pPr>
            <a:r>
              <a:rPr sz="950" b="0" i="0">
                <a:solidFill>
                  <a:srgbClr val="3A322C"/>
                </a:solidFill>
                <a:latin typeface="IBM Plex Mono"/>
                <a:ea typeface="IBM Plex Mono"/>
                <a:cs typeface="IBM Plex Sans Arabic"/>
              </a:rPr>
              <a:t>12.00</a:t>
            </a:r>
          </a:p>
        </p:txBody>
      </p:sp>
      <p:sp>
        <p:nvSpPr>
          <p:cNvPr id="18" name="TextBox 17"/>
          <p:cNvSpPr txBox="1"/>
          <p:nvPr/>
        </p:nvSpPr>
        <p:spPr>
          <a:xfrm>
            <a:off x="1041400" y="2832100"/>
            <a:ext cx="2667000" cy="228600"/>
          </a:xfrm>
          <a:prstGeom prst="rect">
            <a:avLst/>
          </a:prstGeom>
          <a:noFill/>
        </p:spPr>
        <p:txBody>
          <a:bodyPr wrap="square" lIns="0" rIns="0" tIns="0" bIns="0" anchor="t">
            <a:noAutofit/>
          </a:bodyPr>
          <a:lstStyle/>
          <a:p>
            <a:pPr algn="l">
              <a:lnSpc>
                <a:spcPct val="100000"/>
              </a:lnSpc>
            </a:pPr>
            <a:r>
              <a:rPr sz="1300" b="1" i="0">
                <a:solidFill>
                  <a:srgbClr val="1A1512"/>
                </a:solidFill>
                <a:latin typeface="Alexandria"/>
                <a:ea typeface="Alexandria"/>
                <a:cs typeface="IBM Plex Sans Arabic"/>
              </a:rPr>
              <a:t>Minced lamb</a:t>
            </a:r>
          </a:p>
        </p:txBody>
      </p:sp>
      <p:sp>
        <p:nvSpPr>
          <p:cNvPr id="19" name="TextBox 18"/>
          <p:cNvSpPr txBox="1"/>
          <p:nvPr/>
        </p:nvSpPr>
        <p:spPr>
          <a:xfrm>
            <a:off x="3708400" y="2832100"/>
            <a:ext cx="1219200" cy="2286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130.00</a:t>
            </a:r>
          </a:p>
        </p:txBody>
      </p:sp>
      <p:sp>
        <p:nvSpPr>
          <p:cNvPr id="20" name="TextBox 19"/>
          <p:cNvSpPr txBox="1"/>
          <p:nvPr/>
        </p:nvSpPr>
        <p:spPr>
          <a:xfrm>
            <a:off x="1041400" y="3086100"/>
            <a:ext cx="38862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Mono"/>
                <a:ea typeface="IBM Plex Mono"/>
                <a:cs typeface="IBM Plex Sans Arabic"/>
              </a:rPr>
              <a:t>Kebab · 2 kg × 65.00</a:t>
            </a:r>
          </a:p>
        </p:txBody>
      </p:sp>
      <p:sp>
        <p:nvSpPr>
          <p:cNvPr id="21" name="TextBox 20"/>
          <p:cNvSpPr txBox="1"/>
          <p:nvPr/>
        </p:nvSpPr>
        <p:spPr>
          <a:xfrm>
            <a:off x="1041400" y="3276600"/>
            <a:ext cx="2921000" cy="177800"/>
          </a:xfrm>
          <a:prstGeom prst="rect">
            <a:avLst/>
          </a:prstGeom>
          <a:noFill/>
        </p:spPr>
        <p:txBody>
          <a:bodyPr wrap="square" lIns="0" rIns="0" tIns="0" bIns="0" anchor="t">
            <a:noAutofit/>
          </a:bodyPr>
          <a:lstStyle/>
          <a:p>
            <a:pPr algn="l">
              <a:lnSpc>
                <a:spcPct val="100000"/>
              </a:lnSpc>
            </a:pPr>
            <a:r>
              <a:rPr sz="950" b="0" i="0">
                <a:solidFill>
                  <a:srgbClr val="3A322C"/>
                </a:solidFill>
                <a:latin typeface="IBM Plex Sans"/>
                <a:ea typeface="IBM Plex Sans"/>
                <a:cs typeface="IBM Plex Sans Arabic"/>
              </a:rPr>
              <a:t>+ Hot grill marinade  2 kg × 10</a:t>
            </a:r>
          </a:p>
        </p:txBody>
      </p:sp>
      <p:sp>
        <p:nvSpPr>
          <p:cNvPr id="22" name="TextBox 21"/>
          <p:cNvSpPr txBox="1"/>
          <p:nvPr/>
        </p:nvSpPr>
        <p:spPr>
          <a:xfrm>
            <a:off x="3962400" y="3276600"/>
            <a:ext cx="965200" cy="177800"/>
          </a:xfrm>
          <a:prstGeom prst="rect">
            <a:avLst/>
          </a:prstGeom>
          <a:noFill/>
        </p:spPr>
        <p:txBody>
          <a:bodyPr wrap="square" lIns="0" rIns="0" tIns="0" bIns="0" anchor="t">
            <a:noAutofit/>
          </a:bodyPr>
          <a:lstStyle/>
          <a:p>
            <a:pPr algn="r">
              <a:lnSpc>
                <a:spcPct val="100000"/>
              </a:lnSpc>
            </a:pPr>
            <a:r>
              <a:rPr sz="950" b="0" i="0">
                <a:solidFill>
                  <a:srgbClr val="3A322C"/>
                </a:solidFill>
                <a:latin typeface="IBM Plex Mono"/>
                <a:ea typeface="IBM Plex Mono"/>
                <a:cs typeface="IBM Plex Sans Arabic"/>
              </a:rPr>
              <a:t>20.00</a:t>
            </a:r>
          </a:p>
        </p:txBody>
      </p:sp>
      <p:sp>
        <p:nvSpPr>
          <p:cNvPr id="23" name="TextBox 22"/>
          <p:cNvSpPr txBox="1"/>
          <p:nvPr/>
        </p:nvSpPr>
        <p:spPr>
          <a:xfrm>
            <a:off x="1041400" y="3454400"/>
            <a:ext cx="2921000" cy="177800"/>
          </a:xfrm>
          <a:prstGeom prst="rect">
            <a:avLst/>
          </a:prstGeom>
          <a:noFill/>
        </p:spPr>
        <p:txBody>
          <a:bodyPr wrap="square" lIns="0" rIns="0" tIns="0" bIns="0" anchor="t">
            <a:noAutofit/>
          </a:bodyPr>
          <a:lstStyle/>
          <a:p>
            <a:pPr algn="l">
              <a:lnSpc>
                <a:spcPct val="100000"/>
              </a:lnSpc>
            </a:pPr>
            <a:r>
              <a:rPr sz="950" b="0" i="0">
                <a:solidFill>
                  <a:srgbClr val="3A322C"/>
                </a:solidFill>
                <a:latin typeface="IBM Plex Sans"/>
                <a:ea typeface="IBM Plex Sans"/>
                <a:cs typeface="IBM Plex Sans Arabic"/>
              </a:rPr>
              <a:t>+ Ready skewered  2 kg × 6</a:t>
            </a:r>
          </a:p>
        </p:txBody>
      </p:sp>
      <p:sp>
        <p:nvSpPr>
          <p:cNvPr id="24" name="TextBox 23"/>
          <p:cNvSpPr txBox="1"/>
          <p:nvPr/>
        </p:nvSpPr>
        <p:spPr>
          <a:xfrm>
            <a:off x="3962400" y="3454400"/>
            <a:ext cx="965200" cy="177800"/>
          </a:xfrm>
          <a:prstGeom prst="rect">
            <a:avLst/>
          </a:prstGeom>
          <a:noFill/>
        </p:spPr>
        <p:txBody>
          <a:bodyPr wrap="square" lIns="0" rIns="0" tIns="0" bIns="0" anchor="t">
            <a:noAutofit/>
          </a:bodyPr>
          <a:lstStyle/>
          <a:p>
            <a:pPr algn="r">
              <a:lnSpc>
                <a:spcPct val="100000"/>
              </a:lnSpc>
            </a:pPr>
            <a:r>
              <a:rPr sz="950" b="0" i="0">
                <a:solidFill>
                  <a:srgbClr val="3A322C"/>
                </a:solidFill>
                <a:latin typeface="IBM Plex Mono"/>
                <a:ea typeface="IBM Plex Mono"/>
                <a:cs typeface="IBM Plex Sans Arabic"/>
              </a:rPr>
              <a:t>12.00</a:t>
            </a:r>
          </a:p>
        </p:txBody>
      </p:sp>
      <p:sp>
        <p:nvSpPr>
          <p:cNvPr id="25" name="TextBox 24"/>
          <p:cNvSpPr txBox="1"/>
          <p:nvPr/>
        </p:nvSpPr>
        <p:spPr>
          <a:xfrm>
            <a:off x="1041400" y="3721100"/>
            <a:ext cx="2667000" cy="228600"/>
          </a:xfrm>
          <a:prstGeom prst="rect">
            <a:avLst/>
          </a:prstGeom>
          <a:noFill/>
        </p:spPr>
        <p:txBody>
          <a:bodyPr wrap="square" lIns="0" rIns="0" tIns="0" bIns="0" anchor="t">
            <a:noAutofit/>
          </a:bodyPr>
          <a:lstStyle/>
          <a:p>
            <a:pPr algn="l">
              <a:lnSpc>
                <a:spcPct val="100000"/>
              </a:lnSpc>
            </a:pPr>
            <a:r>
              <a:rPr sz="1300" b="1" i="0">
                <a:solidFill>
                  <a:srgbClr val="1A1512"/>
                </a:solidFill>
                <a:latin typeface="Alexandria"/>
                <a:ea typeface="Alexandria"/>
                <a:cs typeface="IBM Plex Sans Arabic"/>
              </a:rPr>
              <a:t>Natural charcoal 3 kg</a:t>
            </a:r>
          </a:p>
        </p:txBody>
      </p:sp>
      <p:sp>
        <p:nvSpPr>
          <p:cNvPr id="26" name="TextBox 25"/>
          <p:cNvSpPr txBox="1"/>
          <p:nvPr/>
        </p:nvSpPr>
        <p:spPr>
          <a:xfrm>
            <a:off x="3708400" y="3721100"/>
            <a:ext cx="1219200" cy="228600"/>
          </a:xfrm>
          <a:prstGeom prst="rect">
            <a:avLst/>
          </a:prstGeom>
          <a:noFill/>
        </p:spPr>
        <p:txBody>
          <a:bodyPr wrap="square" lIns="0" rIns="0" tIns="0" bIns="0" anchor="t">
            <a:noAutofit/>
          </a:bodyPr>
          <a:lstStyle/>
          <a:p>
            <a:pPr algn="r">
              <a:lnSpc>
                <a:spcPct val="100000"/>
              </a:lnSpc>
            </a:pPr>
            <a:r>
              <a:rPr sz="1200" b="1" i="0">
                <a:solidFill>
                  <a:srgbClr val="1A1512"/>
                </a:solidFill>
                <a:latin typeface="IBM Plex Mono"/>
                <a:ea typeface="IBM Plex Mono"/>
                <a:cs typeface="IBM Plex Sans Arabic"/>
              </a:rPr>
              <a:t>22.00</a:t>
            </a:r>
          </a:p>
        </p:txBody>
      </p:sp>
      <p:sp>
        <p:nvSpPr>
          <p:cNvPr id="27" name="TextBox 26"/>
          <p:cNvSpPr txBox="1"/>
          <p:nvPr/>
        </p:nvSpPr>
        <p:spPr>
          <a:xfrm>
            <a:off x="1041400" y="3975100"/>
            <a:ext cx="38862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Mono"/>
                <a:ea typeface="IBM Plex Mono"/>
                <a:cs typeface="IBM Plex Sans Arabic"/>
              </a:rPr>
              <a:t>1 bag per 4.5 kg of meat · 1 × 22.00</a:t>
            </a:r>
          </a:p>
        </p:txBody>
      </p:sp>
      <p:cxnSp>
        <p:nvCxnSpPr>
          <p:cNvPr id="28" name="Connector 27"/>
          <p:cNvCxnSpPr/>
          <p:nvPr/>
        </p:nvCxnSpPr>
        <p:spPr>
          <a:xfrm>
            <a:off x="1041400" y="4254500"/>
            <a:ext cx="38862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41400" y="4356100"/>
            <a:ext cx="1905000" cy="177800"/>
          </a:xfrm>
          <a:prstGeom prst="rect">
            <a:avLst/>
          </a:prstGeom>
          <a:noFill/>
        </p:spPr>
        <p:txBody>
          <a:bodyPr wrap="square" lIns="0" rIns="0" tIns="0" bIns="0" anchor="t">
            <a:noAutofit/>
          </a:bodyPr>
          <a:lstStyle/>
          <a:p>
            <a:pPr algn="l">
              <a:lnSpc>
                <a:spcPct val="100000"/>
              </a:lnSpc>
            </a:pPr>
            <a:r>
              <a:rPr sz="1000" b="0" i="0">
                <a:solidFill>
                  <a:srgbClr val="7A6E62"/>
                </a:solidFill>
                <a:latin typeface="IBM Plex Sans"/>
                <a:ea typeface="IBM Plex Sans"/>
                <a:cs typeface="IBM Plex Sans Arabic"/>
              </a:rPr>
              <a:t>Meat</a:t>
            </a:r>
          </a:p>
        </p:txBody>
      </p:sp>
      <p:sp>
        <p:nvSpPr>
          <p:cNvPr id="30" name="TextBox 29"/>
          <p:cNvSpPr txBox="1"/>
          <p:nvPr/>
        </p:nvSpPr>
        <p:spPr>
          <a:xfrm>
            <a:off x="2946400" y="4356100"/>
            <a:ext cx="1981200" cy="177800"/>
          </a:xfrm>
          <a:prstGeom prst="rect">
            <a:avLst/>
          </a:prstGeom>
          <a:noFill/>
        </p:spPr>
        <p:txBody>
          <a:bodyPr wrap="square" lIns="0" rIns="0" tIns="0" bIns="0" anchor="t">
            <a:noAutofit/>
          </a:bodyPr>
          <a:lstStyle/>
          <a:p>
            <a:pPr algn="r">
              <a:lnSpc>
                <a:spcPct val="100000"/>
              </a:lnSpc>
            </a:pPr>
            <a:r>
              <a:rPr sz="1000" b="0" i="0">
                <a:solidFill>
                  <a:srgbClr val="3A322C"/>
                </a:solidFill>
                <a:latin typeface="IBM Plex Mono"/>
                <a:ea typeface="IBM Plex Mono"/>
                <a:cs typeface="IBM Plex Sans Arabic"/>
              </a:rPr>
              <a:t>274.00</a:t>
            </a:r>
          </a:p>
        </p:txBody>
      </p:sp>
      <p:sp>
        <p:nvSpPr>
          <p:cNvPr id="31" name="TextBox 30"/>
          <p:cNvSpPr txBox="1"/>
          <p:nvPr/>
        </p:nvSpPr>
        <p:spPr>
          <a:xfrm>
            <a:off x="1041400" y="4533900"/>
            <a:ext cx="1905000" cy="177800"/>
          </a:xfrm>
          <a:prstGeom prst="rect">
            <a:avLst/>
          </a:prstGeom>
          <a:noFill/>
        </p:spPr>
        <p:txBody>
          <a:bodyPr wrap="square" lIns="0" rIns="0" tIns="0" bIns="0" anchor="t">
            <a:noAutofit/>
          </a:bodyPr>
          <a:lstStyle/>
          <a:p>
            <a:pPr algn="l">
              <a:lnSpc>
                <a:spcPct val="100000"/>
              </a:lnSpc>
            </a:pPr>
            <a:r>
              <a:rPr sz="1000" b="0" i="0">
                <a:solidFill>
                  <a:srgbClr val="7A6E62"/>
                </a:solidFill>
                <a:latin typeface="IBM Plex Sans"/>
                <a:ea typeface="IBM Plex Sans"/>
                <a:cs typeface="IBM Plex Sans Arabic"/>
              </a:rPr>
              <a:t>Services</a:t>
            </a:r>
          </a:p>
        </p:txBody>
      </p:sp>
      <p:sp>
        <p:nvSpPr>
          <p:cNvPr id="32" name="TextBox 31"/>
          <p:cNvSpPr txBox="1"/>
          <p:nvPr/>
        </p:nvSpPr>
        <p:spPr>
          <a:xfrm>
            <a:off x="2946400" y="4533900"/>
            <a:ext cx="1981200" cy="177800"/>
          </a:xfrm>
          <a:prstGeom prst="rect">
            <a:avLst/>
          </a:prstGeom>
          <a:noFill/>
        </p:spPr>
        <p:txBody>
          <a:bodyPr wrap="square" lIns="0" rIns="0" tIns="0" bIns="0" anchor="t">
            <a:noAutofit/>
          </a:bodyPr>
          <a:lstStyle/>
          <a:p>
            <a:pPr algn="r">
              <a:lnSpc>
                <a:spcPct val="100000"/>
              </a:lnSpc>
            </a:pPr>
            <a:r>
              <a:rPr sz="1000" b="0" i="0">
                <a:solidFill>
                  <a:srgbClr val="3A322C"/>
                </a:solidFill>
                <a:latin typeface="IBM Plex Mono"/>
                <a:ea typeface="IBM Plex Mono"/>
                <a:cs typeface="IBM Plex Sans Arabic"/>
              </a:rPr>
              <a:t>64.00</a:t>
            </a:r>
          </a:p>
        </p:txBody>
      </p:sp>
      <p:sp>
        <p:nvSpPr>
          <p:cNvPr id="33" name="TextBox 32"/>
          <p:cNvSpPr txBox="1"/>
          <p:nvPr/>
        </p:nvSpPr>
        <p:spPr>
          <a:xfrm>
            <a:off x="1041400" y="4711700"/>
            <a:ext cx="1905000" cy="177800"/>
          </a:xfrm>
          <a:prstGeom prst="rect">
            <a:avLst/>
          </a:prstGeom>
          <a:noFill/>
        </p:spPr>
        <p:txBody>
          <a:bodyPr wrap="square" lIns="0" rIns="0" tIns="0" bIns="0" anchor="t">
            <a:noAutofit/>
          </a:bodyPr>
          <a:lstStyle/>
          <a:p>
            <a:pPr algn="l">
              <a:lnSpc>
                <a:spcPct val="100000"/>
              </a:lnSpc>
            </a:pPr>
            <a:r>
              <a:rPr sz="1000" b="0" i="0">
                <a:solidFill>
                  <a:srgbClr val="7A6E62"/>
                </a:solidFill>
                <a:latin typeface="IBM Plex Sans"/>
                <a:ea typeface="IBM Plex Sans"/>
                <a:cs typeface="IBM Plex Sans Arabic"/>
              </a:rPr>
              <a:t>BBQ kit</a:t>
            </a:r>
          </a:p>
        </p:txBody>
      </p:sp>
      <p:sp>
        <p:nvSpPr>
          <p:cNvPr id="34" name="TextBox 33"/>
          <p:cNvSpPr txBox="1"/>
          <p:nvPr/>
        </p:nvSpPr>
        <p:spPr>
          <a:xfrm>
            <a:off x="2946400" y="4711700"/>
            <a:ext cx="1981200" cy="177800"/>
          </a:xfrm>
          <a:prstGeom prst="rect">
            <a:avLst/>
          </a:prstGeom>
          <a:noFill/>
        </p:spPr>
        <p:txBody>
          <a:bodyPr wrap="square" lIns="0" rIns="0" tIns="0" bIns="0" anchor="t">
            <a:noAutofit/>
          </a:bodyPr>
          <a:lstStyle/>
          <a:p>
            <a:pPr algn="r">
              <a:lnSpc>
                <a:spcPct val="100000"/>
              </a:lnSpc>
            </a:pPr>
            <a:r>
              <a:rPr sz="1000" b="0" i="0">
                <a:solidFill>
                  <a:srgbClr val="3A322C"/>
                </a:solidFill>
                <a:latin typeface="IBM Plex Mono"/>
                <a:ea typeface="IBM Plex Mono"/>
                <a:cs typeface="IBM Plex Sans Arabic"/>
              </a:rPr>
              <a:t>22.00</a:t>
            </a:r>
          </a:p>
        </p:txBody>
      </p:sp>
      <p:sp>
        <p:nvSpPr>
          <p:cNvPr id="35" name="TextBox 34"/>
          <p:cNvSpPr txBox="1"/>
          <p:nvPr/>
        </p:nvSpPr>
        <p:spPr>
          <a:xfrm>
            <a:off x="1041400" y="4889500"/>
            <a:ext cx="1905000" cy="177800"/>
          </a:xfrm>
          <a:prstGeom prst="rect">
            <a:avLst/>
          </a:prstGeom>
          <a:noFill/>
        </p:spPr>
        <p:txBody>
          <a:bodyPr wrap="square" lIns="0" rIns="0" tIns="0" bIns="0" anchor="t">
            <a:noAutofit/>
          </a:bodyPr>
          <a:lstStyle/>
          <a:p>
            <a:pPr algn="l">
              <a:lnSpc>
                <a:spcPct val="100000"/>
              </a:lnSpc>
            </a:pPr>
            <a:r>
              <a:rPr sz="1000" b="0" i="0">
                <a:solidFill>
                  <a:srgbClr val="7A6E62"/>
                </a:solidFill>
                <a:latin typeface="IBM Plex Sans"/>
                <a:ea typeface="IBM Plex Sans"/>
                <a:cs typeface="IBM Plex Sans Arabic"/>
              </a:rPr>
              <a:t>Delivery</a:t>
            </a:r>
          </a:p>
        </p:txBody>
      </p:sp>
      <p:sp>
        <p:nvSpPr>
          <p:cNvPr id="36" name="TextBox 35"/>
          <p:cNvSpPr txBox="1"/>
          <p:nvPr/>
        </p:nvSpPr>
        <p:spPr>
          <a:xfrm>
            <a:off x="2946400" y="4889500"/>
            <a:ext cx="1981200" cy="177800"/>
          </a:xfrm>
          <a:prstGeom prst="rect">
            <a:avLst/>
          </a:prstGeom>
          <a:noFill/>
        </p:spPr>
        <p:txBody>
          <a:bodyPr wrap="square" lIns="0" rIns="0" tIns="0" bIns="0" anchor="t">
            <a:noAutofit/>
          </a:bodyPr>
          <a:lstStyle/>
          <a:p>
            <a:pPr algn="r">
              <a:lnSpc>
                <a:spcPct val="100000"/>
              </a:lnSpc>
            </a:pPr>
            <a:r>
              <a:rPr sz="1000" b="0" i="0">
                <a:solidFill>
                  <a:srgbClr val="3A322C"/>
                </a:solidFill>
                <a:latin typeface="IBM Plex Mono"/>
                <a:ea typeface="IBM Plex Mono"/>
                <a:cs typeface="IBM Plex Sans Arabic"/>
              </a:rPr>
              <a:t>Free</a:t>
            </a:r>
          </a:p>
        </p:txBody>
      </p:sp>
      <p:cxnSp>
        <p:nvCxnSpPr>
          <p:cNvPr id="37" name="Connector 36"/>
          <p:cNvCxnSpPr/>
          <p:nvPr/>
        </p:nvCxnSpPr>
        <p:spPr>
          <a:xfrm>
            <a:off x="1041400" y="5118100"/>
            <a:ext cx="3886200" cy="0"/>
          </a:xfrm>
          <a:prstGeom prst="line">
            <a:avLst/>
          </a:prstGeom>
          <a:ln w="19050">
            <a:solidFill>
              <a:srgbClr val="1A151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41400" y="5207000"/>
            <a:ext cx="2286000" cy="317500"/>
          </a:xfrm>
          <a:prstGeom prst="rect">
            <a:avLst/>
          </a:prstGeom>
          <a:noFill/>
        </p:spPr>
        <p:txBody>
          <a:bodyPr wrap="square" lIns="0" rIns="0" tIns="0" bIns="0" anchor="t">
            <a:noAutofit/>
          </a:bodyPr>
          <a:lstStyle/>
          <a:p>
            <a:pPr algn="l">
              <a:lnSpc>
                <a:spcPct val="100000"/>
              </a:lnSpc>
            </a:pPr>
            <a:r>
              <a:rPr sz="1700" b="1" i="0">
                <a:solidFill>
                  <a:srgbClr val="1A1512"/>
                </a:solidFill>
                <a:latin typeface="Alexandria"/>
                <a:ea typeface="Alexandria"/>
                <a:cs typeface="IBM Plex Sans Arabic"/>
              </a:rPr>
              <a:t>Plan total</a:t>
            </a:r>
          </a:p>
        </p:txBody>
      </p:sp>
      <p:sp>
        <p:nvSpPr>
          <p:cNvPr id="39" name="TextBox 38"/>
          <p:cNvSpPr txBox="1"/>
          <p:nvPr/>
        </p:nvSpPr>
        <p:spPr>
          <a:xfrm>
            <a:off x="2946400" y="5207000"/>
            <a:ext cx="1981200" cy="317500"/>
          </a:xfrm>
          <a:prstGeom prst="rect">
            <a:avLst/>
          </a:prstGeom>
          <a:noFill/>
        </p:spPr>
        <p:txBody>
          <a:bodyPr wrap="square" lIns="0" rIns="0" tIns="0" bIns="0" anchor="t">
            <a:noAutofit/>
          </a:bodyPr>
          <a:lstStyle/>
          <a:p>
            <a:pPr algn="r">
              <a:lnSpc>
                <a:spcPct val="100000"/>
              </a:lnSpc>
            </a:pPr>
            <a:r>
              <a:rPr sz="1700" b="1" i="0">
                <a:solidFill>
                  <a:srgbClr val="1A1512"/>
                </a:solidFill>
                <a:latin typeface="IBM Plex Mono"/>
                <a:ea typeface="IBM Plex Mono"/>
                <a:cs typeface="IBM Plex Sans Arabic"/>
              </a:rPr>
              <a:t>360.00</a:t>
            </a:r>
          </a:p>
        </p:txBody>
      </p:sp>
      <p:sp>
        <p:nvSpPr>
          <p:cNvPr id="40" name="TextBox 39"/>
          <p:cNvSpPr txBox="1"/>
          <p:nvPr/>
        </p:nvSpPr>
        <p:spPr>
          <a:xfrm>
            <a:off x="1041400" y="5549900"/>
            <a:ext cx="2286000" cy="190500"/>
          </a:xfrm>
          <a:prstGeom prst="rect">
            <a:avLst/>
          </a:prstGeom>
          <a:noFill/>
        </p:spPr>
        <p:txBody>
          <a:bodyPr wrap="square" lIns="0" rIns="0" tIns="0" bIns="0" anchor="t">
            <a:noAutofit/>
          </a:bodyPr>
          <a:lstStyle/>
          <a:p>
            <a:pPr algn="l">
              <a:lnSpc>
                <a:spcPct val="100000"/>
              </a:lnSpc>
            </a:pPr>
            <a:r>
              <a:rPr sz="1000" b="0" i="0">
                <a:solidFill>
                  <a:srgbClr val="7A6E62"/>
                </a:solidFill>
                <a:latin typeface="IBM Plex Sans"/>
                <a:ea typeface="IBM Plex Sans"/>
                <a:cs typeface="IBM Plex Sans Arabic"/>
              </a:rPr>
              <a:t>Per person, approx.</a:t>
            </a:r>
          </a:p>
        </p:txBody>
      </p:sp>
      <p:sp>
        <p:nvSpPr>
          <p:cNvPr id="41" name="TextBox 40"/>
          <p:cNvSpPr txBox="1"/>
          <p:nvPr/>
        </p:nvSpPr>
        <p:spPr>
          <a:xfrm>
            <a:off x="2946400" y="5549900"/>
            <a:ext cx="1981200" cy="190500"/>
          </a:xfrm>
          <a:prstGeom prst="rect">
            <a:avLst/>
          </a:prstGeom>
          <a:noFill/>
        </p:spPr>
        <p:txBody>
          <a:bodyPr wrap="square" lIns="0" rIns="0" tIns="0" bIns="0" anchor="t">
            <a:noAutofit/>
          </a:bodyPr>
          <a:lstStyle/>
          <a:p>
            <a:pPr algn="r">
              <a:lnSpc>
                <a:spcPct val="100000"/>
              </a:lnSpc>
            </a:pPr>
            <a:r>
              <a:rPr sz="1000" b="0" i="0">
                <a:solidFill>
                  <a:srgbClr val="7A6E62"/>
                </a:solidFill>
                <a:latin typeface="IBM Plex Mono"/>
                <a:ea typeface="IBM Plex Mono"/>
                <a:cs typeface="IBM Plex Sans Arabic"/>
              </a:rPr>
              <a:t>36.00 SAR</a:t>
            </a:r>
          </a:p>
        </p:txBody>
      </p:sp>
      <p:sp>
        <p:nvSpPr>
          <p:cNvPr id="42" name="TextBox 41"/>
          <p:cNvSpPr txBox="1"/>
          <p:nvPr/>
        </p:nvSpPr>
        <p:spPr>
          <a:xfrm>
            <a:off x="6096000" y="952500"/>
            <a:ext cx="5461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A plan you can</a:t>
            </a:r>
          </a:p>
          <a:p>
            <a:pPr algn="l">
              <a:lnSpc>
                <a:spcPct val="106000"/>
              </a:lnSpc>
            </a:pPr>
            <a:r>
              <a:rPr sz="3000" b="1" i="0" spc="-50">
                <a:solidFill>
                  <a:srgbClr val="FF5A36"/>
                </a:solidFill>
                <a:latin typeface="Alexandria"/>
                <a:ea typeface="Alexandria"/>
                <a:cs typeface="IBM Plex Sans Arabic"/>
              </a:rPr>
              <a:t>order in one tap.</a:t>
            </a:r>
          </a:p>
        </p:txBody>
      </p:sp>
      <p:sp>
        <p:nvSpPr>
          <p:cNvPr id="43" name="TextBox 42"/>
          <p:cNvSpPr txBox="1"/>
          <p:nvPr/>
        </p:nvSpPr>
        <p:spPr>
          <a:xfrm>
            <a:off x="6096000" y="2032000"/>
            <a:ext cx="3810000" cy="190500"/>
          </a:xfrm>
          <a:prstGeom prst="rect">
            <a:avLst/>
          </a:prstGeom>
          <a:noFill/>
        </p:spPr>
        <p:txBody>
          <a:bodyPr wrap="square" lIns="0" rIns="0" tIns="0" bIns="0" anchor="t">
            <a:noAutofit/>
          </a:bodyPr>
          <a:lstStyle/>
          <a:p>
            <a:pPr algn="l">
              <a:lnSpc>
                <a:spcPct val="125000"/>
              </a:lnSpc>
            </a:pPr>
            <a:r>
              <a:rPr sz="850" b="0" i="0" spc="250">
                <a:solidFill>
                  <a:srgbClr val="8E969D"/>
                </a:solidFill>
                <a:latin typeface="IBM Plex Mono"/>
                <a:ea typeface="IBM Plex Mono"/>
                <a:cs typeface="IBM Plex Sans Arabic"/>
              </a:rPr>
              <a:t>THE MATHS BEHIND IT</a:t>
            </a:r>
          </a:p>
        </p:txBody>
      </p:sp>
      <p:sp>
        <p:nvSpPr>
          <p:cNvPr id="44" name="TextBox 43"/>
          <p:cNvSpPr txBox="1"/>
          <p:nvPr/>
        </p:nvSpPr>
        <p:spPr>
          <a:xfrm>
            <a:off x="6096000" y="2298700"/>
            <a:ext cx="1079500" cy="254000"/>
          </a:xfrm>
          <a:prstGeom prst="rect">
            <a:avLst/>
          </a:prstGeom>
          <a:noFill/>
        </p:spPr>
        <p:txBody>
          <a:bodyPr wrap="square" lIns="0" rIns="0" tIns="0" bIns="0" anchor="t">
            <a:noAutofit/>
          </a:bodyPr>
          <a:lstStyle/>
          <a:p>
            <a:pPr algn="l">
              <a:lnSpc>
                <a:spcPct val="100000"/>
              </a:lnSpc>
            </a:pPr>
            <a:r>
              <a:rPr sz="1500" b="1" i="0">
                <a:solidFill>
                  <a:srgbClr val="FF5A36"/>
                </a:solidFill>
                <a:latin typeface="IBM Plex Mono"/>
                <a:ea typeface="IBM Plex Mono"/>
                <a:cs typeface="IBM Plex Sans Arabic"/>
              </a:rPr>
              <a:t>350 g</a:t>
            </a:r>
          </a:p>
        </p:txBody>
      </p:sp>
      <p:sp>
        <p:nvSpPr>
          <p:cNvPr id="45" name="TextBox 44"/>
          <p:cNvSpPr txBox="1"/>
          <p:nvPr/>
        </p:nvSpPr>
        <p:spPr>
          <a:xfrm>
            <a:off x="7239000" y="2311400"/>
            <a:ext cx="4445000" cy="254000"/>
          </a:xfrm>
          <a:prstGeom prst="rect">
            <a:avLst/>
          </a:prstGeom>
          <a:noFill/>
        </p:spPr>
        <p:txBody>
          <a:bodyPr wrap="square" lIns="0" rIns="0" tIns="0" bIns="0" anchor="t">
            <a:noAutofit/>
          </a:bodyPr>
          <a:lstStyle/>
          <a:p>
            <a:pPr algn="l">
              <a:lnSpc>
                <a:spcPct val="110000"/>
              </a:lnSpc>
            </a:pPr>
            <a:r>
              <a:rPr sz="1250" b="0" i="0">
                <a:solidFill>
                  <a:srgbClr val="EDE8E1"/>
                </a:solidFill>
                <a:latin typeface="IBM Plex Sans"/>
                <a:ea typeface="IBM Plex Sans"/>
                <a:cs typeface="IBM Plex Sans Arabic"/>
              </a:rPr>
              <a:t>per person — boneless BBQ</a:t>
            </a:r>
          </a:p>
        </p:txBody>
      </p:sp>
      <p:sp>
        <p:nvSpPr>
          <p:cNvPr id="46" name="TextBox 45"/>
          <p:cNvSpPr txBox="1"/>
          <p:nvPr/>
        </p:nvSpPr>
        <p:spPr>
          <a:xfrm>
            <a:off x="6096000" y="2616200"/>
            <a:ext cx="1079500" cy="254000"/>
          </a:xfrm>
          <a:prstGeom prst="rect">
            <a:avLst/>
          </a:prstGeom>
          <a:noFill/>
        </p:spPr>
        <p:txBody>
          <a:bodyPr wrap="square" lIns="0" rIns="0" tIns="0" bIns="0" anchor="t">
            <a:noAutofit/>
          </a:bodyPr>
          <a:lstStyle/>
          <a:p>
            <a:pPr algn="l">
              <a:lnSpc>
                <a:spcPct val="100000"/>
              </a:lnSpc>
            </a:pPr>
            <a:r>
              <a:rPr sz="1500" b="1" i="0">
                <a:solidFill>
                  <a:srgbClr val="FF5A36"/>
                </a:solidFill>
                <a:latin typeface="IBM Plex Mono"/>
                <a:ea typeface="IBM Plex Mono"/>
                <a:cs typeface="IBM Plex Sans Arabic"/>
              </a:rPr>
              <a:t>450 g</a:t>
            </a:r>
          </a:p>
        </p:txBody>
      </p:sp>
      <p:sp>
        <p:nvSpPr>
          <p:cNvPr id="47" name="TextBox 46"/>
          <p:cNvSpPr txBox="1"/>
          <p:nvPr/>
        </p:nvSpPr>
        <p:spPr>
          <a:xfrm>
            <a:off x="7239000" y="2628900"/>
            <a:ext cx="4445000" cy="254000"/>
          </a:xfrm>
          <a:prstGeom prst="rect">
            <a:avLst/>
          </a:prstGeom>
          <a:noFill/>
        </p:spPr>
        <p:txBody>
          <a:bodyPr wrap="square" lIns="0" rIns="0" tIns="0" bIns="0" anchor="t">
            <a:noAutofit/>
          </a:bodyPr>
          <a:lstStyle/>
          <a:p>
            <a:pPr algn="l">
              <a:lnSpc>
                <a:spcPct val="110000"/>
              </a:lnSpc>
            </a:pPr>
            <a:r>
              <a:rPr sz="1250" b="0" i="0">
                <a:solidFill>
                  <a:srgbClr val="EDE8E1"/>
                </a:solidFill>
                <a:latin typeface="IBM Plex Sans"/>
                <a:ea typeface="IBM Plex Sans"/>
                <a:cs typeface="IBM Plex Sans Arabic"/>
              </a:rPr>
              <a:t>per person — bone-in kabsa, mandi</a:t>
            </a:r>
          </a:p>
        </p:txBody>
      </p:sp>
      <p:sp>
        <p:nvSpPr>
          <p:cNvPr id="48" name="TextBox 47"/>
          <p:cNvSpPr txBox="1"/>
          <p:nvPr/>
        </p:nvSpPr>
        <p:spPr>
          <a:xfrm>
            <a:off x="6096000" y="2933700"/>
            <a:ext cx="1079500" cy="254000"/>
          </a:xfrm>
          <a:prstGeom prst="rect">
            <a:avLst/>
          </a:prstGeom>
          <a:noFill/>
        </p:spPr>
        <p:txBody>
          <a:bodyPr wrap="square" lIns="0" rIns="0" tIns="0" bIns="0" anchor="t">
            <a:noAutofit/>
          </a:bodyPr>
          <a:lstStyle/>
          <a:p>
            <a:pPr algn="l">
              <a:lnSpc>
                <a:spcPct val="100000"/>
              </a:lnSpc>
            </a:pPr>
            <a:r>
              <a:rPr sz="1500" b="1" i="0">
                <a:solidFill>
                  <a:srgbClr val="FF5A36"/>
                </a:solidFill>
                <a:latin typeface="IBM Plex Mono"/>
                <a:ea typeface="IBM Plex Mono"/>
                <a:cs typeface="IBM Plex Sans Arabic"/>
              </a:rPr>
              <a:t>300 g</a:t>
            </a:r>
          </a:p>
        </p:txBody>
      </p:sp>
      <p:sp>
        <p:nvSpPr>
          <p:cNvPr id="49" name="TextBox 48"/>
          <p:cNvSpPr txBox="1"/>
          <p:nvPr/>
        </p:nvSpPr>
        <p:spPr>
          <a:xfrm>
            <a:off x="7239000" y="2946400"/>
            <a:ext cx="4445000" cy="254000"/>
          </a:xfrm>
          <a:prstGeom prst="rect">
            <a:avLst/>
          </a:prstGeom>
          <a:noFill/>
        </p:spPr>
        <p:txBody>
          <a:bodyPr wrap="square" lIns="0" rIns="0" tIns="0" bIns="0" anchor="t">
            <a:noAutofit/>
          </a:bodyPr>
          <a:lstStyle/>
          <a:p>
            <a:pPr algn="l">
              <a:lnSpc>
                <a:spcPct val="110000"/>
              </a:lnSpc>
            </a:pPr>
            <a:r>
              <a:rPr sz="1250" b="0" i="0">
                <a:solidFill>
                  <a:srgbClr val="EDE8E1"/>
                </a:solidFill>
                <a:latin typeface="IBM Plex Sans"/>
                <a:ea typeface="IBM Plex Sans"/>
                <a:cs typeface="IBM Plex Sans Arabic"/>
              </a:rPr>
              <a:t>per person — steak</a:t>
            </a:r>
          </a:p>
        </p:txBody>
      </p:sp>
      <p:sp>
        <p:nvSpPr>
          <p:cNvPr id="50" name="TextBox 49"/>
          <p:cNvSpPr txBox="1"/>
          <p:nvPr/>
        </p:nvSpPr>
        <p:spPr>
          <a:xfrm>
            <a:off x="6096000" y="3251200"/>
            <a:ext cx="1079500" cy="254000"/>
          </a:xfrm>
          <a:prstGeom prst="rect">
            <a:avLst/>
          </a:prstGeom>
          <a:noFill/>
        </p:spPr>
        <p:txBody>
          <a:bodyPr wrap="square" lIns="0" rIns="0" tIns="0" bIns="0" anchor="t">
            <a:noAutofit/>
          </a:bodyPr>
          <a:lstStyle/>
          <a:p>
            <a:pPr algn="l">
              <a:lnSpc>
                <a:spcPct val="100000"/>
              </a:lnSpc>
            </a:pPr>
            <a:r>
              <a:rPr sz="1500" b="1" i="0">
                <a:solidFill>
                  <a:srgbClr val="FF5A36"/>
                </a:solidFill>
                <a:latin typeface="IBM Plex Mono"/>
                <a:ea typeface="IBM Plex Mono"/>
                <a:cs typeface="IBM Plex Sans Arabic"/>
              </a:rPr>
              <a:t>250 g</a:t>
            </a:r>
          </a:p>
        </p:txBody>
      </p:sp>
      <p:sp>
        <p:nvSpPr>
          <p:cNvPr id="51" name="TextBox 50"/>
          <p:cNvSpPr txBox="1"/>
          <p:nvPr/>
        </p:nvSpPr>
        <p:spPr>
          <a:xfrm>
            <a:off x="7239000" y="3263900"/>
            <a:ext cx="4445000" cy="254000"/>
          </a:xfrm>
          <a:prstGeom prst="rect">
            <a:avLst/>
          </a:prstGeom>
          <a:noFill/>
        </p:spPr>
        <p:txBody>
          <a:bodyPr wrap="square" lIns="0" rIns="0" tIns="0" bIns="0" anchor="t">
            <a:noAutofit/>
          </a:bodyPr>
          <a:lstStyle/>
          <a:p>
            <a:pPr algn="l">
              <a:lnSpc>
                <a:spcPct val="110000"/>
              </a:lnSpc>
            </a:pPr>
            <a:r>
              <a:rPr sz="1250" b="0" i="0">
                <a:solidFill>
                  <a:srgbClr val="EDE8E1"/>
                </a:solidFill>
                <a:latin typeface="IBM Plex Sans"/>
                <a:ea typeface="IBM Plex Sans"/>
                <a:cs typeface="IBM Plex Sans Arabic"/>
              </a:rPr>
              <a:t>per person — broth and stew</a:t>
            </a:r>
          </a:p>
        </p:txBody>
      </p:sp>
      <p:sp>
        <p:nvSpPr>
          <p:cNvPr id="52" name="TextBox 51"/>
          <p:cNvSpPr txBox="1"/>
          <p:nvPr/>
        </p:nvSpPr>
        <p:spPr>
          <a:xfrm>
            <a:off x="6096000" y="3568700"/>
            <a:ext cx="1079500" cy="254000"/>
          </a:xfrm>
          <a:prstGeom prst="rect">
            <a:avLst/>
          </a:prstGeom>
          <a:noFill/>
        </p:spPr>
        <p:txBody>
          <a:bodyPr wrap="square" lIns="0" rIns="0" tIns="0" bIns="0" anchor="t">
            <a:noAutofit/>
          </a:bodyPr>
          <a:lstStyle/>
          <a:p>
            <a:pPr algn="l">
              <a:lnSpc>
                <a:spcPct val="100000"/>
              </a:lnSpc>
            </a:pPr>
            <a:r>
              <a:rPr sz="1500" b="1" i="0">
                <a:solidFill>
                  <a:srgbClr val="FF5A36"/>
                </a:solidFill>
                <a:latin typeface="IBM Plex Mono"/>
                <a:ea typeface="IBM Plex Mono"/>
                <a:cs typeface="IBM Plex Sans Arabic"/>
              </a:rPr>
              <a:t>1 bag</a:t>
            </a:r>
          </a:p>
        </p:txBody>
      </p:sp>
      <p:sp>
        <p:nvSpPr>
          <p:cNvPr id="53" name="TextBox 52"/>
          <p:cNvSpPr txBox="1"/>
          <p:nvPr/>
        </p:nvSpPr>
        <p:spPr>
          <a:xfrm>
            <a:off x="7239000" y="3581400"/>
            <a:ext cx="4445000" cy="254000"/>
          </a:xfrm>
          <a:prstGeom prst="rect">
            <a:avLst/>
          </a:prstGeom>
          <a:noFill/>
        </p:spPr>
        <p:txBody>
          <a:bodyPr wrap="square" lIns="0" rIns="0" tIns="0" bIns="0" anchor="t">
            <a:noAutofit/>
          </a:bodyPr>
          <a:lstStyle/>
          <a:p>
            <a:pPr algn="l">
              <a:lnSpc>
                <a:spcPct val="110000"/>
              </a:lnSpc>
            </a:pPr>
            <a:r>
              <a:rPr sz="1250" b="0" i="0">
                <a:solidFill>
                  <a:srgbClr val="EDE8E1"/>
                </a:solidFill>
                <a:latin typeface="IBM Plex Sans"/>
                <a:ea typeface="IBM Plex Sans"/>
                <a:cs typeface="IBM Plex Sans Arabic"/>
              </a:rPr>
              <a:t>of charcoal per 4.5 kg of grilling</a:t>
            </a:r>
          </a:p>
        </p:txBody>
      </p:sp>
      <p:sp>
        <p:nvSpPr>
          <p:cNvPr id="54" name="TextBox 53"/>
          <p:cNvSpPr txBox="1"/>
          <p:nvPr/>
        </p:nvSpPr>
        <p:spPr>
          <a:xfrm>
            <a:off x="6096000" y="4013200"/>
            <a:ext cx="3810000" cy="190500"/>
          </a:xfrm>
          <a:prstGeom prst="rect">
            <a:avLst/>
          </a:prstGeom>
          <a:noFill/>
        </p:spPr>
        <p:txBody>
          <a:bodyPr wrap="square" lIns="0" rIns="0" tIns="0" bIns="0" anchor="t">
            <a:noAutofit/>
          </a:bodyPr>
          <a:lstStyle/>
          <a:p>
            <a:pPr algn="l">
              <a:lnSpc>
                <a:spcPct val="125000"/>
              </a:lnSpc>
            </a:pPr>
            <a:r>
              <a:rPr sz="850" b="0" i="0" spc="250">
                <a:solidFill>
                  <a:srgbClr val="8E969D"/>
                </a:solidFill>
                <a:latin typeface="IBM Plex Mono"/>
                <a:ea typeface="IBM Plex Mono"/>
                <a:cs typeface="IBM Plex Sans Arabic"/>
              </a:rPr>
              <a:t>WHAT YOU CAN DO WITH IT</a:t>
            </a:r>
          </a:p>
        </p:txBody>
      </p:sp>
      <p:sp>
        <p:nvSpPr>
          <p:cNvPr id="55" name="Rectangle 54"/>
          <p:cNvSpPr/>
          <p:nvPr/>
        </p:nvSpPr>
        <p:spPr>
          <a:xfrm>
            <a:off x="6096000" y="4351338"/>
            <a:ext cx="63500" cy="63500"/>
          </a:xfrm>
          <a:prstGeom prst="rect">
            <a:avLst/>
          </a:prstGeom>
          <a:solidFill>
            <a:srgbClr val="FF5A36"/>
          </a:solidFill>
          <a:ln>
            <a:noFill/>
          </a:ln>
          <a:effectLst/>
        </p:spPr>
        <p:txBody>
          <a:bodyPr rtlCol="0" anchor="ctr" lIns="0" rIns="0"/>
          <a:lstStyle/>
          <a:p>
            <a:pPr algn="ctr"/>
          </a:p>
        </p:txBody>
      </p:sp>
      <p:sp>
        <p:nvSpPr>
          <p:cNvPr id="56" name="TextBox 55"/>
          <p:cNvSpPr txBox="1"/>
          <p:nvPr/>
        </p:nvSpPr>
        <p:spPr>
          <a:xfrm>
            <a:off x="6286500" y="4279900"/>
            <a:ext cx="5143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Adjust</a:t>
            </a:r>
            <a:r>
              <a:rPr sz="1250" b="0" i="0">
                <a:solidFill>
                  <a:srgbClr val="C8C1B7"/>
                </a:solidFill>
                <a:latin typeface="IBM Plex Sans"/>
                <a:ea typeface="IBM Plex Sans"/>
                <a:cs typeface="IBM Plex Sans Arabic"/>
              </a:rPr>
              <a:t> any weight with − and +</a:t>
            </a:r>
          </a:p>
        </p:txBody>
      </p:sp>
      <p:sp>
        <p:nvSpPr>
          <p:cNvPr id="57" name="Rectangle 56"/>
          <p:cNvSpPr/>
          <p:nvPr/>
        </p:nvSpPr>
        <p:spPr>
          <a:xfrm>
            <a:off x="6096000" y="4618038"/>
            <a:ext cx="63500" cy="63500"/>
          </a:xfrm>
          <a:prstGeom prst="rect">
            <a:avLst/>
          </a:prstGeom>
          <a:solidFill>
            <a:srgbClr val="FF5A36"/>
          </a:solidFill>
          <a:ln>
            <a:noFill/>
          </a:ln>
          <a:effectLst/>
        </p:spPr>
        <p:txBody>
          <a:bodyPr rtlCol="0" anchor="ctr" lIns="0" rIns="0"/>
          <a:lstStyle/>
          <a:p>
            <a:pPr algn="ctr"/>
          </a:p>
        </p:txBody>
      </p:sp>
      <p:sp>
        <p:nvSpPr>
          <p:cNvPr id="58" name="TextBox 57"/>
          <p:cNvSpPr txBox="1"/>
          <p:nvPr/>
        </p:nvSpPr>
        <p:spPr>
          <a:xfrm>
            <a:off x="6286500" y="4546600"/>
            <a:ext cx="5143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Change</a:t>
            </a:r>
            <a:r>
              <a:rPr sz="1250" b="0" i="0">
                <a:solidFill>
                  <a:srgbClr val="C8C1B7"/>
                </a:solidFill>
                <a:latin typeface="IBM Plex Sans"/>
                <a:ea typeface="IBM Plex Sans"/>
                <a:cs typeface="IBM Plex Sans Arabic"/>
              </a:rPr>
              <a:t> the number of guests</a:t>
            </a:r>
          </a:p>
        </p:txBody>
      </p:sp>
      <p:sp>
        <p:nvSpPr>
          <p:cNvPr id="59" name="Rectangle 58"/>
          <p:cNvSpPr/>
          <p:nvPr/>
        </p:nvSpPr>
        <p:spPr>
          <a:xfrm>
            <a:off x="6096000" y="4884738"/>
            <a:ext cx="63500" cy="63500"/>
          </a:xfrm>
          <a:prstGeom prst="rect">
            <a:avLst/>
          </a:prstGeom>
          <a:solidFill>
            <a:srgbClr val="FF5A36"/>
          </a:solidFill>
          <a:ln>
            <a:noFill/>
          </a:ln>
          <a:effectLst/>
        </p:spPr>
        <p:txBody>
          <a:bodyPr rtlCol="0" anchor="ctr" lIns="0" rIns="0"/>
          <a:lstStyle/>
          <a:p>
            <a:pPr algn="ctr"/>
          </a:p>
        </p:txBody>
      </p:sp>
      <p:sp>
        <p:nvSpPr>
          <p:cNvPr id="60" name="TextBox 59"/>
          <p:cNvSpPr txBox="1"/>
          <p:nvPr/>
        </p:nvSpPr>
        <p:spPr>
          <a:xfrm>
            <a:off x="6286500" y="4813300"/>
            <a:ext cx="5143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Add</a:t>
            </a:r>
            <a:r>
              <a:rPr sz="1250" b="0" i="0">
                <a:solidFill>
                  <a:srgbClr val="C8C1B7"/>
                </a:solidFill>
                <a:latin typeface="IBM Plex Sans"/>
                <a:ea typeface="IBM Plex Sans"/>
                <a:cs typeface="IBM Plex Sans Arabic"/>
              </a:rPr>
              <a:t> a second dish — one combined plan</a:t>
            </a:r>
          </a:p>
        </p:txBody>
      </p:sp>
      <p:sp>
        <p:nvSpPr>
          <p:cNvPr id="61" name="Rectangle 60"/>
          <p:cNvSpPr/>
          <p:nvPr/>
        </p:nvSpPr>
        <p:spPr>
          <a:xfrm>
            <a:off x="6096000" y="5151438"/>
            <a:ext cx="63500" cy="63500"/>
          </a:xfrm>
          <a:prstGeom prst="rect">
            <a:avLst/>
          </a:prstGeom>
          <a:solidFill>
            <a:srgbClr val="FF5A36"/>
          </a:solidFill>
          <a:ln>
            <a:noFill/>
          </a:ln>
          <a:effectLst/>
        </p:spPr>
        <p:txBody>
          <a:bodyPr rtlCol="0" anchor="ctr" lIns="0" rIns="0"/>
          <a:lstStyle/>
          <a:p>
            <a:pPr algn="ctr"/>
          </a:p>
        </p:txBody>
      </p:sp>
      <p:sp>
        <p:nvSpPr>
          <p:cNvPr id="62" name="TextBox 61"/>
          <p:cNvSpPr txBox="1"/>
          <p:nvPr/>
        </p:nvSpPr>
        <p:spPr>
          <a:xfrm>
            <a:off x="6286500" y="5080000"/>
            <a:ext cx="5143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Save</a:t>
            </a:r>
            <a:r>
              <a:rPr sz="1250" b="0" i="0">
                <a:solidFill>
                  <a:srgbClr val="C8C1B7"/>
                </a:solidFill>
                <a:latin typeface="IBM Plex Sans"/>
                <a:ea typeface="IBM Plex Sans"/>
                <a:cs typeface="IBM Plex Sans Arabic"/>
              </a:rPr>
              <a:t> the plan to your account</a:t>
            </a:r>
          </a:p>
        </p:txBody>
      </p:sp>
      <p:sp>
        <p:nvSpPr>
          <p:cNvPr id="63" name="Rectangle 62"/>
          <p:cNvSpPr/>
          <p:nvPr/>
        </p:nvSpPr>
        <p:spPr>
          <a:xfrm>
            <a:off x="6096000" y="5418138"/>
            <a:ext cx="63500" cy="63500"/>
          </a:xfrm>
          <a:prstGeom prst="rect">
            <a:avLst/>
          </a:prstGeom>
          <a:solidFill>
            <a:srgbClr val="FF5A36"/>
          </a:solidFill>
          <a:ln>
            <a:noFill/>
          </a:ln>
          <a:effectLst/>
        </p:spPr>
        <p:txBody>
          <a:bodyPr rtlCol="0" anchor="ctr" lIns="0" rIns="0"/>
          <a:lstStyle/>
          <a:p>
            <a:pPr algn="ctr"/>
          </a:p>
        </p:txBody>
      </p:sp>
      <p:sp>
        <p:nvSpPr>
          <p:cNvPr id="64" name="TextBox 63"/>
          <p:cNvSpPr txBox="1"/>
          <p:nvPr/>
        </p:nvSpPr>
        <p:spPr>
          <a:xfrm>
            <a:off x="6286500" y="5346700"/>
            <a:ext cx="5143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Send</a:t>
            </a:r>
            <a:r>
              <a:rPr sz="1250" b="0" i="0">
                <a:solidFill>
                  <a:srgbClr val="C8C1B7"/>
                </a:solidFill>
                <a:latin typeface="IBM Plex Sans"/>
                <a:ea typeface="IBM Plex Sans"/>
                <a:cs typeface="IBM Plex Sans Arabic"/>
              </a:rPr>
              <a:t> the whole plan to the cart</a:t>
            </a:r>
          </a:p>
        </p:txBody>
      </p:sp>
      <p:pic>
        <p:nvPicPr>
          <p:cNvPr id="65" name="Picture 64" descr="logo-bone.png"/>
          <p:cNvPicPr>
            <a:picLocks noChangeAspect="1"/>
          </p:cNvPicPr>
          <p:nvPr/>
        </p:nvPicPr>
        <p:blipFill>
          <a:blip r:embed="rId3"/>
          <a:stretch>
            <a:fillRect/>
          </a:stretch>
        </p:blipFill>
        <p:spPr>
          <a:xfrm>
            <a:off x="762000" y="6426200"/>
            <a:ext cx="208788" cy="152400"/>
          </a:xfrm>
          <a:prstGeom prst="rect">
            <a:avLst/>
          </a:prstGeom>
        </p:spPr>
      </p:pic>
      <p:sp>
        <p:nvSpPr>
          <p:cNvPr id="66" name="TextBox 65"/>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67" name="TextBox 66"/>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11</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10</a:t>
            </a:r>
            <a:r>
              <a:rPr sz="950" b="0" i="0" spc="240">
                <a:solidFill>
                  <a:srgbClr val="8E969D"/>
                </a:solidFill>
                <a:latin typeface="IBM Plex Mono"/>
                <a:ea typeface="IBM Plex Mono"/>
                <a:cs typeface="IBM Plex Sans Arabic"/>
              </a:rPr>
              <a:t>  CHOOSE · THE HERD</a:t>
            </a:r>
          </a:p>
        </p:txBody>
      </p:sp>
      <p:pic>
        <p:nvPicPr>
          <p:cNvPr id="4" name="Picture 3" descr="b-lamb.jpg"/>
          <p:cNvPicPr>
            <a:picLocks noChangeAspect="1"/>
          </p:cNvPicPr>
          <p:nvPr/>
        </p:nvPicPr>
        <p:blipFill>
          <a:blip r:embed="rId3"/>
          <a:stretch>
            <a:fillRect/>
          </a:stretch>
        </p:blipFill>
        <p:spPr>
          <a:xfrm>
            <a:off x="533400" y="596900"/>
            <a:ext cx="7188200" cy="5664200"/>
          </a:xfrm>
          <a:prstGeom prst="rect">
            <a:avLst/>
          </a:prstGeom>
        </p:spPr>
      </p:pic>
      <p:sp>
        <p:nvSpPr>
          <p:cNvPr id="5" name="TextBox 4"/>
          <p:cNvSpPr txBox="1"/>
          <p:nvPr/>
        </p:nvSpPr>
        <p:spPr>
          <a:xfrm>
            <a:off x="8001000" y="952500"/>
            <a:ext cx="3556000" cy="1212850"/>
          </a:xfrm>
          <a:prstGeom prst="rect">
            <a:avLst/>
          </a:prstGeom>
          <a:noFill/>
        </p:spPr>
        <p:txBody>
          <a:bodyPr wrap="square" lIns="0" rIns="0" tIns="0" bIns="0" anchor="t">
            <a:noAutofit/>
          </a:bodyPr>
          <a:lstStyle/>
          <a:p>
            <a:pPr algn="l">
              <a:lnSpc>
                <a:spcPct val="106000"/>
              </a:lnSpc>
            </a:pPr>
            <a:r>
              <a:rPr sz="2700" b="1" i="0" spc="-50">
                <a:solidFill>
                  <a:srgbClr val="EDE8E1"/>
                </a:solidFill>
                <a:latin typeface="Alexandria"/>
                <a:ea typeface="Alexandria"/>
                <a:cs typeface="IBM Plex Sans Arabic"/>
              </a:rPr>
              <a:t>Six animals.</a:t>
            </a:r>
          </a:p>
          <a:p>
            <a:pPr algn="l">
              <a:lnSpc>
                <a:spcPct val="106000"/>
              </a:lnSpc>
            </a:pPr>
            <a:r>
              <a:rPr sz="2700" b="1" i="0" spc="-50">
                <a:solidFill>
                  <a:srgbClr val="EDE8E1"/>
                </a:solidFill>
                <a:latin typeface="Alexandria"/>
                <a:ea typeface="Alexandria"/>
                <a:cs typeface="IBM Plex Sans Arabic"/>
              </a:rPr>
              <a:t>Every cut has</a:t>
            </a:r>
          </a:p>
          <a:p>
            <a:pPr algn="l">
              <a:lnSpc>
                <a:spcPct val="106000"/>
              </a:lnSpc>
            </a:pPr>
            <a:r>
              <a:rPr sz="2700" b="1" i="0" spc="-50">
                <a:solidFill>
                  <a:srgbClr val="FF5A36"/>
                </a:solidFill>
                <a:latin typeface="Alexandria"/>
                <a:ea typeface="Alexandria"/>
                <a:cs typeface="IBM Plex Sans Arabic"/>
              </a:rPr>
              <a:t>a number.</a:t>
            </a:r>
          </a:p>
        </p:txBody>
      </p:sp>
      <p:sp>
        <p:nvSpPr>
          <p:cNvPr id="6" name="TextBox 5"/>
          <p:cNvSpPr txBox="1"/>
          <p:nvPr/>
        </p:nvSpPr>
        <p:spPr>
          <a:xfrm>
            <a:off x="8001000" y="2413000"/>
            <a:ext cx="3429000" cy="762000"/>
          </a:xfrm>
          <a:prstGeom prst="rect">
            <a:avLst/>
          </a:prstGeom>
          <a:noFill/>
        </p:spPr>
        <p:txBody>
          <a:bodyPr wrap="square" lIns="0" rIns="0" tIns="0" bIns="0" anchor="t">
            <a:noAutofit/>
          </a:bodyPr>
          <a:lstStyle/>
          <a:p>
            <a:pPr algn="l">
              <a:lnSpc>
                <a:spcPct val="140000"/>
              </a:lnSpc>
            </a:pPr>
            <a:r>
              <a:rPr sz="1300" b="0" i="0">
                <a:solidFill>
                  <a:srgbClr val="C8C1B7"/>
                </a:solidFill>
                <a:latin typeface="IBM Plex Sans"/>
                <a:ea typeface="IBM Plex Sans"/>
                <a:cs typeface="IBM Plex Sans Arabic"/>
              </a:rPr>
              <a:t>Tap a numbered dot on the drawing to open that cut.</a:t>
            </a:r>
          </a:p>
        </p:txBody>
      </p:sp>
      <p:sp>
        <p:nvSpPr>
          <p:cNvPr id="7" name="TextBox 6"/>
          <p:cNvSpPr txBox="1"/>
          <p:nvPr/>
        </p:nvSpPr>
        <p:spPr>
          <a:xfrm>
            <a:off x="8001000" y="3213100"/>
            <a:ext cx="1270000" cy="1651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ANIMAL</a:t>
            </a:r>
          </a:p>
        </p:txBody>
      </p:sp>
      <p:sp>
        <p:nvSpPr>
          <p:cNvPr id="8" name="TextBox 7"/>
          <p:cNvSpPr txBox="1"/>
          <p:nvPr/>
        </p:nvSpPr>
        <p:spPr>
          <a:xfrm>
            <a:off x="9461500" y="3213100"/>
            <a:ext cx="762000" cy="1651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ITEMS</a:t>
            </a:r>
          </a:p>
        </p:txBody>
      </p:sp>
      <p:sp>
        <p:nvSpPr>
          <p:cNvPr id="9" name="TextBox 8"/>
          <p:cNvSpPr txBox="1"/>
          <p:nvPr/>
        </p:nvSpPr>
        <p:spPr>
          <a:xfrm>
            <a:off x="10223500" y="3213100"/>
            <a:ext cx="1206500" cy="165100"/>
          </a:xfrm>
          <a:prstGeom prst="rect">
            <a:avLst/>
          </a:prstGeom>
          <a:noFill/>
        </p:spPr>
        <p:txBody>
          <a:bodyPr wrap="square" lIns="0" rIns="0" tIns="0" bIns="0" anchor="t">
            <a:noAutofit/>
          </a:bodyPr>
          <a:lstStyle/>
          <a:p>
            <a:pPr algn="r">
              <a:lnSpc>
                <a:spcPct val="100000"/>
              </a:lnSpc>
            </a:pPr>
            <a:r>
              <a:rPr sz="750" b="0" i="0" spc="200">
                <a:solidFill>
                  <a:srgbClr val="5A646C"/>
                </a:solidFill>
                <a:latin typeface="IBM Plex Mono"/>
                <a:ea typeface="IBM Plex Mono"/>
                <a:cs typeface="IBM Plex Sans Arabic"/>
              </a:rPr>
              <a:t>FROM / KG</a:t>
            </a:r>
          </a:p>
        </p:txBody>
      </p:sp>
      <p:cxnSp>
        <p:nvCxnSpPr>
          <p:cNvPr id="10" name="Connector 9"/>
          <p:cNvCxnSpPr/>
          <p:nvPr/>
        </p:nvCxnSpPr>
        <p:spPr>
          <a:xfrm>
            <a:off x="8001000" y="3403600"/>
            <a:ext cx="3429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01000" y="3467100"/>
            <a:ext cx="1397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Lamb</a:t>
            </a:r>
          </a:p>
        </p:txBody>
      </p:sp>
      <p:sp>
        <p:nvSpPr>
          <p:cNvPr id="12" name="TextBox 11"/>
          <p:cNvSpPr txBox="1"/>
          <p:nvPr/>
        </p:nvSpPr>
        <p:spPr>
          <a:xfrm>
            <a:off x="9461500" y="3479800"/>
            <a:ext cx="635000" cy="254000"/>
          </a:xfrm>
          <a:prstGeom prst="rect">
            <a:avLst/>
          </a:prstGeom>
          <a:noFill/>
        </p:spPr>
        <p:txBody>
          <a:bodyPr wrap="square" lIns="0" rIns="0" tIns="0" bIns="0" anchor="t">
            <a:noAutofit/>
          </a:bodyPr>
          <a:lstStyle/>
          <a:p>
            <a:pPr algn="l">
              <a:lnSpc>
                <a:spcPct val="100000"/>
              </a:lnSpc>
            </a:pPr>
            <a:r>
              <a:rPr sz="1300" b="0" i="0">
                <a:solidFill>
                  <a:srgbClr val="C8C1B7"/>
                </a:solidFill>
                <a:latin typeface="IBM Plex Mono"/>
                <a:ea typeface="IBM Plex Mono"/>
                <a:cs typeface="IBM Plex Sans Arabic"/>
              </a:rPr>
              <a:t>12</a:t>
            </a:r>
          </a:p>
        </p:txBody>
      </p:sp>
      <p:sp>
        <p:nvSpPr>
          <p:cNvPr id="13" name="TextBox 12"/>
          <p:cNvSpPr txBox="1"/>
          <p:nvPr/>
        </p:nvSpPr>
        <p:spPr>
          <a:xfrm>
            <a:off x="10223500" y="3479800"/>
            <a:ext cx="1206500" cy="254000"/>
          </a:xfrm>
          <a:prstGeom prst="rect">
            <a:avLst/>
          </a:prstGeom>
          <a:noFill/>
        </p:spPr>
        <p:txBody>
          <a:bodyPr wrap="square" lIns="0" rIns="0" tIns="0" bIns="0" anchor="t">
            <a:noAutofit/>
          </a:bodyPr>
          <a:lstStyle/>
          <a:p>
            <a:pPr algn="r">
              <a:lnSpc>
                <a:spcPct val="100000"/>
              </a:lnSpc>
            </a:pPr>
            <a:r>
              <a:rPr sz="1300" b="1" i="0">
                <a:solidFill>
                  <a:srgbClr val="FF5A36"/>
                </a:solidFill>
                <a:latin typeface="IBM Plex Mono"/>
                <a:ea typeface="IBM Plex Mono"/>
                <a:cs typeface="IBM Plex Sans Arabic"/>
              </a:rPr>
              <a:t>45 SAR</a:t>
            </a:r>
          </a:p>
        </p:txBody>
      </p:sp>
      <p:cxnSp>
        <p:nvCxnSpPr>
          <p:cNvPr id="14" name="Connector 13"/>
          <p:cNvCxnSpPr/>
          <p:nvPr/>
        </p:nvCxnSpPr>
        <p:spPr>
          <a:xfrm>
            <a:off x="8001000" y="3771900"/>
            <a:ext cx="3429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01000" y="3835400"/>
            <a:ext cx="1397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Goat</a:t>
            </a:r>
          </a:p>
        </p:txBody>
      </p:sp>
      <p:sp>
        <p:nvSpPr>
          <p:cNvPr id="16" name="TextBox 15"/>
          <p:cNvSpPr txBox="1"/>
          <p:nvPr/>
        </p:nvSpPr>
        <p:spPr>
          <a:xfrm>
            <a:off x="9461500" y="3848100"/>
            <a:ext cx="635000" cy="254000"/>
          </a:xfrm>
          <a:prstGeom prst="rect">
            <a:avLst/>
          </a:prstGeom>
          <a:noFill/>
        </p:spPr>
        <p:txBody>
          <a:bodyPr wrap="square" lIns="0" rIns="0" tIns="0" bIns="0" anchor="t">
            <a:noAutofit/>
          </a:bodyPr>
          <a:lstStyle/>
          <a:p>
            <a:pPr algn="l">
              <a:lnSpc>
                <a:spcPct val="100000"/>
              </a:lnSpc>
            </a:pPr>
            <a:r>
              <a:rPr sz="1300" b="0" i="0">
                <a:solidFill>
                  <a:srgbClr val="C8C1B7"/>
                </a:solidFill>
                <a:latin typeface="IBM Plex Mono"/>
                <a:ea typeface="IBM Plex Mono"/>
                <a:cs typeface="IBM Plex Sans Arabic"/>
              </a:rPr>
              <a:t>7</a:t>
            </a:r>
          </a:p>
        </p:txBody>
      </p:sp>
      <p:sp>
        <p:nvSpPr>
          <p:cNvPr id="17" name="TextBox 16"/>
          <p:cNvSpPr txBox="1"/>
          <p:nvPr/>
        </p:nvSpPr>
        <p:spPr>
          <a:xfrm>
            <a:off x="10223500" y="3848100"/>
            <a:ext cx="1206500" cy="254000"/>
          </a:xfrm>
          <a:prstGeom prst="rect">
            <a:avLst/>
          </a:prstGeom>
          <a:noFill/>
        </p:spPr>
        <p:txBody>
          <a:bodyPr wrap="square" lIns="0" rIns="0" tIns="0" bIns="0" anchor="t">
            <a:noAutofit/>
          </a:bodyPr>
          <a:lstStyle/>
          <a:p>
            <a:pPr algn="r">
              <a:lnSpc>
                <a:spcPct val="100000"/>
              </a:lnSpc>
            </a:pPr>
            <a:r>
              <a:rPr sz="1300" b="1" i="0">
                <a:solidFill>
                  <a:srgbClr val="FF5A36"/>
                </a:solidFill>
                <a:latin typeface="IBM Plex Mono"/>
                <a:ea typeface="IBM Plex Mono"/>
                <a:cs typeface="IBM Plex Sans Arabic"/>
              </a:rPr>
              <a:t>52 SAR</a:t>
            </a:r>
          </a:p>
        </p:txBody>
      </p:sp>
      <p:cxnSp>
        <p:nvCxnSpPr>
          <p:cNvPr id="18" name="Connector 17"/>
          <p:cNvCxnSpPr/>
          <p:nvPr/>
        </p:nvCxnSpPr>
        <p:spPr>
          <a:xfrm>
            <a:off x="8001000" y="4140200"/>
            <a:ext cx="3429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001000" y="4203700"/>
            <a:ext cx="1397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Camel</a:t>
            </a:r>
          </a:p>
        </p:txBody>
      </p:sp>
      <p:sp>
        <p:nvSpPr>
          <p:cNvPr id="20" name="TextBox 19"/>
          <p:cNvSpPr txBox="1"/>
          <p:nvPr/>
        </p:nvSpPr>
        <p:spPr>
          <a:xfrm>
            <a:off x="9461500" y="4216400"/>
            <a:ext cx="635000" cy="254000"/>
          </a:xfrm>
          <a:prstGeom prst="rect">
            <a:avLst/>
          </a:prstGeom>
          <a:noFill/>
        </p:spPr>
        <p:txBody>
          <a:bodyPr wrap="square" lIns="0" rIns="0" tIns="0" bIns="0" anchor="t">
            <a:noAutofit/>
          </a:bodyPr>
          <a:lstStyle/>
          <a:p>
            <a:pPr algn="l">
              <a:lnSpc>
                <a:spcPct val="100000"/>
              </a:lnSpc>
            </a:pPr>
            <a:r>
              <a:rPr sz="1300" b="0" i="0">
                <a:solidFill>
                  <a:srgbClr val="C8C1B7"/>
                </a:solidFill>
                <a:latin typeface="IBM Plex Mono"/>
                <a:ea typeface="IBM Plex Mono"/>
                <a:cs typeface="IBM Plex Sans Arabic"/>
              </a:rPr>
              <a:t>6</a:t>
            </a:r>
          </a:p>
        </p:txBody>
      </p:sp>
      <p:sp>
        <p:nvSpPr>
          <p:cNvPr id="21" name="TextBox 20"/>
          <p:cNvSpPr txBox="1"/>
          <p:nvPr/>
        </p:nvSpPr>
        <p:spPr>
          <a:xfrm>
            <a:off x="10223500" y="4216400"/>
            <a:ext cx="1206500" cy="254000"/>
          </a:xfrm>
          <a:prstGeom prst="rect">
            <a:avLst/>
          </a:prstGeom>
          <a:noFill/>
        </p:spPr>
        <p:txBody>
          <a:bodyPr wrap="square" lIns="0" rIns="0" tIns="0" bIns="0" anchor="t">
            <a:noAutofit/>
          </a:bodyPr>
          <a:lstStyle/>
          <a:p>
            <a:pPr algn="r">
              <a:lnSpc>
                <a:spcPct val="100000"/>
              </a:lnSpc>
            </a:pPr>
            <a:r>
              <a:rPr sz="1300" b="1" i="0">
                <a:solidFill>
                  <a:srgbClr val="FF5A36"/>
                </a:solidFill>
                <a:latin typeface="IBM Plex Mono"/>
                <a:ea typeface="IBM Plex Mono"/>
                <a:cs typeface="IBM Plex Sans Arabic"/>
              </a:rPr>
              <a:t>45 SAR</a:t>
            </a:r>
          </a:p>
        </p:txBody>
      </p:sp>
      <p:cxnSp>
        <p:nvCxnSpPr>
          <p:cNvPr id="22" name="Connector 21"/>
          <p:cNvCxnSpPr/>
          <p:nvPr/>
        </p:nvCxnSpPr>
        <p:spPr>
          <a:xfrm>
            <a:off x="8001000" y="4508500"/>
            <a:ext cx="3429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001000" y="4572000"/>
            <a:ext cx="1397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Veal</a:t>
            </a:r>
          </a:p>
        </p:txBody>
      </p:sp>
      <p:sp>
        <p:nvSpPr>
          <p:cNvPr id="24" name="TextBox 23"/>
          <p:cNvSpPr txBox="1"/>
          <p:nvPr/>
        </p:nvSpPr>
        <p:spPr>
          <a:xfrm>
            <a:off x="9461500" y="4584700"/>
            <a:ext cx="635000" cy="254000"/>
          </a:xfrm>
          <a:prstGeom prst="rect">
            <a:avLst/>
          </a:prstGeom>
          <a:noFill/>
        </p:spPr>
        <p:txBody>
          <a:bodyPr wrap="square" lIns="0" rIns="0" tIns="0" bIns="0" anchor="t">
            <a:noAutofit/>
          </a:bodyPr>
          <a:lstStyle/>
          <a:p>
            <a:pPr algn="l">
              <a:lnSpc>
                <a:spcPct val="100000"/>
              </a:lnSpc>
            </a:pPr>
            <a:r>
              <a:rPr sz="1300" b="0" i="0">
                <a:solidFill>
                  <a:srgbClr val="C8C1B7"/>
                </a:solidFill>
                <a:latin typeface="IBM Plex Mono"/>
                <a:ea typeface="IBM Plex Mono"/>
                <a:cs typeface="IBM Plex Sans Arabic"/>
              </a:rPr>
              <a:t>7</a:t>
            </a:r>
          </a:p>
        </p:txBody>
      </p:sp>
      <p:sp>
        <p:nvSpPr>
          <p:cNvPr id="25" name="TextBox 24"/>
          <p:cNvSpPr txBox="1"/>
          <p:nvPr/>
        </p:nvSpPr>
        <p:spPr>
          <a:xfrm>
            <a:off x="10223500" y="4584700"/>
            <a:ext cx="1206500" cy="254000"/>
          </a:xfrm>
          <a:prstGeom prst="rect">
            <a:avLst/>
          </a:prstGeom>
          <a:noFill/>
        </p:spPr>
        <p:txBody>
          <a:bodyPr wrap="square" lIns="0" rIns="0" tIns="0" bIns="0" anchor="t">
            <a:noAutofit/>
          </a:bodyPr>
          <a:lstStyle/>
          <a:p>
            <a:pPr algn="r">
              <a:lnSpc>
                <a:spcPct val="100000"/>
              </a:lnSpc>
            </a:pPr>
            <a:r>
              <a:rPr sz="1300" b="1" i="0">
                <a:solidFill>
                  <a:srgbClr val="FF5A36"/>
                </a:solidFill>
                <a:latin typeface="IBM Plex Mono"/>
                <a:ea typeface="IBM Plex Mono"/>
                <a:cs typeface="IBM Plex Sans Arabic"/>
              </a:rPr>
              <a:t>48 SAR</a:t>
            </a:r>
          </a:p>
        </p:txBody>
      </p:sp>
      <p:cxnSp>
        <p:nvCxnSpPr>
          <p:cNvPr id="26" name="Connector 25"/>
          <p:cNvCxnSpPr/>
          <p:nvPr/>
        </p:nvCxnSpPr>
        <p:spPr>
          <a:xfrm>
            <a:off x="8001000" y="4876800"/>
            <a:ext cx="3429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01000" y="4940300"/>
            <a:ext cx="1397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Beef</a:t>
            </a:r>
          </a:p>
        </p:txBody>
      </p:sp>
      <p:sp>
        <p:nvSpPr>
          <p:cNvPr id="28" name="TextBox 27"/>
          <p:cNvSpPr txBox="1"/>
          <p:nvPr/>
        </p:nvSpPr>
        <p:spPr>
          <a:xfrm>
            <a:off x="9461500" y="4953000"/>
            <a:ext cx="635000" cy="254000"/>
          </a:xfrm>
          <a:prstGeom prst="rect">
            <a:avLst/>
          </a:prstGeom>
          <a:noFill/>
        </p:spPr>
        <p:txBody>
          <a:bodyPr wrap="square" lIns="0" rIns="0" tIns="0" bIns="0" anchor="t">
            <a:noAutofit/>
          </a:bodyPr>
          <a:lstStyle/>
          <a:p>
            <a:pPr algn="l">
              <a:lnSpc>
                <a:spcPct val="100000"/>
              </a:lnSpc>
            </a:pPr>
            <a:r>
              <a:rPr sz="1300" b="0" i="0">
                <a:solidFill>
                  <a:srgbClr val="C8C1B7"/>
                </a:solidFill>
                <a:latin typeface="IBM Plex Mono"/>
                <a:ea typeface="IBM Plex Mono"/>
                <a:cs typeface="IBM Plex Sans Arabic"/>
              </a:rPr>
              <a:t>8</a:t>
            </a:r>
          </a:p>
        </p:txBody>
      </p:sp>
      <p:sp>
        <p:nvSpPr>
          <p:cNvPr id="29" name="TextBox 28"/>
          <p:cNvSpPr txBox="1"/>
          <p:nvPr/>
        </p:nvSpPr>
        <p:spPr>
          <a:xfrm>
            <a:off x="10223500" y="4953000"/>
            <a:ext cx="1206500" cy="254000"/>
          </a:xfrm>
          <a:prstGeom prst="rect">
            <a:avLst/>
          </a:prstGeom>
          <a:noFill/>
        </p:spPr>
        <p:txBody>
          <a:bodyPr wrap="square" lIns="0" rIns="0" tIns="0" bIns="0" anchor="t">
            <a:noAutofit/>
          </a:bodyPr>
          <a:lstStyle/>
          <a:p>
            <a:pPr algn="r">
              <a:lnSpc>
                <a:spcPct val="100000"/>
              </a:lnSpc>
            </a:pPr>
            <a:r>
              <a:rPr sz="1300" b="1" i="0">
                <a:solidFill>
                  <a:srgbClr val="FF5A36"/>
                </a:solidFill>
                <a:latin typeface="IBM Plex Mono"/>
                <a:ea typeface="IBM Plex Mono"/>
                <a:cs typeface="IBM Plex Sans Arabic"/>
              </a:rPr>
              <a:t>49 SAR</a:t>
            </a:r>
          </a:p>
        </p:txBody>
      </p:sp>
      <p:cxnSp>
        <p:nvCxnSpPr>
          <p:cNvPr id="30" name="Connector 29"/>
          <p:cNvCxnSpPr/>
          <p:nvPr/>
        </p:nvCxnSpPr>
        <p:spPr>
          <a:xfrm>
            <a:off x="8001000" y="5245100"/>
            <a:ext cx="3429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001000" y="5308600"/>
            <a:ext cx="1397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Buffalo</a:t>
            </a:r>
          </a:p>
        </p:txBody>
      </p:sp>
      <p:sp>
        <p:nvSpPr>
          <p:cNvPr id="32" name="TextBox 31"/>
          <p:cNvSpPr txBox="1"/>
          <p:nvPr/>
        </p:nvSpPr>
        <p:spPr>
          <a:xfrm>
            <a:off x="9461500" y="5321300"/>
            <a:ext cx="635000" cy="254000"/>
          </a:xfrm>
          <a:prstGeom prst="rect">
            <a:avLst/>
          </a:prstGeom>
          <a:noFill/>
        </p:spPr>
        <p:txBody>
          <a:bodyPr wrap="square" lIns="0" rIns="0" tIns="0" bIns="0" anchor="t">
            <a:noAutofit/>
          </a:bodyPr>
          <a:lstStyle/>
          <a:p>
            <a:pPr algn="l">
              <a:lnSpc>
                <a:spcPct val="100000"/>
              </a:lnSpc>
            </a:pPr>
            <a:r>
              <a:rPr sz="1300" b="0" i="0">
                <a:solidFill>
                  <a:srgbClr val="C8C1B7"/>
                </a:solidFill>
                <a:latin typeface="IBM Plex Mono"/>
                <a:ea typeface="IBM Plex Mono"/>
                <a:cs typeface="IBM Plex Sans Arabic"/>
              </a:rPr>
              <a:t>5</a:t>
            </a:r>
          </a:p>
        </p:txBody>
      </p:sp>
      <p:sp>
        <p:nvSpPr>
          <p:cNvPr id="33" name="TextBox 32"/>
          <p:cNvSpPr txBox="1"/>
          <p:nvPr/>
        </p:nvSpPr>
        <p:spPr>
          <a:xfrm>
            <a:off x="10223500" y="5321300"/>
            <a:ext cx="1206500" cy="254000"/>
          </a:xfrm>
          <a:prstGeom prst="rect">
            <a:avLst/>
          </a:prstGeom>
          <a:noFill/>
        </p:spPr>
        <p:txBody>
          <a:bodyPr wrap="square" lIns="0" rIns="0" tIns="0" bIns="0" anchor="t">
            <a:noAutofit/>
          </a:bodyPr>
          <a:lstStyle/>
          <a:p>
            <a:pPr algn="r">
              <a:lnSpc>
                <a:spcPct val="100000"/>
              </a:lnSpc>
            </a:pPr>
            <a:r>
              <a:rPr sz="1300" b="1" i="0">
                <a:solidFill>
                  <a:srgbClr val="FF5A36"/>
                </a:solidFill>
                <a:latin typeface="IBM Plex Mono"/>
                <a:ea typeface="IBM Plex Mono"/>
                <a:cs typeface="IBM Plex Sans Arabic"/>
              </a:rPr>
              <a:t>44 SAR</a:t>
            </a:r>
          </a:p>
        </p:txBody>
      </p:sp>
      <p:pic>
        <p:nvPicPr>
          <p:cNvPr id="34" name="Picture 33" descr="logo-bone.png"/>
          <p:cNvPicPr>
            <a:picLocks noChangeAspect="1"/>
          </p:cNvPicPr>
          <p:nvPr/>
        </p:nvPicPr>
        <p:blipFill>
          <a:blip r:embed="rId4"/>
          <a:stretch>
            <a:fillRect/>
          </a:stretch>
        </p:blipFill>
        <p:spPr>
          <a:xfrm>
            <a:off x="762000" y="6426200"/>
            <a:ext cx="208788" cy="152400"/>
          </a:xfrm>
          <a:prstGeom prst="rect">
            <a:avLst/>
          </a:prstGeom>
        </p:spPr>
      </p:pic>
      <p:sp>
        <p:nvSpPr>
          <p:cNvPr id="35" name="TextBox 34"/>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36" name="TextBox 35"/>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12</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11</a:t>
            </a:r>
            <a:r>
              <a:rPr sz="950" b="0" i="0" spc="240">
                <a:solidFill>
                  <a:srgbClr val="8E969D"/>
                </a:solidFill>
                <a:latin typeface="IBM Plex Mono"/>
                <a:ea typeface="IBM Plex Mono"/>
                <a:cs typeface="IBM Plex Sans Arabic"/>
              </a:rPr>
              <a:t>  CHOOSE · SHOP AND SEARCH</a:t>
            </a:r>
          </a:p>
        </p:txBody>
      </p:sp>
      <p:sp>
        <p:nvSpPr>
          <p:cNvPr id="4" name="TextBox 3"/>
          <p:cNvSpPr txBox="1"/>
          <p:nvPr/>
        </p:nvSpPr>
        <p:spPr>
          <a:xfrm>
            <a:off x="762000" y="952500"/>
            <a:ext cx="4445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Find it by animal</a:t>
            </a:r>
          </a:p>
          <a:p>
            <a:pPr algn="l">
              <a:lnSpc>
                <a:spcPct val="106000"/>
              </a:lnSpc>
            </a:pPr>
            <a:r>
              <a:rPr sz="3000" b="1" i="0" spc="-50">
                <a:solidFill>
                  <a:srgbClr val="FF5A36"/>
                </a:solidFill>
                <a:latin typeface="Alexandria"/>
                <a:ea typeface="Alexandria"/>
                <a:cs typeface="IBM Plex Sans Arabic"/>
              </a:rPr>
              <a:t>or by dish.</a:t>
            </a:r>
          </a:p>
        </p:txBody>
      </p:sp>
      <p:sp>
        <p:nvSpPr>
          <p:cNvPr id="5" name="Rectangle 4"/>
          <p:cNvSpPr/>
          <p:nvPr/>
        </p:nvSpPr>
        <p:spPr>
          <a:xfrm>
            <a:off x="762000" y="2293938"/>
            <a:ext cx="63500" cy="63500"/>
          </a:xfrm>
          <a:prstGeom prst="rect">
            <a:avLst/>
          </a:prstGeom>
          <a:solidFill>
            <a:srgbClr val="FF5A36"/>
          </a:solidFill>
          <a:ln>
            <a:noFill/>
          </a:ln>
          <a:effectLst/>
        </p:spPr>
        <p:txBody>
          <a:bodyPr rtlCol="0" anchor="ctr" lIns="0" rIns="0"/>
          <a:lstStyle/>
          <a:p>
            <a:pPr algn="ctr"/>
          </a:p>
        </p:txBody>
      </p:sp>
      <p:sp>
        <p:nvSpPr>
          <p:cNvPr id="6" name="TextBox 5"/>
          <p:cNvSpPr txBox="1"/>
          <p:nvPr/>
        </p:nvSpPr>
        <p:spPr>
          <a:xfrm>
            <a:off x="952500" y="2222500"/>
            <a:ext cx="3619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52 products,</a:t>
            </a:r>
            <a:r>
              <a:rPr sz="1250" b="0" i="0">
                <a:solidFill>
                  <a:srgbClr val="C8C1B7"/>
                </a:solidFill>
                <a:latin typeface="IBM Plex Sans"/>
                <a:ea typeface="IBM Plex Sans"/>
                <a:cs typeface="IBM Plex Sans Arabic"/>
              </a:rPr>
              <a:t> prices include VAT</a:t>
            </a:r>
          </a:p>
        </p:txBody>
      </p:sp>
      <p:sp>
        <p:nvSpPr>
          <p:cNvPr id="7" name="Rectangle 6"/>
          <p:cNvSpPr/>
          <p:nvPr/>
        </p:nvSpPr>
        <p:spPr>
          <a:xfrm>
            <a:off x="762000" y="2598738"/>
            <a:ext cx="63500" cy="63500"/>
          </a:xfrm>
          <a:prstGeom prst="rect">
            <a:avLst/>
          </a:prstGeom>
          <a:solidFill>
            <a:srgbClr val="FF5A36"/>
          </a:solidFill>
          <a:ln>
            <a:noFill/>
          </a:ln>
          <a:effectLst/>
        </p:spPr>
        <p:txBody>
          <a:bodyPr rtlCol="0" anchor="ctr" lIns="0" rIns="0"/>
          <a:lstStyle/>
          <a:p>
            <a:pPr algn="ctr"/>
          </a:p>
        </p:txBody>
      </p:sp>
      <p:sp>
        <p:nvSpPr>
          <p:cNvPr id="8" name="TextBox 7"/>
          <p:cNvSpPr txBox="1"/>
          <p:nvPr/>
        </p:nvSpPr>
        <p:spPr>
          <a:xfrm>
            <a:off x="952500" y="2527300"/>
            <a:ext cx="3619500" cy="42545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Filter by animal:</a:t>
            </a:r>
            <a:r>
              <a:rPr sz="1250" b="0" i="0">
                <a:solidFill>
                  <a:srgbClr val="C8C1B7"/>
                </a:solidFill>
                <a:latin typeface="IBM Plex Sans"/>
                <a:ea typeface="IBM Plex Sans"/>
                <a:cs typeface="IBM Plex Sans Arabic"/>
              </a:rPr>
              <a:t> lamb to buffalo, carcasses, BBQ kit</a:t>
            </a:r>
          </a:p>
        </p:txBody>
      </p:sp>
      <p:sp>
        <p:nvSpPr>
          <p:cNvPr id="9" name="Rectangle 8"/>
          <p:cNvSpPr/>
          <p:nvPr/>
        </p:nvSpPr>
        <p:spPr>
          <a:xfrm>
            <a:off x="762000" y="3113088"/>
            <a:ext cx="63500" cy="63500"/>
          </a:xfrm>
          <a:prstGeom prst="rect">
            <a:avLst/>
          </a:prstGeom>
          <a:solidFill>
            <a:srgbClr val="FF5A36"/>
          </a:solidFill>
          <a:ln>
            <a:noFill/>
          </a:ln>
          <a:effectLst/>
        </p:spPr>
        <p:txBody>
          <a:bodyPr rtlCol="0" anchor="ctr" lIns="0" rIns="0"/>
          <a:lstStyle/>
          <a:p>
            <a:pPr algn="ctr"/>
          </a:p>
        </p:txBody>
      </p:sp>
      <p:sp>
        <p:nvSpPr>
          <p:cNvPr id="10" name="TextBox 9"/>
          <p:cNvSpPr txBox="1"/>
          <p:nvPr/>
        </p:nvSpPr>
        <p:spPr>
          <a:xfrm>
            <a:off x="952500" y="3041650"/>
            <a:ext cx="3619500" cy="42545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Filter by dish:</a:t>
            </a:r>
            <a:r>
              <a:rPr sz="1250" b="0" i="0">
                <a:solidFill>
                  <a:srgbClr val="C8C1B7"/>
                </a:solidFill>
                <a:latin typeface="IBM Plex Sans"/>
                <a:ea typeface="IBM Plex Sans"/>
                <a:cs typeface="IBM Plex Sans Arabic"/>
              </a:rPr>
              <a:t> grill, kabsa &amp; mandi, steak, slow cooking, oven, mince &amp; kebab</a:t>
            </a:r>
          </a:p>
        </p:txBody>
      </p:sp>
      <p:sp>
        <p:nvSpPr>
          <p:cNvPr id="11" name="Rectangle 10"/>
          <p:cNvSpPr/>
          <p:nvPr/>
        </p:nvSpPr>
        <p:spPr>
          <a:xfrm>
            <a:off x="762000" y="3627438"/>
            <a:ext cx="63500" cy="63500"/>
          </a:xfrm>
          <a:prstGeom prst="rect">
            <a:avLst/>
          </a:prstGeom>
          <a:solidFill>
            <a:srgbClr val="FF5A36"/>
          </a:solidFill>
          <a:ln>
            <a:noFill/>
          </a:ln>
          <a:effectLst/>
        </p:spPr>
        <p:txBody>
          <a:bodyPr rtlCol="0" anchor="ctr" lIns="0" rIns="0"/>
          <a:lstStyle/>
          <a:p>
            <a:pPr algn="ctr"/>
          </a:p>
        </p:txBody>
      </p:sp>
      <p:sp>
        <p:nvSpPr>
          <p:cNvPr id="12" name="TextBox 11"/>
          <p:cNvSpPr txBox="1"/>
          <p:nvPr/>
        </p:nvSpPr>
        <p:spPr>
          <a:xfrm>
            <a:off x="952500" y="3556000"/>
            <a:ext cx="3619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Sort</a:t>
            </a:r>
            <a:r>
              <a:rPr sz="1250" b="0" i="0">
                <a:solidFill>
                  <a:srgbClr val="C8C1B7"/>
                </a:solidFill>
                <a:latin typeface="IBM Plex Sans"/>
                <a:ea typeface="IBM Plex Sans"/>
                <a:cs typeface="IBM Plex Sans Arabic"/>
              </a:rPr>
              <a:t> by animal or by price</a:t>
            </a:r>
          </a:p>
        </p:txBody>
      </p:sp>
      <p:sp>
        <p:nvSpPr>
          <p:cNvPr id="13" name="Rectangle 12"/>
          <p:cNvSpPr/>
          <p:nvPr/>
        </p:nvSpPr>
        <p:spPr>
          <a:xfrm>
            <a:off x="762000" y="3932238"/>
            <a:ext cx="63500" cy="63500"/>
          </a:xfrm>
          <a:prstGeom prst="rect">
            <a:avLst/>
          </a:prstGeom>
          <a:solidFill>
            <a:srgbClr val="FF5A36"/>
          </a:solidFill>
          <a:ln>
            <a:noFill/>
          </a:ln>
          <a:effectLst/>
        </p:spPr>
        <p:txBody>
          <a:bodyPr rtlCol="0" anchor="ctr" lIns="0" rIns="0"/>
          <a:lstStyle/>
          <a:p>
            <a:pPr algn="ctr"/>
          </a:p>
        </p:txBody>
      </p:sp>
      <p:sp>
        <p:nvSpPr>
          <p:cNvPr id="14" name="TextBox 13"/>
          <p:cNvSpPr txBox="1"/>
          <p:nvPr/>
        </p:nvSpPr>
        <p:spPr>
          <a:xfrm>
            <a:off x="952500" y="3860800"/>
            <a:ext cx="3619500" cy="42545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Search</a:t>
            </a:r>
            <a:r>
              <a:rPr sz="1250" b="0" i="0">
                <a:solidFill>
                  <a:srgbClr val="C8C1B7"/>
                </a:solidFill>
                <a:latin typeface="IBM Plex Sans"/>
                <a:ea typeface="IBM Plex Sans"/>
                <a:cs typeface="IBM Plex Sans Arabic"/>
              </a:rPr>
              <a:t> with suggestions — and every search with no results is logged for the team</a:t>
            </a:r>
          </a:p>
        </p:txBody>
      </p:sp>
      <p:sp>
        <p:nvSpPr>
          <p:cNvPr id="15" name="Rectangle 14"/>
          <p:cNvSpPr/>
          <p:nvPr/>
        </p:nvSpPr>
        <p:spPr>
          <a:xfrm>
            <a:off x="762000" y="4446588"/>
            <a:ext cx="63500" cy="63500"/>
          </a:xfrm>
          <a:prstGeom prst="rect">
            <a:avLst/>
          </a:prstGeom>
          <a:solidFill>
            <a:srgbClr val="FF5A36"/>
          </a:solidFill>
          <a:ln>
            <a:noFill/>
          </a:ln>
          <a:effectLst/>
        </p:spPr>
        <p:txBody>
          <a:bodyPr rtlCol="0" anchor="ctr" lIns="0" rIns="0"/>
          <a:lstStyle/>
          <a:p>
            <a:pPr algn="ctr"/>
          </a:p>
        </p:txBody>
      </p:sp>
      <p:sp>
        <p:nvSpPr>
          <p:cNvPr id="16" name="TextBox 15"/>
          <p:cNvSpPr txBox="1"/>
          <p:nvPr/>
        </p:nvSpPr>
        <p:spPr>
          <a:xfrm>
            <a:off x="952500" y="4375150"/>
            <a:ext cx="3619500" cy="215900"/>
          </a:xfrm>
          <a:prstGeom prst="rect">
            <a:avLst/>
          </a:prstGeom>
          <a:noFill/>
        </p:spPr>
        <p:txBody>
          <a:bodyPr wrap="square" lIns="0" rIns="0" tIns="0" bIns="0" anchor="t">
            <a:noAutofit/>
          </a:bodyPr>
          <a:lstStyle/>
          <a:p>
            <a:pPr algn="l">
              <a:lnSpc>
                <a:spcPct val="130000"/>
              </a:lnSpc>
            </a:pPr>
            <a:r>
              <a:rPr sz="1250" b="1" i="0">
                <a:solidFill>
                  <a:srgbClr val="EDE8E1"/>
                </a:solidFill>
                <a:latin typeface="IBM Plex Sans"/>
                <a:ea typeface="IBM Plex Sans"/>
                <a:cs typeface="IBM Plex Sans Arabic"/>
              </a:rPr>
              <a:t>Wishlist:</a:t>
            </a:r>
            <a:r>
              <a:rPr sz="1250" b="0" i="0">
                <a:solidFill>
                  <a:srgbClr val="C8C1B7"/>
                </a:solidFill>
                <a:latin typeface="IBM Plex Sans"/>
                <a:ea typeface="IBM Plex Sans"/>
                <a:cs typeface="IBM Plex Sans Arabic"/>
              </a:rPr>
              <a:t> tap the heart to save any cut</a:t>
            </a:r>
          </a:p>
        </p:txBody>
      </p:sp>
      <p:pic>
        <p:nvPicPr>
          <p:cNvPr id="17" name="Picture 16" descr="b-shop.jpg"/>
          <p:cNvPicPr>
            <a:picLocks noChangeAspect="1"/>
          </p:cNvPicPr>
          <p:nvPr/>
        </p:nvPicPr>
        <p:blipFill>
          <a:blip r:embed="rId3"/>
          <a:stretch>
            <a:fillRect/>
          </a:stretch>
        </p:blipFill>
        <p:spPr>
          <a:xfrm>
            <a:off x="4851400" y="596900"/>
            <a:ext cx="6934200" cy="5664200"/>
          </a:xfrm>
          <a:prstGeom prst="rect">
            <a:avLst/>
          </a:prstGeom>
        </p:spPr>
      </p:pic>
      <p:pic>
        <p:nvPicPr>
          <p:cNvPr id="18" name="Picture 17" descr="logo-bone.png"/>
          <p:cNvPicPr>
            <a:picLocks noChangeAspect="1"/>
          </p:cNvPicPr>
          <p:nvPr/>
        </p:nvPicPr>
        <p:blipFill>
          <a:blip r:embed="rId4"/>
          <a:stretch>
            <a:fillRect/>
          </a:stretch>
        </p:blipFill>
        <p:spPr>
          <a:xfrm>
            <a:off x="762000" y="6426200"/>
            <a:ext cx="208788" cy="152400"/>
          </a:xfrm>
          <a:prstGeom prst="rect">
            <a:avLst/>
          </a:prstGeom>
        </p:spPr>
      </p:pic>
      <p:sp>
        <p:nvSpPr>
          <p:cNvPr id="19" name="TextBox 18"/>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0" name="TextBox 19"/>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13</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12</a:t>
            </a:r>
            <a:r>
              <a:rPr sz="950" b="0" i="0" spc="240">
                <a:solidFill>
                  <a:srgbClr val="8E969D"/>
                </a:solidFill>
                <a:latin typeface="IBM Plex Mono"/>
                <a:ea typeface="IBM Plex Mono"/>
                <a:cs typeface="IBM Plex Sans Arabic"/>
              </a:rPr>
              <a:t>  CHOOSE · PRODUCT PAGE</a:t>
            </a:r>
          </a:p>
        </p:txBody>
      </p:sp>
      <p:pic>
        <p:nvPicPr>
          <p:cNvPr id="4" name="Picture 3" descr="b-product.jpg"/>
          <p:cNvPicPr>
            <a:picLocks noChangeAspect="1"/>
          </p:cNvPicPr>
          <p:nvPr/>
        </p:nvPicPr>
        <p:blipFill>
          <a:blip r:embed="rId3"/>
          <a:stretch>
            <a:fillRect/>
          </a:stretch>
        </p:blipFill>
        <p:spPr>
          <a:xfrm>
            <a:off x="533400" y="596900"/>
            <a:ext cx="7315200" cy="5664200"/>
          </a:xfrm>
          <a:prstGeom prst="rect">
            <a:avLst/>
          </a:prstGeom>
        </p:spPr>
      </p:pic>
      <p:sp>
        <p:nvSpPr>
          <p:cNvPr id="5" name="TextBox 4"/>
          <p:cNvSpPr txBox="1"/>
          <p:nvPr/>
        </p:nvSpPr>
        <p:spPr>
          <a:xfrm>
            <a:off x="8001000" y="952500"/>
            <a:ext cx="3556000" cy="768350"/>
          </a:xfrm>
          <a:prstGeom prst="rect">
            <a:avLst/>
          </a:prstGeom>
          <a:noFill/>
        </p:spPr>
        <p:txBody>
          <a:bodyPr wrap="square" lIns="0" rIns="0" tIns="0" bIns="0" anchor="t">
            <a:noAutofit/>
          </a:bodyPr>
          <a:lstStyle/>
          <a:p>
            <a:pPr algn="l">
              <a:lnSpc>
                <a:spcPct val="106000"/>
              </a:lnSpc>
            </a:pPr>
            <a:r>
              <a:rPr sz="2400" b="1" i="0" spc="-50">
                <a:solidFill>
                  <a:srgbClr val="EDE8E1"/>
                </a:solidFill>
                <a:latin typeface="Alexandria"/>
                <a:ea typeface="Alexandria"/>
                <a:cs typeface="IBM Plex Sans Arabic"/>
              </a:rPr>
              <a:t>A butcher's counter,</a:t>
            </a:r>
          </a:p>
          <a:p>
            <a:pPr algn="l">
              <a:lnSpc>
                <a:spcPct val="106000"/>
              </a:lnSpc>
            </a:pPr>
            <a:r>
              <a:rPr sz="2400" b="1" i="0" spc="-50">
                <a:solidFill>
                  <a:srgbClr val="FF5A36"/>
                </a:solidFill>
                <a:latin typeface="Alexandria"/>
                <a:ea typeface="Alexandria"/>
                <a:cs typeface="IBM Plex Sans Arabic"/>
              </a:rPr>
              <a:t>with a scale.</a:t>
            </a:r>
          </a:p>
        </p:txBody>
      </p:sp>
      <p:sp>
        <p:nvSpPr>
          <p:cNvPr id="6" name="TextBox 5"/>
          <p:cNvSpPr txBox="1"/>
          <p:nvPr/>
        </p:nvSpPr>
        <p:spPr>
          <a:xfrm>
            <a:off x="8001000" y="19177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01</a:t>
            </a:r>
          </a:p>
        </p:txBody>
      </p:sp>
      <p:sp>
        <p:nvSpPr>
          <p:cNvPr id="7" name="TextBox 6"/>
          <p:cNvSpPr txBox="1"/>
          <p:nvPr/>
        </p:nvSpPr>
        <p:spPr>
          <a:xfrm>
            <a:off x="8318500" y="19050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Digital scale</a:t>
            </a:r>
            <a:r>
              <a:rPr sz="1100" b="0" i="0">
                <a:solidFill>
                  <a:srgbClr val="C8C1B7"/>
                </a:solidFill>
                <a:latin typeface="IBM Plex Sans"/>
                <a:ea typeface="IBM Plex Sans"/>
                <a:cs typeface="IBM Plex Sans Arabic"/>
              </a:rPr>
              <a:t>  ½ to 5 kg</a:t>
            </a:r>
          </a:p>
        </p:txBody>
      </p:sp>
      <p:sp>
        <p:nvSpPr>
          <p:cNvPr id="8" name="TextBox 7"/>
          <p:cNvSpPr txBox="1"/>
          <p:nvPr/>
        </p:nvSpPr>
        <p:spPr>
          <a:xfrm>
            <a:off x="8001000" y="22098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02</a:t>
            </a:r>
          </a:p>
        </p:txBody>
      </p:sp>
      <p:sp>
        <p:nvSpPr>
          <p:cNvPr id="9" name="TextBox 8"/>
          <p:cNvSpPr txBox="1"/>
          <p:nvPr/>
        </p:nvSpPr>
        <p:spPr>
          <a:xfrm>
            <a:off x="8318500" y="21971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“How much do you need?”</a:t>
            </a:r>
            <a:r>
              <a:rPr sz="1100" b="0" i="0">
                <a:solidFill>
                  <a:srgbClr val="C8C1B7"/>
                </a:solidFill>
                <a:latin typeface="IBM Plex Sans"/>
                <a:ea typeface="IBM Plex Sans"/>
                <a:cs typeface="IBM Plex Sans Arabic"/>
              </a:rPr>
              <a:t>  guests → weight</a:t>
            </a:r>
          </a:p>
        </p:txBody>
      </p:sp>
      <p:sp>
        <p:nvSpPr>
          <p:cNvPr id="10" name="TextBox 9"/>
          <p:cNvSpPr txBox="1"/>
          <p:nvPr/>
        </p:nvSpPr>
        <p:spPr>
          <a:xfrm>
            <a:off x="8001000" y="25019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03</a:t>
            </a:r>
          </a:p>
        </p:txBody>
      </p:sp>
      <p:sp>
        <p:nvSpPr>
          <p:cNvPr id="11" name="TextBox 10"/>
          <p:cNvSpPr txBox="1"/>
          <p:nvPr/>
        </p:nvSpPr>
        <p:spPr>
          <a:xfrm>
            <a:off x="8318500" y="24892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Cutting style</a:t>
            </a:r>
            <a:r>
              <a:rPr sz="1100" b="0" i="0">
                <a:solidFill>
                  <a:srgbClr val="C8C1B7"/>
                </a:solidFill>
                <a:latin typeface="IBM Plex Sans"/>
                <a:ea typeface="IBM Plex Sans"/>
                <a:cs typeface="IBM Plex Sans Arabic"/>
              </a:rPr>
              <a:t>  free</a:t>
            </a:r>
          </a:p>
        </p:txBody>
      </p:sp>
      <p:sp>
        <p:nvSpPr>
          <p:cNvPr id="12" name="TextBox 11"/>
          <p:cNvSpPr txBox="1"/>
          <p:nvPr/>
        </p:nvSpPr>
        <p:spPr>
          <a:xfrm>
            <a:off x="8001000" y="27940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04</a:t>
            </a:r>
          </a:p>
        </p:txBody>
      </p:sp>
      <p:sp>
        <p:nvSpPr>
          <p:cNvPr id="13" name="TextBox 12"/>
          <p:cNvSpPr txBox="1"/>
          <p:nvPr/>
        </p:nvSpPr>
        <p:spPr>
          <a:xfrm>
            <a:off x="8318500" y="27813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Marinade</a:t>
            </a:r>
            <a:r>
              <a:rPr sz="1100" b="0" i="0">
                <a:solidFill>
                  <a:srgbClr val="C8C1B7"/>
                </a:solidFill>
                <a:latin typeface="IBM Plex Sans"/>
                <a:ea typeface="IBM Plex Sans"/>
                <a:cs typeface="IBM Plex Sans Arabic"/>
              </a:rPr>
              <a:t>  +8 to +12 SAR/kg</a:t>
            </a:r>
          </a:p>
        </p:txBody>
      </p:sp>
      <p:sp>
        <p:nvSpPr>
          <p:cNvPr id="14" name="TextBox 13"/>
          <p:cNvSpPr txBox="1"/>
          <p:nvPr/>
        </p:nvSpPr>
        <p:spPr>
          <a:xfrm>
            <a:off x="8001000" y="30861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05</a:t>
            </a:r>
          </a:p>
        </p:txBody>
      </p:sp>
      <p:sp>
        <p:nvSpPr>
          <p:cNvPr id="15" name="TextBox 14"/>
          <p:cNvSpPr txBox="1"/>
          <p:nvPr/>
        </p:nvSpPr>
        <p:spPr>
          <a:xfrm>
            <a:off x="8318500" y="30734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Vacuum packing</a:t>
            </a:r>
            <a:r>
              <a:rPr sz="1100" b="0" i="0">
                <a:solidFill>
                  <a:srgbClr val="C8C1B7"/>
                </a:solidFill>
                <a:latin typeface="IBM Plex Sans"/>
                <a:ea typeface="IBM Plex Sans"/>
                <a:cs typeface="IBM Plex Sans Arabic"/>
              </a:rPr>
              <a:t>  +3 SAR/kg</a:t>
            </a:r>
          </a:p>
        </p:txBody>
      </p:sp>
      <p:sp>
        <p:nvSpPr>
          <p:cNvPr id="16" name="TextBox 15"/>
          <p:cNvSpPr txBox="1"/>
          <p:nvPr/>
        </p:nvSpPr>
        <p:spPr>
          <a:xfrm>
            <a:off x="8001000" y="33782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06</a:t>
            </a:r>
          </a:p>
        </p:txBody>
      </p:sp>
      <p:sp>
        <p:nvSpPr>
          <p:cNvPr id="17" name="TextBox 16"/>
          <p:cNvSpPr txBox="1"/>
          <p:nvPr/>
        </p:nvSpPr>
        <p:spPr>
          <a:xfrm>
            <a:off x="8318500" y="33655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Note for the butcher</a:t>
            </a:r>
          </a:p>
        </p:txBody>
      </p:sp>
      <p:sp>
        <p:nvSpPr>
          <p:cNvPr id="18" name="TextBox 17"/>
          <p:cNvSpPr txBox="1"/>
          <p:nvPr/>
        </p:nvSpPr>
        <p:spPr>
          <a:xfrm>
            <a:off x="8001000" y="36703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07</a:t>
            </a:r>
          </a:p>
        </p:txBody>
      </p:sp>
      <p:sp>
        <p:nvSpPr>
          <p:cNvPr id="19" name="TextBox 18"/>
          <p:cNvSpPr txBox="1"/>
          <p:nvPr/>
        </p:nvSpPr>
        <p:spPr>
          <a:xfrm>
            <a:off x="8318500" y="36576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About the cut</a:t>
            </a:r>
            <a:r>
              <a:rPr sz="1100" b="0" i="0">
                <a:solidFill>
                  <a:srgbClr val="C8C1B7"/>
                </a:solidFill>
                <a:latin typeface="IBM Plex Sans"/>
                <a:ea typeface="IBM Plex Sans"/>
                <a:cs typeface="IBM Plex Sans Arabic"/>
              </a:rPr>
              <a:t>  tenderness, fat, flavour</a:t>
            </a:r>
          </a:p>
        </p:txBody>
      </p:sp>
      <p:sp>
        <p:nvSpPr>
          <p:cNvPr id="20" name="TextBox 19"/>
          <p:cNvSpPr txBox="1"/>
          <p:nvPr/>
        </p:nvSpPr>
        <p:spPr>
          <a:xfrm>
            <a:off x="8001000" y="3962400"/>
            <a:ext cx="317500" cy="190500"/>
          </a:xfrm>
          <a:prstGeom prst="rect">
            <a:avLst/>
          </a:prstGeom>
          <a:noFill/>
        </p:spPr>
        <p:txBody>
          <a:bodyPr wrap="square" lIns="0" rIns="0" tIns="0" bIns="0" anchor="t">
            <a:noAutofit/>
          </a:bodyPr>
          <a:lstStyle/>
          <a:p>
            <a:pPr algn="l">
              <a:lnSpc>
                <a:spcPct val="100000"/>
              </a:lnSpc>
            </a:pPr>
            <a:r>
              <a:rPr sz="900" b="1" i="0">
                <a:solidFill>
                  <a:srgbClr val="FF5A36"/>
                </a:solidFill>
                <a:latin typeface="IBM Plex Mono"/>
                <a:ea typeface="IBM Plex Mono"/>
                <a:cs typeface="IBM Plex Sans Arabic"/>
              </a:rPr>
              <a:t>08</a:t>
            </a:r>
          </a:p>
        </p:txBody>
      </p:sp>
      <p:sp>
        <p:nvSpPr>
          <p:cNvPr id="21" name="TextBox 20"/>
          <p:cNvSpPr txBox="1"/>
          <p:nvPr/>
        </p:nvSpPr>
        <p:spPr>
          <a:xfrm>
            <a:off x="8318500" y="3949700"/>
            <a:ext cx="3238500" cy="215900"/>
          </a:xfrm>
          <a:prstGeom prst="rect">
            <a:avLst/>
          </a:prstGeom>
          <a:noFill/>
        </p:spPr>
        <p:txBody>
          <a:bodyPr wrap="square" lIns="0" rIns="0" tIns="0" bIns="0" anchor="t">
            <a:noAutofit/>
          </a:bodyPr>
          <a:lstStyle/>
          <a:p>
            <a:pPr algn="l">
              <a:lnSpc>
                <a:spcPct val="128000"/>
              </a:lnSpc>
            </a:pPr>
            <a:r>
              <a:rPr sz="1200" b="1" i="0">
                <a:solidFill>
                  <a:srgbClr val="EDE8E1"/>
                </a:solidFill>
                <a:latin typeface="IBM Plex Sans"/>
                <a:ea typeface="IBM Plex Sans"/>
                <a:cs typeface="IBM Plex Sans Arabic"/>
              </a:rPr>
              <a:t>Goes well with</a:t>
            </a:r>
            <a:r>
              <a:rPr sz="1100" b="0" i="0">
                <a:solidFill>
                  <a:srgbClr val="C8C1B7"/>
                </a:solidFill>
                <a:latin typeface="IBM Plex Sans"/>
                <a:ea typeface="IBM Plex Sans"/>
                <a:cs typeface="IBM Plex Sans Arabic"/>
              </a:rPr>
              <a:t>  charcoal, spices, skewers</a:t>
            </a:r>
          </a:p>
        </p:txBody>
      </p:sp>
      <p:pic>
        <p:nvPicPr>
          <p:cNvPr id="22" name="Picture 21" descr="logo-bone.png"/>
          <p:cNvPicPr>
            <a:picLocks noChangeAspect="1"/>
          </p:cNvPicPr>
          <p:nvPr/>
        </p:nvPicPr>
        <p:blipFill>
          <a:blip r:embed="rId4"/>
          <a:stretch>
            <a:fillRect/>
          </a:stretch>
        </p:blipFill>
        <p:spPr>
          <a:xfrm>
            <a:off x="762000" y="6426200"/>
            <a:ext cx="208788" cy="152400"/>
          </a:xfrm>
          <a:prstGeom prst="rect">
            <a:avLst/>
          </a:prstGeom>
        </p:spPr>
      </p:pic>
      <p:sp>
        <p:nvSpPr>
          <p:cNvPr id="23" name="TextBox 22"/>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4" name="TextBox 23"/>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14</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ECE2"/>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13</a:t>
            </a:r>
            <a:r>
              <a:rPr sz="950" b="0" i="0" spc="240">
                <a:solidFill>
                  <a:srgbClr val="7A6E62"/>
                </a:solidFill>
                <a:latin typeface="IBM Plex Mono"/>
                <a:ea typeface="IBM Plex Mono"/>
                <a:cs typeface="IBM Plex Sans Arabic"/>
              </a:rPr>
              <a:t>  CLEAR PRICES</a:t>
            </a:r>
          </a:p>
        </p:txBody>
      </p:sp>
      <p:sp>
        <p:nvSpPr>
          <p:cNvPr id="4" name="TextBox 3"/>
          <p:cNvSpPr txBox="1"/>
          <p:nvPr/>
        </p:nvSpPr>
        <p:spPr>
          <a:xfrm>
            <a:off x="762000" y="952500"/>
            <a:ext cx="4445000" cy="984250"/>
          </a:xfrm>
          <a:prstGeom prst="rect">
            <a:avLst/>
          </a:prstGeom>
          <a:noFill/>
        </p:spPr>
        <p:txBody>
          <a:bodyPr wrap="square" lIns="0" rIns="0" tIns="0" bIns="0" anchor="t">
            <a:noAutofit/>
          </a:bodyPr>
          <a:lstStyle/>
          <a:p>
            <a:pPr algn="l">
              <a:lnSpc>
                <a:spcPct val="106000"/>
              </a:lnSpc>
            </a:pPr>
            <a:r>
              <a:rPr sz="3200" b="1" i="0" spc="-50">
                <a:solidFill>
                  <a:srgbClr val="1A1512"/>
                </a:solidFill>
                <a:latin typeface="Alexandria"/>
                <a:ea typeface="Alexandria"/>
                <a:cs typeface="IBM Plex Sans Arabic"/>
              </a:rPr>
              <a:t>Clear prices.</a:t>
            </a:r>
          </a:p>
          <a:p>
            <a:pPr algn="l">
              <a:lnSpc>
                <a:spcPct val="106000"/>
              </a:lnSpc>
            </a:pPr>
            <a:r>
              <a:rPr sz="3200" b="1" i="0" spc="-50">
                <a:solidFill>
                  <a:srgbClr val="FF5A36"/>
                </a:solidFill>
                <a:latin typeface="Alexandria"/>
                <a:ea typeface="Alexandria"/>
                <a:cs typeface="IBM Plex Sans Arabic"/>
              </a:rPr>
              <a:t>No surprises.</a:t>
            </a:r>
          </a:p>
        </p:txBody>
      </p:sp>
      <p:sp>
        <p:nvSpPr>
          <p:cNvPr id="5" name="TextBox 4"/>
          <p:cNvSpPr txBox="1"/>
          <p:nvPr/>
        </p:nvSpPr>
        <p:spPr>
          <a:xfrm>
            <a:off x="762000" y="2095500"/>
            <a:ext cx="3937000" cy="1270000"/>
          </a:xfrm>
          <a:prstGeom prst="rect">
            <a:avLst/>
          </a:prstGeom>
          <a:noFill/>
        </p:spPr>
        <p:txBody>
          <a:bodyPr wrap="square" lIns="0" rIns="0" tIns="0" bIns="0" anchor="t">
            <a:noAutofit/>
          </a:bodyPr>
          <a:lstStyle/>
          <a:p>
            <a:pPr algn="l">
              <a:lnSpc>
                <a:spcPct val="145000"/>
              </a:lnSpc>
            </a:pPr>
            <a:r>
              <a:rPr sz="1400" b="0" i="0">
                <a:solidFill>
                  <a:srgbClr val="3A322C"/>
                </a:solidFill>
                <a:latin typeface="IBM Plex Sans"/>
                <a:ea typeface="IBM Plex Sans"/>
                <a:cs typeface="IBM Plex Sans Arabic"/>
              </a:rPr>
              <a:t>Every extra shows its price before you add it. Cutting never costs anything.</a:t>
            </a:r>
          </a:p>
        </p:txBody>
      </p:sp>
      <p:sp>
        <p:nvSpPr>
          <p:cNvPr id="6" name="TextBox 5"/>
          <p:cNvSpPr txBox="1"/>
          <p:nvPr/>
        </p:nvSpPr>
        <p:spPr>
          <a:xfrm>
            <a:off x="762000" y="5588000"/>
            <a:ext cx="4064000" cy="508000"/>
          </a:xfrm>
          <a:prstGeom prst="rect">
            <a:avLst/>
          </a:prstGeom>
          <a:noFill/>
        </p:spPr>
        <p:txBody>
          <a:bodyPr wrap="square" lIns="0" rIns="0" tIns="0" bIns="0" anchor="t">
            <a:noAutofit/>
          </a:bodyPr>
          <a:lstStyle/>
          <a:p>
            <a:pPr algn="l">
              <a:lnSpc>
                <a:spcPct val="140000"/>
              </a:lnSpc>
            </a:pPr>
            <a:r>
              <a:rPr sz="950" b="0" i="0">
                <a:solidFill>
                  <a:srgbClr val="7A6E62"/>
                </a:solidFill>
                <a:latin typeface="IBM Plex Sans"/>
                <a:ea typeface="IBM Plex Sans"/>
                <a:cs typeface="IBM Plex Sans Arabic"/>
              </a:rPr>
              <a:t>All prices in SAR, 15% VAT included. Delivery to Riyadh, Jeddah, Dammam, Khobar, Makkah and Madinah. Demo prices.</a:t>
            </a:r>
          </a:p>
        </p:txBody>
      </p:sp>
      <p:sp>
        <p:nvSpPr>
          <p:cNvPr id="7" name="Rectangle 6"/>
          <p:cNvSpPr/>
          <p:nvPr/>
        </p:nvSpPr>
        <p:spPr>
          <a:xfrm>
            <a:off x="5461000" y="698500"/>
            <a:ext cx="5969000" cy="5334000"/>
          </a:xfrm>
          <a:prstGeom prst="rect">
            <a:avLst/>
          </a:prstGeom>
          <a:solidFill>
            <a:srgbClr val="FBF8F3"/>
          </a:solidFill>
          <a:ln>
            <a:noFill/>
          </a:ln>
          <a:effectLst/>
        </p:spPr>
        <p:txBody>
          <a:bodyPr rtlCol="0" anchor="ctr" lIns="0" rIns="0"/>
          <a:lstStyle/>
          <a:p>
            <a:pPr algn="ctr"/>
          </a:p>
        </p:txBody>
      </p:sp>
      <p:sp>
        <p:nvSpPr>
          <p:cNvPr id="8" name="Freeform 7"/>
          <p:cNvSpPr/>
          <p:nvPr/>
        </p:nvSpPr>
        <p:spPr>
          <a:xfrm>
            <a:off x="5461000" y="692150"/>
            <a:ext cx="5969000" cy="82550"/>
          </a:xfrm>
          <a:custGeom>
            <a:avLst/>
            <a:gdLst/>
            <a:ahLst/>
            <a:cxnLst/>
            <a:rect l="l" t="t" r="r" b="b"/>
            <a:pathLst>
              <a:path w="5969000" h="82550">
                <a:moveTo>
                  <a:pt x="0" y="0"/>
                </a:moveTo>
                <a:lnTo>
                  <a:pt x="76526" y="82550"/>
                </a:lnTo>
                <a:lnTo>
                  <a:pt x="153051" y="0"/>
                </a:lnTo>
                <a:lnTo>
                  <a:pt x="229577" y="82550"/>
                </a:lnTo>
                <a:lnTo>
                  <a:pt x="306103" y="0"/>
                </a:lnTo>
                <a:lnTo>
                  <a:pt x="382628" y="82550"/>
                </a:lnTo>
                <a:lnTo>
                  <a:pt x="459154" y="0"/>
                </a:lnTo>
                <a:lnTo>
                  <a:pt x="535679" y="82550"/>
                </a:lnTo>
                <a:lnTo>
                  <a:pt x="612205" y="0"/>
                </a:lnTo>
                <a:lnTo>
                  <a:pt x="688731" y="82550"/>
                </a:lnTo>
                <a:lnTo>
                  <a:pt x="765256" y="0"/>
                </a:lnTo>
                <a:lnTo>
                  <a:pt x="841782" y="82550"/>
                </a:lnTo>
                <a:lnTo>
                  <a:pt x="918308" y="0"/>
                </a:lnTo>
                <a:lnTo>
                  <a:pt x="994833" y="82550"/>
                </a:lnTo>
                <a:lnTo>
                  <a:pt x="1071359" y="0"/>
                </a:lnTo>
                <a:lnTo>
                  <a:pt x="1147885" y="82550"/>
                </a:lnTo>
                <a:lnTo>
                  <a:pt x="1224410" y="0"/>
                </a:lnTo>
                <a:lnTo>
                  <a:pt x="1300936" y="82550"/>
                </a:lnTo>
                <a:lnTo>
                  <a:pt x="1377462" y="0"/>
                </a:lnTo>
                <a:lnTo>
                  <a:pt x="1453987" y="82550"/>
                </a:lnTo>
                <a:lnTo>
                  <a:pt x="1530513" y="0"/>
                </a:lnTo>
                <a:lnTo>
                  <a:pt x="1607038" y="82550"/>
                </a:lnTo>
                <a:lnTo>
                  <a:pt x="1683564" y="0"/>
                </a:lnTo>
                <a:lnTo>
                  <a:pt x="1760090" y="82550"/>
                </a:lnTo>
                <a:lnTo>
                  <a:pt x="1836615" y="0"/>
                </a:lnTo>
                <a:lnTo>
                  <a:pt x="1913141" y="82550"/>
                </a:lnTo>
                <a:lnTo>
                  <a:pt x="1989667" y="0"/>
                </a:lnTo>
                <a:lnTo>
                  <a:pt x="2066192" y="82550"/>
                </a:lnTo>
                <a:lnTo>
                  <a:pt x="2142718" y="0"/>
                </a:lnTo>
                <a:lnTo>
                  <a:pt x="2219244" y="82550"/>
                </a:lnTo>
                <a:lnTo>
                  <a:pt x="2295769" y="0"/>
                </a:lnTo>
                <a:lnTo>
                  <a:pt x="2372295" y="82550"/>
                </a:lnTo>
                <a:lnTo>
                  <a:pt x="2448821" y="0"/>
                </a:lnTo>
                <a:lnTo>
                  <a:pt x="2525346" y="82550"/>
                </a:lnTo>
                <a:lnTo>
                  <a:pt x="2601872" y="0"/>
                </a:lnTo>
                <a:lnTo>
                  <a:pt x="2678397" y="82550"/>
                </a:lnTo>
                <a:lnTo>
                  <a:pt x="2754923" y="0"/>
                </a:lnTo>
                <a:lnTo>
                  <a:pt x="2831449" y="82550"/>
                </a:lnTo>
                <a:lnTo>
                  <a:pt x="2907974" y="0"/>
                </a:lnTo>
                <a:lnTo>
                  <a:pt x="2984500" y="82550"/>
                </a:lnTo>
                <a:lnTo>
                  <a:pt x="3061026" y="0"/>
                </a:lnTo>
                <a:lnTo>
                  <a:pt x="3137551" y="82550"/>
                </a:lnTo>
                <a:lnTo>
                  <a:pt x="3214077" y="0"/>
                </a:lnTo>
                <a:lnTo>
                  <a:pt x="3290603" y="82550"/>
                </a:lnTo>
                <a:lnTo>
                  <a:pt x="3367128" y="0"/>
                </a:lnTo>
                <a:lnTo>
                  <a:pt x="3443654" y="82550"/>
                </a:lnTo>
                <a:lnTo>
                  <a:pt x="3520179" y="0"/>
                </a:lnTo>
                <a:lnTo>
                  <a:pt x="3596705" y="82550"/>
                </a:lnTo>
                <a:lnTo>
                  <a:pt x="3673231" y="0"/>
                </a:lnTo>
                <a:lnTo>
                  <a:pt x="3749756" y="82550"/>
                </a:lnTo>
                <a:lnTo>
                  <a:pt x="3826282" y="0"/>
                </a:lnTo>
                <a:lnTo>
                  <a:pt x="3902808" y="82550"/>
                </a:lnTo>
                <a:lnTo>
                  <a:pt x="3979333" y="0"/>
                </a:lnTo>
                <a:lnTo>
                  <a:pt x="4055859" y="82550"/>
                </a:lnTo>
                <a:lnTo>
                  <a:pt x="4132385" y="0"/>
                </a:lnTo>
                <a:lnTo>
                  <a:pt x="4208910" y="82550"/>
                </a:lnTo>
                <a:lnTo>
                  <a:pt x="4285436" y="0"/>
                </a:lnTo>
                <a:lnTo>
                  <a:pt x="4361962" y="82550"/>
                </a:lnTo>
                <a:lnTo>
                  <a:pt x="4438487" y="0"/>
                </a:lnTo>
                <a:lnTo>
                  <a:pt x="4515013" y="82550"/>
                </a:lnTo>
                <a:lnTo>
                  <a:pt x="4591538" y="0"/>
                </a:lnTo>
                <a:lnTo>
                  <a:pt x="4668064" y="82550"/>
                </a:lnTo>
                <a:lnTo>
                  <a:pt x="4744590" y="0"/>
                </a:lnTo>
                <a:lnTo>
                  <a:pt x="4821115" y="82550"/>
                </a:lnTo>
                <a:lnTo>
                  <a:pt x="4897641" y="0"/>
                </a:lnTo>
                <a:lnTo>
                  <a:pt x="4974167" y="82550"/>
                </a:lnTo>
                <a:lnTo>
                  <a:pt x="5050692" y="0"/>
                </a:lnTo>
                <a:lnTo>
                  <a:pt x="5127218" y="82550"/>
                </a:lnTo>
                <a:lnTo>
                  <a:pt x="5203744" y="0"/>
                </a:lnTo>
                <a:lnTo>
                  <a:pt x="5280269" y="82550"/>
                </a:lnTo>
                <a:lnTo>
                  <a:pt x="5356795" y="0"/>
                </a:lnTo>
                <a:lnTo>
                  <a:pt x="5433321" y="82550"/>
                </a:lnTo>
                <a:lnTo>
                  <a:pt x="5509846" y="0"/>
                </a:lnTo>
                <a:lnTo>
                  <a:pt x="5586372" y="82550"/>
                </a:lnTo>
                <a:lnTo>
                  <a:pt x="5662897" y="0"/>
                </a:lnTo>
                <a:lnTo>
                  <a:pt x="5739423" y="82550"/>
                </a:lnTo>
                <a:lnTo>
                  <a:pt x="5815949" y="0"/>
                </a:lnTo>
                <a:lnTo>
                  <a:pt x="5892474" y="82550"/>
                </a:lnTo>
                <a:lnTo>
                  <a:pt x="5969000" y="0"/>
                </a:lnTo>
                <a:close/>
              </a:path>
            </a:pathLst>
          </a:custGeom>
          <a:solidFill>
            <a:srgbClr val="F2ECE2"/>
          </a:solidFill>
          <a:ln>
            <a:noFill/>
          </a:ln>
          <a:effectLst/>
        </p:spPr>
        <p:txBody>
          <a:bodyPr rtlCol="0" anchor="ctr"/>
          <a:lstStyle/>
          <a:p>
            <a:pPr algn="ctr"/>
          </a:p>
        </p:txBody>
      </p:sp>
      <p:sp>
        <p:nvSpPr>
          <p:cNvPr id="9" name="Freeform 8"/>
          <p:cNvSpPr/>
          <p:nvPr/>
        </p:nvSpPr>
        <p:spPr>
          <a:xfrm>
            <a:off x="5461000" y="5956300"/>
            <a:ext cx="5969000" cy="82550"/>
          </a:xfrm>
          <a:custGeom>
            <a:avLst/>
            <a:gdLst/>
            <a:ahLst/>
            <a:cxnLst/>
            <a:rect l="l" t="t" r="r" b="b"/>
            <a:pathLst>
              <a:path w="5969000" h="82550">
                <a:moveTo>
                  <a:pt x="0" y="82550"/>
                </a:moveTo>
                <a:lnTo>
                  <a:pt x="76526" y="0"/>
                </a:lnTo>
                <a:lnTo>
                  <a:pt x="153051" y="82550"/>
                </a:lnTo>
                <a:lnTo>
                  <a:pt x="229577" y="0"/>
                </a:lnTo>
                <a:lnTo>
                  <a:pt x="306103" y="82550"/>
                </a:lnTo>
                <a:lnTo>
                  <a:pt x="382628" y="0"/>
                </a:lnTo>
                <a:lnTo>
                  <a:pt x="459154" y="82550"/>
                </a:lnTo>
                <a:lnTo>
                  <a:pt x="535679" y="0"/>
                </a:lnTo>
                <a:lnTo>
                  <a:pt x="612205" y="82550"/>
                </a:lnTo>
                <a:lnTo>
                  <a:pt x="688731" y="0"/>
                </a:lnTo>
                <a:lnTo>
                  <a:pt x="765256" y="82550"/>
                </a:lnTo>
                <a:lnTo>
                  <a:pt x="841782" y="0"/>
                </a:lnTo>
                <a:lnTo>
                  <a:pt x="918308" y="82550"/>
                </a:lnTo>
                <a:lnTo>
                  <a:pt x="994833" y="0"/>
                </a:lnTo>
                <a:lnTo>
                  <a:pt x="1071359" y="82550"/>
                </a:lnTo>
                <a:lnTo>
                  <a:pt x="1147885" y="0"/>
                </a:lnTo>
                <a:lnTo>
                  <a:pt x="1224410" y="82550"/>
                </a:lnTo>
                <a:lnTo>
                  <a:pt x="1300936" y="0"/>
                </a:lnTo>
                <a:lnTo>
                  <a:pt x="1377462" y="82550"/>
                </a:lnTo>
                <a:lnTo>
                  <a:pt x="1453987" y="0"/>
                </a:lnTo>
                <a:lnTo>
                  <a:pt x="1530513" y="82550"/>
                </a:lnTo>
                <a:lnTo>
                  <a:pt x="1607038" y="0"/>
                </a:lnTo>
                <a:lnTo>
                  <a:pt x="1683564" y="82550"/>
                </a:lnTo>
                <a:lnTo>
                  <a:pt x="1760090" y="0"/>
                </a:lnTo>
                <a:lnTo>
                  <a:pt x="1836615" y="82550"/>
                </a:lnTo>
                <a:lnTo>
                  <a:pt x="1913141" y="0"/>
                </a:lnTo>
                <a:lnTo>
                  <a:pt x="1989667" y="82550"/>
                </a:lnTo>
                <a:lnTo>
                  <a:pt x="2066192" y="0"/>
                </a:lnTo>
                <a:lnTo>
                  <a:pt x="2142718" y="82550"/>
                </a:lnTo>
                <a:lnTo>
                  <a:pt x="2219244" y="0"/>
                </a:lnTo>
                <a:lnTo>
                  <a:pt x="2295769" y="82550"/>
                </a:lnTo>
                <a:lnTo>
                  <a:pt x="2372295" y="0"/>
                </a:lnTo>
                <a:lnTo>
                  <a:pt x="2448821" y="82550"/>
                </a:lnTo>
                <a:lnTo>
                  <a:pt x="2525346" y="0"/>
                </a:lnTo>
                <a:lnTo>
                  <a:pt x="2601872" y="82550"/>
                </a:lnTo>
                <a:lnTo>
                  <a:pt x="2678397" y="0"/>
                </a:lnTo>
                <a:lnTo>
                  <a:pt x="2754923" y="82550"/>
                </a:lnTo>
                <a:lnTo>
                  <a:pt x="2831449" y="0"/>
                </a:lnTo>
                <a:lnTo>
                  <a:pt x="2907974" y="82550"/>
                </a:lnTo>
                <a:lnTo>
                  <a:pt x="2984500" y="0"/>
                </a:lnTo>
                <a:lnTo>
                  <a:pt x="3061026" y="82550"/>
                </a:lnTo>
                <a:lnTo>
                  <a:pt x="3137551" y="0"/>
                </a:lnTo>
                <a:lnTo>
                  <a:pt x="3214077" y="82550"/>
                </a:lnTo>
                <a:lnTo>
                  <a:pt x="3290603" y="0"/>
                </a:lnTo>
                <a:lnTo>
                  <a:pt x="3367128" y="82550"/>
                </a:lnTo>
                <a:lnTo>
                  <a:pt x="3443654" y="0"/>
                </a:lnTo>
                <a:lnTo>
                  <a:pt x="3520179" y="82550"/>
                </a:lnTo>
                <a:lnTo>
                  <a:pt x="3596705" y="0"/>
                </a:lnTo>
                <a:lnTo>
                  <a:pt x="3673231" y="82550"/>
                </a:lnTo>
                <a:lnTo>
                  <a:pt x="3749756" y="0"/>
                </a:lnTo>
                <a:lnTo>
                  <a:pt x="3826282" y="82550"/>
                </a:lnTo>
                <a:lnTo>
                  <a:pt x="3902808" y="0"/>
                </a:lnTo>
                <a:lnTo>
                  <a:pt x="3979333" y="82550"/>
                </a:lnTo>
                <a:lnTo>
                  <a:pt x="4055859" y="0"/>
                </a:lnTo>
                <a:lnTo>
                  <a:pt x="4132385" y="82550"/>
                </a:lnTo>
                <a:lnTo>
                  <a:pt x="4208910" y="0"/>
                </a:lnTo>
                <a:lnTo>
                  <a:pt x="4285436" y="82550"/>
                </a:lnTo>
                <a:lnTo>
                  <a:pt x="4361962" y="0"/>
                </a:lnTo>
                <a:lnTo>
                  <a:pt x="4438487" y="82550"/>
                </a:lnTo>
                <a:lnTo>
                  <a:pt x="4515013" y="0"/>
                </a:lnTo>
                <a:lnTo>
                  <a:pt x="4591538" y="82550"/>
                </a:lnTo>
                <a:lnTo>
                  <a:pt x="4668064" y="0"/>
                </a:lnTo>
                <a:lnTo>
                  <a:pt x="4744590" y="82550"/>
                </a:lnTo>
                <a:lnTo>
                  <a:pt x="4821115" y="0"/>
                </a:lnTo>
                <a:lnTo>
                  <a:pt x="4897641" y="82550"/>
                </a:lnTo>
                <a:lnTo>
                  <a:pt x="4974167" y="0"/>
                </a:lnTo>
                <a:lnTo>
                  <a:pt x="5050692" y="82550"/>
                </a:lnTo>
                <a:lnTo>
                  <a:pt x="5127218" y="0"/>
                </a:lnTo>
                <a:lnTo>
                  <a:pt x="5203744" y="82550"/>
                </a:lnTo>
                <a:lnTo>
                  <a:pt x="5280269" y="0"/>
                </a:lnTo>
                <a:lnTo>
                  <a:pt x="5356795" y="82550"/>
                </a:lnTo>
                <a:lnTo>
                  <a:pt x="5433321" y="0"/>
                </a:lnTo>
                <a:lnTo>
                  <a:pt x="5509846" y="82550"/>
                </a:lnTo>
                <a:lnTo>
                  <a:pt x="5586372" y="0"/>
                </a:lnTo>
                <a:lnTo>
                  <a:pt x="5662897" y="82550"/>
                </a:lnTo>
                <a:lnTo>
                  <a:pt x="5739423" y="0"/>
                </a:lnTo>
                <a:lnTo>
                  <a:pt x="5815949" y="82550"/>
                </a:lnTo>
                <a:lnTo>
                  <a:pt x="5892474" y="0"/>
                </a:lnTo>
                <a:lnTo>
                  <a:pt x="5969000" y="82550"/>
                </a:lnTo>
                <a:close/>
              </a:path>
            </a:pathLst>
          </a:custGeom>
          <a:solidFill>
            <a:srgbClr val="F2ECE2"/>
          </a:solidFill>
          <a:ln>
            <a:noFill/>
          </a:ln>
          <a:effectLst/>
        </p:spPr>
        <p:txBody>
          <a:bodyPr rtlCol="0" anchor="ctr"/>
          <a:lstStyle/>
          <a:p>
            <a:pPr algn="ctr"/>
          </a:p>
        </p:txBody>
      </p:sp>
      <p:sp>
        <p:nvSpPr>
          <p:cNvPr id="10" name="TextBox 9"/>
          <p:cNvSpPr txBox="1"/>
          <p:nvPr/>
        </p:nvSpPr>
        <p:spPr>
          <a:xfrm>
            <a:off x="5778500" y="1016000"/>
            <a:ext cx="5334000" cy="190500"/>
          </a:xfrm>
          <a:prstGeom prst="rect">
            <a:avLst/>
          </a:prstGeom>
          <a:noFill/>
        </p:spPr>
        <p:txBody>
          <a:bodyPr wrap="square" lIns="0" rIns="0" tIns="0" bIns="0" anchor="t">
            <a:noAutofit/>
          </a:bodyPr>
          <a:lstStyle/>
          <a:p>
            <a:pPr algn="ctr">
              <a:lnSpc>
                <a:spcPct val="125000"/>
              </a:lnSpc>
            </a:pPr>
            <a:r>
              <a:rPr sz="850" b="0" i="0" spc="300">
                <a:solidFill>
                  <a:srgbClr val="7A6E62"/>
                </a:solidFill>
                <a:latin typeface="IBM Plex Mono"/>
                <a:ea typeface="IBM Plex Mono"/>
                <a:cs typeface="IBM Plex Sans Arabic"/>
              </a:rPr>
              <a:t>PRICE LIST · SAR</a:t>
            </a:r>
          </a:p>
        </p:txBody>
      </p:sp>
      <p:cxnSp>
        <p:nvCxnSpPr>
          <p:cNvPr id="11" name="Connector 10"/>
          <p:cNvCxnSpPr/>
          <p:nvPr/>
        </p:nvCxnSpPr>
        <p:spPr>
          <a:xfrm>
            <a:off x="5778500" y="1358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778500" y="1460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Cuts</a:t>
            </a:r>
          </a:p>
        </p:txBody>
      </p:sp>
      <p:sp>
        <p:nvSpPr>
          <p:cNvPr id="13" name="TextBox 12"/>
          <p:cNvSpPr txBox="1"/>
          <p:nvPr/>
        </p:nvSpPr>
        <p:spPr>
          <a:xfrm>
            <a:off x="5778500" y="1689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per kg, by product</a:t>
            </a:r>
          </a:p>
        </p:txBody>
      </p:sp>
      <p:sp>
        <p:nvSpPr>
          <p:cNvPr id="14" name="TextBox 13"/>
          <p:cNvSpPr txBox="1"/>
          <p:nvPr/>
        </p:nvSpPr>
        <p:spPr>
          <a:xfrm>
            <a:off x="8890000" y="1473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44 – 210</a:t>
            </a:r>
          </a:p>
        </p:txBody>
      </p:sp>
      <p:cxnSp>
        <p:nvCxnSpPr>
          <p:cNvPr id="15" name="Connector 14"/>
          <p:cNvCxnSpPr/>
          <p:nvPr/>
        </p:nvCxnSpPr>
        <p:spPr>
          <a:xfrm>
            <a:off x="5778500" y="1866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778500" y="1968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Carcasses</a:t>
            </a:r>
          </a:p>
        </p:txBody>
      </p:sp>
      <p:sp>
        <p:nvSpPr>
          <p:cNvPr id="17" name="TextBox 16"/>
          <p:cNvSpPr txBox="1"/>
          <p:nvPr/>
        </p:nvSpPr>
        <p:spPr>
          <a:xfrm>
            <a:off x="5778500" y="2197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whole, half, quarter — by size</a:t>
            </a:r>
          </a:p>
        </p:txBody>
      </p:sp>
      <p:sp>
        <p:nvSpPr>
          <p:cNvPr id="18" name="TextBox 17"/>
          <p:cNvSpPr txBox="1"/>
          <p:nvPr/>
        </p:nvSpPr>
        <p:spPr>
          <a:xfrm>
            <a:off x="8890000" y="1981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330 – 1,690</a:t>
            </a:r>
          </a:p>
        </p:txBody>
      </p:sp>
      <p:cxnSp>
        <p:nvCxnSpPr>
          <p:cNvPr id="19" name="Connector 18"/>
          <p:cNvCxnSpPr/>
          <p:nvPr/>
        </p:nvCxnSpPr>
        <p:spPr>
          <a:xfrm>
            <a:off x="5778500" y="2374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78500" y="2476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Cutting</a:t>
            </a:r>
          </a:p>
        </p:txBody>
      </p:sp>
      <p:sp>
        <p:nvSpPr>
          <p:cNvPr id="21" name="TextBox 20"/>
          <p:cNvSpPr txBox="1"/>
          <p:nvPr/>
        </p:nvSpPr>
        <p:spPr>
          <a:xfrm>
            <a:off x="5778500" y="2705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any style</a:t>
            </a:r>
          </a:p>
        </p:txBody>
      </p:sp>
      <p:sp>
        <p:nvSpPr>
          <p:cNvPr id="22" name="TextBox 21"/>
          <p:cNvSpPr txBox="1"/>
          <p:nvPr/>
        </p:nvSpPr>
        <p:spPr>
          <a:xfrm>
            <a:off x="8890000" y="2489200"/>
            <a:ext cx="2222500" cy="317500"/>
          </a:xfrm>
          <a:prstGeom prst="rect">
            <a:avLst/>
          </a:prstGeom>
          <a:noFill/>
        </p:spPr>
        <p:txBody>
          <a:bodyPr wrap="square" lIns="0" rIns="0" tIns="0" bIns="0" anchor="t">
            <a:noAutofit/>
          </a:bodyPr>
          <a:lstStyle/>
          <a:p>
            <a:pPr algn="r">
              <a:lnSpc>
                <a:spcPct val="100000"/>
              </a:lnSpc>
            </a:pPr>
            <a:r>
              <a:rPr sz="1600" b="1" i="0">
                <a:solidFill>
                  <a:srgbClr val="5BC08A"/>
                </a:solidFill>
                <a:latin typeface="IBM Plex Mono"/>
                <a:ea typeface="IBM Plex Mono"/>
                <a:cs typeface="IBM Plex Sans Arabic"/>
              </a:rPr>
              <a:t>FREE</a:t>
            </a:r>
          </a:p>
        </p:txBody>
      </p:sp>
      <p:cxnSp>
        <p:nvCxnSpPr>
          <p:cNvPr id="23" name="Connector 22"/>
          <p:cNvCxnSpPr/>
          <p:nvPr/>
        </p:nvCxnSpPr>
        <p:spPr>
          <a:xfrm>
            <a:off x="5778500" y="2882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778500" y="2984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Marinade</a:t>
            </a:r>
          </a:p>
        </p:txBody>
      </p:sp>
      <p:sp>
        <p:nvSpPr>
          <p:cNvPr id="25" name="TextBox 24"/>
          <p:cNvSpPr txBox="1"/>
          <p:nvPr/>
        </p:nvSpPr>
        <p:spPr>
          <a:xfrm>
            <a:off x="5778500" y="3213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four recipes, per kg</a:t>
            </a:r>
          </a:p>
        </p:txBody>
      </p:sp>
      <p:sp>
        <p:nvSpPr>
          <p:cNvPr id="26" name="TextBox 25"/>
          <p:cNvSpPr txBox="1"/>
          <p:nvPr/>
        </p:nvSpPr>
        <p:spPr>
          <a:xfrm>
            <a:off x="8890000" y="2997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8 – 12</a:t>
            </a:r>
          </a:p>
        </p:txBody>
      </p:sp>
      <p:cxnSp>
        <p:nvCxnSpPr>
          <p:cNvPr id="27" name="Connector 26"/>
          <p:cNvCxnSpPr/>
          <p:nvPr/>
        </p:nvCxnSpPr>
        <p:spPr>
          <a:xfrm>
            <a:off x="5778500" y="3390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778500" y="3492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Ready skewered</a:t>
            </a:r>
          </a:p>
        </p:txBody>
      </p:sp>
      <p:sp>
        <p:nvSpPr>
          <p:cNvPr id="29" name="TextBox 28"/>
          <p:cNvSpPr txBox="1"/>
          <p:nvPr/>
        </p:nvSpPr>
        <p:spPr>
          <a:xfrm>
            <a:off x="5778500" y="3721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per kg</a:t>
            </a:r>
          </a:p>
        </p:txBody>
      </p:sp>
      <p:sp>
        <p:nvSpPr>
          <p:cNvPr id="30" name="TextBox 29"/>
          <p:cNvSpPr txBox="1"/>
          <p:nvPr/>
        </p:nvSpPr>
        <p:spPr>
          <a:xfrm>
            <a:off x="8890000" y="3505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6</a:t>
            </a:r>
          </a:p>
        </p:txBody>
      </p:sp>
      <p:cxnSp>
        <p:nvCxnSpPr>
          <p:cNvPr id="31" name="Connector 30"/>
          <p:cNvCxnSpPr/>
          <p:nvPr/>
        </p:nvCxnSpPr>
        <p:spPr>
          <a:xfrm>
            <a:off x="5778500" y="3898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778500" y="4000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Vacuum packing</a:t>
            </a:r>
          </a:p>
        </p:txBody>
      </p:sp>
      <p:sp>
        <p:nvSpPr>
          <p:cNvPr id="33" name="TextBox 32"/>
          <p:cNvSpPr txBox="1"/>
          <p:nvPr/>
        </p:nvSpPr>
        <p:spPr>
          <a:xfrm>
            <a:off x="5778500" y="4229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per kg · per carcass</a:t>
            </a:r>
          </a:p>
        </p:txBody>
      </p:sp>
      <p:sp>
        <p:nvSpPr>
          <p:cNvPr id="34" name="TextBox 33"/>
          <p:cNvSpPr txBox="1"/>
          <p:nvPr/>
        </p:nvSpPr>
        <p:spPr>
          <a:xfrm>
            <a:off x="8890000" y="4013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3 · 35</a:t>
            </a:r>
          </a:p>
        </p:txBody>
      </p:sp>
      <p:cxnSp>
        <p:nvCxnSpPr>
          <p:cNvPr id="35" name="Connector 34"/>
          <p:cNvCxnSpPr/>
          <p:nvPr/>
        </p:nvCxnSpPr>
        <p:spPr>
          <a:xfrm>
            <a:off x="5778500" y="4406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778500" y="4508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BBQ kit &amp; spices</a:t>
            </a:r>
          </a:p>
        </p:txBody>
      </p:sp>
      <p:sp>
        <p:nvSpPr>
          <p:cNvPr id="37" name="TextBox 36"/>
          <p:cNvSpPr txBox="1"/>
          <p:nvPr/>
        </p:nvSpPr>
        <p:spPr>
          <a:xfrm>
            <a:off x="5778500" y="4737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per item</a:t>
            </a:r>
          </a:p>
        </p:txBody>
      </p:sp>
      <p:sp>
        <p:nvSpPr>
          <p:cNvPr id="38" name="TextBox 37"/>
          <p:cNvSpPr txBox="1"/>
          <p:nvPr/>
        </p:nvSpPr>
        <p:spPr>
          <a:xfrm>
            <a:off x="8890000" y="4521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8 – 25</a:t>
            </a:r>
          </a:p>
        </p:txBody>
      </p:sp>
      <p:cxnSp>
        <p:nvCxnSpPr>
          <p:cNvPr id="39" name="Connector 38"/>
          <p:cNvCxnSpPr/>
          <p:nvPr/>
        </p:nvCxnSpPr>
        <p:spPr>
          <a:xfrm>
            <a:off x="5778500" y="4914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778500" y="5016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Delivery</a:t>
            </a:r>
          </a:p>
        </p:txBody>
      </p:sp>
      <p:sp>
        <p:nvSpPr>
          <p:cNvPr id="41" name="TextBox 40"/>
          <p:cNvSpPr txBox="1"/>
          <p:nvPr/>
        </p:nvSpPr>
        <p:spPr>
          <a:xfrm>
            <a:off x="5778500" y="5245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free from 300 SAR</a:t>
            </a:r>
          </a:p>
        </p:txBody>
      </p:sp>
      <p:sp>
        <p:nvSpPr>
          <p:cNvPr id="42" name="TextBox 41"/>
          <p:cNvSpPr txBox="1"/>
          <p:nvPr/>
        </p:nvSpPr>
        <p:spPr>
          <a:xfrm>
            <a:off x="8890000" y="5029200"/>
            <a:ext cx="2222500" cy="317500"/>
          </a:xfrm>
          <a:prstGeom prst="rect">
            <a:avLst/>
          </a:prstGeom>
          <a:noFill/>
        </p:spPr>
        <p:txBody>
          <a:bodyPr wrap="square" lIns="0" rIns="0" tIns="0" bIns="0" anchor="t">
            <a:noAutofit/>
          </a:bodyPr>
          <a:lstStyle/>
          <a:p>
            <a:pPr algn="r">
              <a:lnSpc>
                <a:spcPct val="100000"/>
              </a:lnSpc>
            </a:pPr>
            <a:r>
              <a:rPr sz="1600" b="1" i="0">
                <a:solidFill>
                  <a:srgbClr val="1A1512"/>
                </a:solidFill>
                <a:latin typeface="IBM Plex Mono"/>
                <a:ea typeface="IBM Plex Mono"/>
                <a:cs typeface="IBM Plex Sans Arabic"/>
              </a:rPr>
              <a:t>25</a:t>
            </a:r>
          </a:p>
        </p:txBody>
      </p:sp>
      <p:cxnSp>
        <p:nvCxnSpPr>
          <p:cNvPr id="43" name="Connector 42"/>
          <p:cNvCxnSpPr/>
          <p:nvPr/>
        </p:nvCxnSpPr>
        <p:spPr>
          <a:xfrm>
            <a:off x="5778500" y="5422900"/>
            <a:ext cx="5334000" cy="0"/>
          </a:xfrm>
          <a:prstGeom prst="line">
            <a:avLst/>
          </a:prstGeom>
          <a:ln w="12700">
            <a:solidFill>
              <a:srgbClr val="C9C0B4"/>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778500" y="5524500"/>
            <a:ext cx="2286000" cy="254000"/>
          </a:xfrm>
          <a:prstGeom prst="rect">
            <a:avLst/>
          </a:prstGeom>
          <a:noFill/>
        </p:spPr>
        <p:txBody>
          <a:bodyPr wrap="square" lIns="0" rIns="0" tIns="0" bIns="0" anchor="t">
            <a:noAutofit/>
          </a:bodyPr>
          <a:lstStyle/>
          <a:p>
            <a:pPr algn="l">
              <a:lnSpc>
                <a:spcPct val="100000"/>
              </a:lnSpc>
            </a:pPr>
            <a:r>
              <a:rPr sz="1400" b="1" i="0">
                <a:solidFill>
                  <a:srgbClr val="1A1512"/>
                </a:solidFill>
                <a:latin typeface="Alexandria"/>
                <a:ea typeface="Alexandria"/>
                <a:cs typeface="IBM Plex Sans Arabic"/>
              </a:rPr>
              <a:t>The advisor</a:t>
            </a:r>
          </a:p>
        </p:txBody>
      </p:sp>
      <p:sp>
        <p:nvSpPr>
          <p:cNvPr id="45" name="TextBox 44"/>
          <p:cNvSpPr txBox="1"/>
          <p:nvPr/>
        </p:nvSpPr>
        <p:spPr>
          <a:xfrm>
            <a:off x="5778500" y="5753100"/>
            <a:ext cx="3048000" cy="190500"/>
          </a:xfrm>
          <a:prstGeom prst="rect">
            <a:avLst/>
          </a:prstGeom>
          <a:noFill/>
        </p:spPr>
        <p:txBody>
          <a:bodyPr wrap="square" lIns="0" rIns="0" tIns="0" bIns="0" anchor="t">
            <a:noAutofit/>
          </a:bodyPr>
          <a:lstStyle/>
          <a:p>
            <a:pPr algn="l">
              <a:lnSpc>
                <a:spcPct val="100000"/>
              </a:lnSpc>
            </a:pPr>
            <a:r>
              <a:rPr sz="950" b="0" i="0">
                <a:solidFill>
                  <a:srgbClr val="7A6E62"/>
                </a:solidFill>
                <a:latin typeface="IBM Plex Sans"/>
                <a:ea typeface="IBM Plex Sans"/>
                <a:cs typeface="IBM Plex Sans Arabic"/>
              </a:rPr>
              <a:t>plans to the gram</a:t>
            </a:r>
          </a:p>
        </p:txBody>
      </p:sp>
      <p:sp>
        <p:nvSpPr>
          <p:cNvPr id="46" name="TextBox 45"/>
          <p:cNvSpPr txBox="1"/>
          <p:nvPr/>
        </p:nvSpPr>
        <p:spPr>
          <a:xfrm>
            <a:off x="8890000" y="5537200"/>
            <a:ext cx="2222500" cy="317500"/>
          </a:xfrm>
          <a:prstGeom prst="rect">
            <a:avLst/>
          </a:prstGeom>
          <a:noFill/>
        </p:spPr>
        <p:txBody>
          <a:bodyPr wrap="square" lIns="0" rIns="0" tIns="0" bIns="0" anchor="t">
            <a:noAutofit/>
          </a:bodyPr>
          <a:lstStyle/>
          <a:p>
            <a:pPr algn="r">
              <a:lnSpc>
                <a:spcPct val="100000"/>
              </a:lnSpc>
            </a:pPr>
            <a:r>
              <a:rPr sz="1600" b="1" i="0">
                <a:solidFill>
                  <a:srgbClr val="5BC08A"/>
                </a:solidFill>
                <a:latin typeface="IBM Plex Mono"/>
                <a:ea typeface="IBM Plex Mono"/>
                <a:cs typeface="IBM Plex Sans Arabic"/>
              </a:rPr>
              <a:t>FREE</a:t>
            </a:r>
          </a:p>
        </p:txBody>
      </p:sp>
      <p:pic>
        <p:nvPicPr>
          <p:cNvPr id="47" name="Picture 46" descr="logo-ink.png"/>
          <p:cNvPicPr>
            <a:picLocks noChangeAspect="1"/>
          </p:cNvPicPr>
          <p:nvPr/>
        </p:nvPicPr>
        <p:blipFill>
          <a:blip r:embed="rId3"/>
          <a:stretch>
            <a:fillRect/>
          </a:stretch>
        </p:blipFill>
        <p:spPr>
          <a:xfrm>
            <a:off x="762000" y="6426200"/>
            <a:ext cx="208788" cy="152400"/>
          </a:xfrm>
          <a:prstGeom prst="rect">
            <a:avLst/>
          </a:prstGeom>
        </p:spPr>
      </p:pic>
      <p:sp>
        <p:nvSpPr>
          <p:cNvPr id="48" name="TextBox 47"/>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A3988B"/>
                </a:solidFill>
                <a:latin typeface="IBM Plex Mono"/>
                <a:ea typeface="IBM Plex Mono"/>
                <a:cs typeface="IBM Plex Sans Arabic"/>
              </a:rPr>
              <a:t>WEBSITE WALKTHROUGH</a:t>
            </a:r>
          </a:p>
        </p:txBody>
      </p:sp>
      <p:sp>
        <p:nvSpPr>
          <p:cNvPr id="49" name="TextBox 48"/>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7A6E62"/>
                </a:solidFill>
                <a:latin typeface="IBM Plex Mono"/>
                <a:ea typeface="IBM Plex Mono"/>
                <a:cs typeface="IBM Plex Sans Arabic"/>
              </a:rPr>
              <a:t>15</a:t>
            </a:r>
            <a:r>
              <a:rPr sz="750" b="0" i="0" spc="150">
                <a:solidFill>
                  <a:srgbClr val="A3988B"/>
                </a:solidFill>
                <a:latin typeface="IBM Plex Mono"/>
                <a:ea typeface="IBM Plex Mono"/>
                <a:cs typeface="IBM Plex Sans Arabic"/>
              </a:rPr>
              <a:t>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14</a:t>
            </a:r>
            <a:r>
              <a:rPr sz="950" b="0" i="0" spc="240">
                <a:solidFill>
                  <a:srgbClr val="8E969D"/>
                </a:solidFill>
                <a:latin typeface="IBM Plex Mono"/>
                <a:ea typeface="IBM Plex Mono"/>
                <a:cs typeface="IBM Plex Sans Arabic"/>
              </a:rPr>
              <a:t>  CART</a:t>
            </a:r>
          </a:p>
        </p:txBody>
      </p:sp>
      <p:sp>
        <p:nvSpPr>
          <p:cNvPr id="4" name="TextBox 3"/>
          <p:cNvSpPr txBox="1"/>
          <p:nvPr/>
        </p:nvSpPr>
        <p:spPr>
          <a:xfrm>
            <a:off x="762000" y="952500"/>
            <a:ext cx="3937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The cart is a</a:t>
            </a:r>
          </a:p>
          <a:p>
            <a:pPr algn="l">
              <a:lnSpc>
                <a:spcPct val="106000"/>
              </a:lnSpc>
            </a:pPr>
            <a:r>
              <a:rPr sz="3000" b="1" i="0" spc="-50">
                <a:solidFill>
                  <a:srgbClr val="FF5A36"/>
                </a:solidFill>
                <a:latin typeface="Alexandria"/>
                <a:ea typeface="Alexandria"/>
                <a:cs typeface="IBM Plex Sans Arabic"/>
              </a:rPr>
              <a:t>draft receipt.</a:t>
            </a:r>
          </a:p>
        </p:txBody>
      </p:sp>
      <p:sp>
        <p:nvSpPr>
          <p:cNvPr id="5" name="Rectangle 4"/>
          <p:cNvSpPr/>
          <p:nvPr/>
        </p:nvSpPr>
        <p:spPr>
          <a:xfrm>
            <a:off x="762000" y="2233295"/>
            <a:ext cx="63500" cy="63500"/>
          </a:xfrm>
          <a:prstGeom prst="rect">
            <a:avLst/>
          </a:prstGeom>
          <a:solidFill>
            <a:srgbClr val="FF5A36"/>
          </a:solidFill>
          <a:ln>
            <a:noFill/>
          </a:ln>
          <a:effectLst/>
        </p:spPr>
        <p:txBody>
          <a:bodyPr rtlCol="0" anchor="ctr" lIns="0" rIns="0"/>
          <a:lstStyle/>
          <a:p>
            <a:pPr algn="ctr"/>
          </a:p>
        </p:txBody>
      </p:sp>
      <p:sp>
        <p:nvSpPr>
          <p:cNvPr id="6" name="TextBox 5"/>
          <p:cNvSpPr txBox="1"/>
          <p:nvPr/>
        </p:nvSpPr>
        <p:spPr>
          <a:xfrm>
            <a:off x="952500" y="2159000"/>
            <a:ext cx="3619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Change weights</a:t>
            </a:r>
            <a:r>
              <a:rPr sz="1300" b="0" i="0">
                <a:solidFill>
                  <a:srgbClr val="C8C1B7"/>
                </a:solidFill>
                <a:latin typeface="IBM Plex Sans"/>
                <a:ea typeface="IBM Plex Sans"/>
                <a:cs typeface="IBM Plex Sans Arabic"/>
              </a:rPr>
              <a:t> with − and + on every line</a:t>
            </a:r>
          </a:p>
        </p:txBody>
      </p:sp>
      <p:sp>
        <p:nvSpPr>
          <p:cNvPr id="7" name="Rectangle 6"/>
          <p:cNvSpPr/>
          <p:nvPr/>
        </p:nvSpPr>
        <p:spPr>
          <a:xfrm>
            <a:off x="762000" y="2557145"/>
            <a:ext cx="63500" cy="63500"/>
          </a:xfrm>
          <a:prstGeom prst="rect">
            <a:avLst/>
          </a:prstGeom>
          <a:solidFill>
            <a:srgbClr val="FF5A36"/>
          </a:solidFill>
          <a:ln>
            <a:noFill/>
          </a:ln>
          <a:effectLst/>
        </p:spPr>
        <p:txBody>
          <a:bodyPr rtlCol="0" anchor="ctr" lIns="0" rIns="0"/>
          <a:lstStyle/>
          <a:p>
            <a:pPr algn="ctr"/>
          </a:p>
        </p:txBody>
      </p:sp>
      <p:sp>
        <p:nvSpPr>
          <p:cNvPr id="8" name="TextBox 7"/>
          <p:cNvSpPr txBox="1"/>
          <p:nvPr/>
        </p:nvSpPr>
        <p:spPr>
          <a:xfrm>
            <a:off x="952500" y="2482850"/>
            <a:ext cx="3619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See the cut and the services</a:t>
            </a:r>
            <a:r>
              <a:rPr sz="1300" b="0" i="0">
                <a:solidFill>
                  <a:srgbClr val="C8C1B7"/>
                </a:solidFill>
                <a:latin typeface="IBM Plex Sans"/>
                <a:ea typeface="IBM Plex Sans"/>
                <a:cs typeface="IBM Plex Sans Arabic"/>
              </a:rPr>
              <a:t> on each item</a:t>
            </a:r>
          </a:p>
        </p:txBody>
      </p:sp>
      <p:sp>
        <p:nvSpPr>
          <p:cNvPr id="9" name="Rectangle 8"/>
          <p:cNvSpPr/>
          <p:nvPr/>
        </p:nvSpPr>
        <p:spPr>
          <a:xfrm>
            <a:off x="762000" y="2880995"/>
            <a:ext cx="63500" cy="63500"/>
          </a:xfrm>
          <a:prstGeom prst="rect">
            <a:avLst/>
          </a:prstGeom>
          <a:solidFill>
            <a:srgbClr val="FF5A36"/>
          </a:solidFill>
          <a:ln>
            <a:noFill/>
          </a:ln>
          <a:effectLst/>
        </p:spPr>
        <p:txBody>
          <a:bodyPr rtlCol="0" anchor="ctr" lIns="0" rIns="0"/>
          <a:lstStyle/>
          <a:p>
            <a:pPr algn="ctr"/>
          </a:p>
        </p:txBody>
      </p:sp>
      <p:sp>
        <p:nvSpPr>
          <p:cNvPr id="10" name="TextBox 9"/>
          <p:cNvSpPr txBox="1"/>
          <p:nvPr/>
        </p:nvSpPr>
        <p:spPr>
          <a:xfrm>
            <a:off x="952500" y="2806700"/>
            <a:ext cx="3619500" cy="4381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Free-delivery bar</a:t>
            </a:r>
            <a:r>
              <a:rPr sz="1300" b="0" i="0">
                <a:solidFill>
                  <a:srgbClr val="C8C1B7"/>
                </a:solidFill>
                <a:latin typeface="IBM Plex Sans"/>
                <a:ea typeface="IBM Plex Sans"/>
                <a:cs typeface="IBM Plex Sans Arabic"/>
              </a:rPr>
              <a:t> shows how close you are to 300 SAR</a:t>
            </a:r>
          </a:p>
        </p:txBody>
      </p:sp>
      <p:sp>
        <p:nvSpPr>
          <p:cNvPr id="11" name="Rectangle 10"/>
          <p:cNvSpPr/>
          <p:nvPr/>
        </p:nvSpPr>
        <p:spPr>
          <a:xfrm>
            <a:off x="762000" y="3420745"/>
            <a:ext cx="63500" cy="63500"/>
          </a:xfrm>
          <a:prstGeom prst="rect">
            <a:avLst/>
          </a:prstGeom>
          <a:solidFill>
            <a:srgbClr val="FF5A36"/>
          </a:solidFill>
          <a:ln>
            <a:noFill/>
          </a:ln>
          <a:effectLst/>
        </p:spPr>
        <p:txBody>
          <a:bodyPr rtlCol="0" anchor="ctr" lIns="0" rIns="0"/>
          <a:lstStyle/>
          <a:p>
            <a:pPr algn="ctr"/>
          </a:p>
        </p:txBody>
      </p:sp>
      <p:sp>
        <p:nvSpPr>
          <p:cNvPr id="12" name="TextBox 11"/>
          <p:cNvSpPr txBox="1"/>
          <p:nvPr/>
        </p:nvSpPr>
        <p:spPr>
          <a:xfrm>
            <a:off x="952500" y="3346450"/>
            <a:ext cx="3619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Totals</a:t>
            </a:r>
            <a:r>
              <a:rPr sz="1300" b="0" i="0">
                <a:solidFill>
                  <a:srgbClr val="C8C1B7"/>
                </a:solidFill>
                <a:latin typeface="IBM Plex Sans"/>
                <a:ea typeface="IBM Plex Sans"/>
                <a:cs typeface="IBM Plex Sans Arabic"/>
              </a:rPr>
              <a:t> split into meat, services and kit, with VAT</a:t>
            </a:r>
          </a:p>
        </p:txBody>
      </p:sp>
      <p:sp>
        <p:nvSpPr>
          <p:cNvPr id="13" name="Rectangle 12"/>
          <p:cNvSpPr/>
          <p:nvPr/>
        </p:nvSpPr>
        <p:spPr>
          <a:xfrm>
            <a:off x="762000" y="3744595"/>
            <a:ext cx="63500" cy="63500"/>
          </a:xfrm>
          <a:prstGeom prst="rect">
            <a:avLst/>
          </a:prstGeom>
          <a:solidFill>
            <a:srgbClr val="FF5A36"/>
          </a:solidFill>
          <a:ln>
            <a:noFill/>
          </a:ln>
          <a:effectLst/>
        </p:spPr>
        <p:txBody>
          <a:bodyPr rtlCol="0" anchor="ctr" lIns="0" rIns="0"/>
          <a:lstStyle/>
          <a:p>
            <a:pPr algn="ctr"/>
          </a:p>
        </p:txBody>
      </p:sp>
      <p:sp>
        <p:nvSpPr>
          <p:cNvPr id="14" name="TextBox 13"/>
          <p:cNvSpPr txBox="1"/>
          <p:nvPr/>
        </p:nvSpPr>
        <p:spPr>
          <a:xfrm>
            <a:off x="952500" y="3670300"/>
            <a:ext cx="3619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No sign-in needed</a:t>
            </a:r>
            <a:r>
              <a:rPr sz="1300" b="0" i="0">
                <a:solidFill>
                  <a:srgbClr val="C8C1B7"/>
                </a:solidFill>
                <a:latin typeface="IBM Plex Sans"/>
                <a:ea typeface="IBM Plex Sans"/>
                <a:cs typeface="IBM Plex Sans Arabic"/>
              </a:rPr>
              <a:t> until checkout</a:t>
            </a:r>
          </a:p>
        </p:txBody>
      </p:sp>
      <p:pic>
        <p:nvPicPr>
          <p:cNvPr id="15" name="Picture 14" descr="b-cart.jpg"/>
          <p:cNvPicPr>
            <a:picLocks noChangeAspect="1"/>
          </p:cNvPicPr>
          <p:nvPr/>
        </p:nvPicPr>
        <p:blipFill>
          <a:blip r:embed="rId3"/>
          <a:stretch>
            <a:fillRect/>
          </a:stretch>
        </p:blipFill>
        <p:spPr>
          <a:xfrm>
            <a:off x="4724400" y="596900"/>
            <a:ext cx="7061200" cy="5664200"/>
          </a:xfrm>
          <a:prstGeom prst="rect">
            <a:avLst/>
          </a:prstGeom>
        </p:spPr>
      </p:pic>
      <p:pic>
        <p:nvPicPr>
          <p:cNvPr id="16" name="Picture 15" descr="logo-bone.png"/>
          <p:cNvPicPr>
            <a:picLocks noChangeAspect="1"/>
          </p:cNvPicPr>
          <p:nvPr/>
        </p:nvPicPr>
        <p:blipFill>
          <a:blip r:embed="rId4"/>
          <a:stretch>
            <a:fillRect/>
          </a:stretch>
        </p:blipFill>
        <p:spPr>
          <a:xfrm>
            <a:off x="762000" y="6426200"/>
            <a:ext cx="208788" cy="152400"/>
          </a:xfrm>
          <a:prstGeom prst="rect">
            <a:avLst/>
          </a:prstGeom>
        </p:spPr>
      </p:pic>
      <p:sp>
        <p:nvSpPr>
          <p:cNvPr id="17" name="TextBox 16"/>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18" name="TextBox 17"/>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16</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15</a:t>
            </a:r>
            <a:r>
              <a:rPr sz="950" b="0" i="0" spc="240">
                <a:solidFill>
                  <a:srgbClr val="8E969D"/>
                </a:solidFill>
                <a:latin typeface="IBM Plex Mono"/>
                <a:ea typeface="IBM Plex Mono"/>
                <a:cs typeface="IBM Plex Sans Arabic"/>
              </a:rPr>
              <a:t>  SIGN IN</a:t>
            </a:r>
          </a:p>
        </p:txBody>
      </p:sp>
      <p:sp>
        <p:nvSpPr>
          <p:cNvPr id="4" name="TextBox 3"/>
          <p:cNvSpPr txBox="1"/>
          <p:nvPr/>
        </p:nvSpPr>
        <p:spPr>
          <a:xfrm>
            <a:off x="762000" y="952500"/>
            <a:ext cx="5715000" cy="984250"/>
          </a:xfrm>
          <a:prstGeom prst="rect">
            <a:avLst/>
          </a:prstGeom>
          <a:noFill/>
        </p:spPr>
        <p:txBody>
          <a:bodyPr wrap="square" lIns="0" rIns="0" tIns="0" bIns="0" anchor="t">
            <a:noAutofit/>
          </a:bodyPr>
          <a:lstStyle/>
          <a:p>
            <a:pPr algn="l">
              <a:lnSpc>
                <a:spcPct val="106000"/>
              </a:lnSpc>
            </a:pPr>
            <a:r>
              <a:rPr sz="3200" b="1" i="0" spc="-50">
                <a:solidFill>
                  <a:srgbClr val="EDE8E1"/>
                </a:solidFill>
                <a:latin typeface="Alexandria"/>
                <a:ea typeface="Alexandria"/>
                <a:cs typeface="IBM Plex Sans Arabic"/>
              </a:rPr>
              <a:t>Mobile number.</a:t>
            </a:r>
          </a:p>
          <a:p>
            <a:pPr algn="l">
              <a:lnSpc>
                <a:spcPct val="106000"/>
              </a:lnSpc>
            </a:pPr>
            <a:r>
              <a:rPr sz="3200" b="1" i="0" spc="-50">
                <a:solidFill>
                  <a:srgbClr val="FF5A36"/>
                </a:solidFill>
                <a:latin typeface="Alexandria"/>
                <a:ea typeface="Alexandria"/>
                <a:cs typeface="IBM Plex Sans Arabic"/>
              </a:rPr>
              <a:t>4-digit code. Done.</a:t>
            </a:r>
          </a:p>
        </p:txBody>
      </p:sp>
      <p:sp>
        <p:nvSpPr>
          <p:cNvPr id="5" name="TextBox 4"/>
          <p:cNvSpPr txBox="1"/>
          <p:nvPr/>
        </p:nvSpPr>
        <p:spPr>
          <a:xfrm>
            <a:off x="762000" y="2222500"/>
            <a:ext cx="4445000" cy="1016000"/>
          </a:xfrm>
          <a:prstGeom prst="rect">
            <a:avLst/>
          </a:prstGeom>
          <a:noFill/>
        </p:spPr>
        <p:txBody>
          <a:bodyPr wrap="square" lIns="0" rIns="0" tIns="0" bIns="0" anchor="t">
            <a:noAutofit/>
          </a:bodyPr>
          <a:lstStyle/>
          <a:p>
            <a:pPr algn="l">
              <a:lnSpc>
                <a:spcPct val="145000"/>
              </a:lnSpc>
            </a:pPr>
            <a:r>
              <a:rPr sz="1400" b="0" i="0">
                <a:solidFill>
                  <a:srgbClr val="C8C1B7"/>
                </a:solidFill>
                <a:latin typeface="IBM Plex Sans"/>
                <a:ea typeface="IBM Plex Sans"/>
                <a:cs typeface="IBM Plex Sans Arabic"/>
              </a:rPr>
              <a:t>No passwords and no long forms. The number confirms the order and keeps orders, plans and addresses together.</a:t>
            </a:r>
          </a:p>
        </p:txBody>
      </p:sp>
      <p:sp>
        <p:nvSpPr>
          <p:cNvPr id="6" name="TextBox 5"/>
          <p:cNvSpPr txBox="1"/>
          <p:nvPr/>
        </p:nvSpPr>
        <p:spPr>
          <a:xfrm>
            <a:off x="762000" y="3556000"/>
            <a:ext cx="444500" cy="254000"/>
          </a:xfrm>
          <a:prstGeom prst="rect">
            <a:avLst/>
          </a:prstGeom>
          <a:noFill/>
        </p:spPr>
        <p:txBody>
          <a:bodyPr wrap="square" lIns="0" rIns="0" tIns="0" bIns="0" anchor="t">
            <a:noAutofit/>
          </a:bodyPr>
          <a:lstStyle/>
          <a:p>
            <a:pPr algn="l">
              <a:lnSpc>
                <a:spcPct val="100000"/>
              </a:lnSpc>
            </a:pPr>
            <a:r>
              <a:rPr sz="1200" b="1" i="0">
                <a:solidFill>
                  <a:srgbClr val="FF5A36"/>
                </a:solidFill>
                <a:latin typeface="IBM Plex Mono"/>
                <a:ea typeface="IBM Plex Mono"/>
                <a:cs typeface="IBM Plex Sans Arabic"/>
              </a:rPr>
              <a:t>01</a:t>
            </a:r>
          </a:p>
        </p:txBody>
      </p:sp>
      <p:sp>
        <p:nvSpPr>
          <p:cNvPr id="7" name="TextBox 6"/>
          <p:cNvSpPr txBox="1"/>
          <p:nvPr/>
        </p:nvSpPr>
        <p:spPr>
          <a:xfrm>
            <a:off x="1270000" y="3530600"/>
            <a:ext cx="3937000" cy="254000"/>
          </a:xfrm>
          <a:prstGeom prst="rect">
            <a:avLst/>
          </a:prstGeom>
          <a:noFill/>
        </p:spPr>
        <p:txBody>
          <a:bodyPr wrap="square" lIns="0" rIns="0" tIns="0" bIns="0" anchor="t">
            <a:noAutofit/>
          </a:bodyPr>
          <a:lstStyle/>
          <a:p>
            <a:pPr algn="l">
              <a:lnSpc>
                <a:spcPct val="100000"/>
              </a:lnSpc>
            </a:pPr>
            <a:r>
              <a:rPr sz="1500" b="1" i="0">
                <a:solidFill>
                  <a:srgbClr val="EDE8E1"/>
                </a:solidFill>
                <a:latin typeface="Alexandria"/>
                <a:ea typeface="Alexandria"/>
                <a:cs typeface="IBM Plex Sans Arabic"/>
              </a:rPr>
              <a:t>Type your mobile number</a:t>
            </a:r>
          </a:p>
        </p:txBody>
      </p:sp>
      <p:sp>
        <p:nvSpPr>
          <p:cNvPr id="8" name="TextBox 7"/>
          <p:cNvSpPr txBox="1"/>
          <p:nvPr/>
        </p:nvSpPr>
        <p:spPr>
          <a:xfrm>
            <a:off x="1270000" y="3810000"/>
            <a:ext cx="3937000" cy="215900"/>
          </a:xfrm>
          <a:prstGeom prst="rect">
            <a:avLst/>
          </a:prstGeom>
          <a:noFill/>
        </p:spPr>
        <p:txBody>
          <a:bodyPr wrap="square" lIns="0" rIns="0" tIns="0" bIns="0" anchor="t">
            <a:noAutofit/>
          </a:bodyPr>
          <a:lstStyle/>
          <a:p>
            <a:pPr algn="l">
              <a:lnSpc>
                <a:spcPct val="100000"/>
              </a:lnSpc>
            </a:pPr>
            <a:r>
              <a:rPr sz="1100" b="0" i="0">
                <a:solidFill>
                  <a:srgbClr val="8E969D"/>
                </a:solidFill>
                <a:latin typeface="IBM Plex Sans"/>
                <a:ea typeface="IBM Plex Sans"/>
                <a:cs typeface="IBM Plex Sans Arabic"/>
              </a:rPr>
              <a:t>+966 5X XXX XXXX</a:t>
            </a:r>
          </a:p>
        </p:txBody>
      </p:sp>
      <p:sp>
        <p:nvSpPr>
          <p:cNvPr id="9" name="TextBox 8"/>
          <p:cNvSpPr txBox="1"/>
          <p:nvPr/>
        </p:nvSpPr>
        <p:spPr>
          <a:xfrm>
            <a:off x="762000" y="4254500"/>
            <a:ext cx="444500" cy="254000"/>
          </a:xfrm>
          <a:prstGeom prst="rect">
            <a:avLst/>
          </a:prstGeom>
          <a:noFill/>
        </p:spPr>
        <p:txBody>
          <a:bodyPr wrap="square" lIns="0" rIns="0" tIns="0" bIns="0" anchor="t">
            <a:noAutofit/>
          </a:bodyPr>
          <a:lstStyle/>
          <a:p>
            <a:pPr algn="l">
              <a:lnSpc>
                <a:spcPct val="100000"/>
              </a:lnSpc>
            </a:pPr>
            <a:r>
              <a:rPr sz="1200" b="1" i="0">
                <a:solidFill>
                  <a:srgbClr val="FF5A36"/>
                </a:solidFill>
                <a:latin typeface="IBM Plex Mono"/>
                <a:ea typeface="IBM Plex Mono"/>
                <a:cs typeface="IBM Plex Sans Arabic"/>
              </a:rPr>
              <a:t>02</a:t>
            </a:r>
          </a:p>
        </p:txBody>
      </p:sp>
      <p:sp>
        <p:nvSpPr>
          <p:cNvPr id="10" name="TextBox 9"/>
          <p:cNvSpPr txBox="1"/>
          <p:nvPr/>
        </p:nvSpPr>
        <p:spPr>
          <a:xfrm>
            <a:off x="1270000" y="4229100"/>
            <a:ext cx="3937000" cy="254000"/>
          </a:xfrm>
          <a:prstGeom prst="rect">
            <a:avLst/>
          </a:prstGeom>
          <a:noFill/>
        </p:spPr>
        <p:txBody>
          <a:bodyPr wrap="square" lIns="0" rIns="0" tIns="0" bIns="0" anchor="t">
            <a:noAutofit/>
          </a:bodyPr>
          <a:lstStyle/>
          <a:p>
            <a:pPr algn="l">
              <a:lnSpc>
                <a:spcPct val="100000"/>
              </a:lnSpc>
            </a:pPr>
            <a:r>
              <a:rPr sz="1500" b="1" i="0">
                <a:solidFill>
                  <a:srgbClr val="EDE8E1"/>
                </a:solidFill>
                <a:latin typeface="Alexandria"/>
                <a:ea typeface="Alexandria"/>
                <a:cs typeface="IBM Plex Sans Arabic"/>
              </a:rPr>
              <a:t>Enter the 4-digit code</a:t>
            </a:r>
          </a:p>
        </p:txBody>
      </p:sp>
      <p:sp>
        <p:nvSpPr>
          <p:cNvPr id="11" name="TextBox 10"/>
          <p:cNvSpPr txBox="1"/>
          <p:nvPr/>
        </p:nvSpPr>
        <p:spPr>
          <a:xfrm>
            <a:off x="1270000" y="4508500"/>
            <a:ext cx="3937000" cy="215900"/>
          </a:xfrm>
          <a:prstGeom prst="rect">
            <a:avLst/>
          </a:prstGeom>
          <a:noFill/>
        </p:spPr>
        <p:txBody>
          <a:bodyPr wrap="square" lIns="0" rIns="0" tIns="0" bIns="0" anchor="t">
            <a:noAutofit/>
          </a:bodyPr>
          <a:lstStyle/>
          <a:p>
            <a:pPr algn="l">
              <a:lnSpc>
                <a:spcPct val="100000"/>
              </a:lnSpc>
            </a:pPr>
            <a:r>
              <a:rPr sz="1100" b="0" i="0">
                <a:solidFill>
                  <a:srgbClr val="8E969D"/>
                </a:solidFill>
                <a:latin typeface="IBM Plex Sans"/>
                <a:ea typeface="IBM Plex Sans"/>
                <a:cs typeface="IBM Plex Sans Arabic"/>
              </a:rPr>
              <a:t>sent by SMS</a:t>
            </a:r>
          </a:p>
        </p:txBody>
      </p:sp>
      <p:sp>
        <p:nvSpPr>
          <p:cNvPr id="12" name="TextBox 11"/>
          <p:cNvSpPr txBox="1"/>
          <p:nvPr/>
        </p:nvSpPr>
        <p:spPr>
          <a:xfrm>
            <a:off x="762000" y="4953000"/>
            <a:ext cx="444500" cy="254000"/>
          </a:xfrm>
          <a:prstGeom prst="rect">
            <a:avLst/>
          </a:prstGeom>
          <a:noFill/>
        </p:spPr>
        <p:txBody>
          <a:bodyPr wrap="square" lIns="0" rIns="0" tIns="0" bIns="0" anchor="t">
            <a:noAutofit/>
          </a:bodyPr>
          <a:lstStyle/>
          <a:p>
            <a:pPr algn="l">
              <a:lnSpc>
                <a:spcPct val="100000"/>
              </a:lnSpc>
            </a:pPr>
            <a:r>
              <a:rPr sz="1200" b="1" i="0">
                <a:solidFill>
                  <a:srgbClr val="FF5A36"/>
                </a:solidFill>
                <a:latin typeface="IBM Plex Mono"/>
                <a:ea typeface="IBM Plex Mono"/>
                <a:cs typeface="IBM Plex Sans Arabic"/>
              </a:rPr>
              <a:t>03</a:t>
            </a:r>
          </a:p>
        </p:txBody>
      </p:sp>
      <p:sp>
        <p:nvSpPr>
          <p:cNvPr id="13" name="TextBox 12"/>
          <p:cNvSpPr txBox="1"/>
          <p:nvPr/>
        </p:nvSpPr>
        <p:spPr>
          <a:xfrm>
            <a:off x="1270000" y="4927600"/>
            <a:ext cx="3937000" cy="254000"/>
          </a:xfrm>
          <a:prstGeom prst="rect">
            <a:avLst/>
          </a:prstGeom>
          <a:noFill/>
        </p:spPr>
        <p:txBody>
          <a:bodyPr wrap="square" lIns="0" rIns="0" tIns="0" bIns="0" anchor="t">
            <a:noAutofit/>
          </a:bodyPr>
          <a:lstStyle/>
          <a:p>
            <a:pPr algn="l">
              <a:lnSpc>
                <a:spcPct val="100000"/>
              </a:lnSpc>
            </a:pPr>
            <a:r>
              <a:rPr sz="1500" b="1" i="0">
                <a:solidFill>
                  <a:srgbClr val="EDE8E1"/>
                </a:solidFill>
                <a:latin typeface="Alexandria"/>
                <a:ea typeface="Alexandria"/>
                <a:cs typeface="IBM Plex Sans Arabic"/>
              </a:rPr>
              <a:t>Add your name once</a:t>
            </a:r>
          </a:p>
        </p:txBody>
      </p:sp>
      <p:sp>
        <p:nvSpPr>
          <p:cNvPr id="14" name="TextBox 13"/>
          <p:cNvSpPr txBox="1"/>
          <p:nvPr/>
        </p:nvSpPr>
        <p:spPr>
          <a:xfrm>
            <a:off x="1270000" y="5207000"/>
            <a:ext cx="3937000" cy="215900"/>
          </a:xfrm>
          <a:prstGeom prst="rect">
            <a:avLst/>
          </a:prstGeom>
          <a:noFill/>
        </p:spPr>
        <p:txBody>
          <a:bodyPr wrap="square" lIns="0" rIns="0" tIns="0" bIns="0" anchor="t">
            <a:noAutofit/>
          </a:bodyPr>
          <a:lstStyle/>
          <a:p>
            <a:pPr algn="l">
              <a:lnSpc>
                <a:spcPct val="100000"/>
              </a:lnSpc>
            </a:pPr>
            <a:r>
              <a:rPr sz="1100" b="0" i="0">
                <a:solidFill>
                  <a:srgbClr val="8E969D"/>
                </a:solidFill>
                <a:latin typeface="IBM Plex Sans"/>
                <a:ea typeface="IBM Plex Sans"/>
                <a:cs typeface="IBM Plex Sans Arabic"/>
              </a:rPr>
              <a:t>then you go straight back to checkout</a:t>
            </a:r>
          </a:p>
        </p:txBody>
      </p:sp>
      <p:pic>
        <p:nvPicPr>
          <p:cNvPr id="15" name="Picture 14" descr="b-otp.jpg"/>
          <p:cNvPicPr>
            <a:picLocks noChangeAspect="1"/>
          </p:cNvPicPr>
          <p:nvPr/>
        </p:nvPicPr>
        <p:blipFill>
          <a:blip r:embed="rId3"/>
          <a:stretch>
            <a:fillRect/>
          </a:stretch>
        </p:blipFill>
        <p:spPr>
          <a:xfrm>
            <a:off x="5740400" y="1041400"/>
            <a:ext cx="6045200" cy="4521200"/>
          </a:xfrm>
          <a:prstGeom prst="rect">
            <a:avLst/>
          </a:prstGeom>
        </p:spPr>
      </p:pic>
      <p:pic>
        <p:nvPicPr>
          <p:cNvPr id="16" name="Picture 15" descr="logo-bone.png"/>
          <p:cNvPicPr>
            <a:picLocks noChangeAspect="1"/>
          </p:cNvPicPr>
          <p:nvPr/>
        </p:nvPicPr>
        <p:blipFill>
          <a:blip r:embed="rId4"/>
          <a:stretch>
            <a:fillRect/>
          </a:stretch>
        </p:blipFill>
        <p:spPr>
          <a:xfrm>
            <a:off x="762000" y="6426200"/>
            <a:ext cx="208788" cy="152400"/>
          </a:xfrm>
          <a:prstGeom prst="rect">
            <a:avLst/>
          </a:prstGeom>
        </p:spPr>
      </p:pic>
      <p:sp>
        <p:nvSpPr>
          <p:cNvPr id="17" name="TextBox 16"/>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18" name="TextBox 17"/>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17</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16</a:t>
            </a:r>
            <a:r>
              <a:rPr sz="950" b="0" i="0" spc="240">
                <a:solidFill>
                  <a:srgbClr val="8E969D"/>
                </a:solidFill>
                <a:latin typeface="IBM Plex Mono"/>
                <a:ea typeface="IBM Plex Mono"/>
                <a:cs typeface="IBM Plex Sans Arabic"/>
              </a:rPr>
              <a:t>  CHECKOUT</a:t>
            </a:r>
          </a:p>
        </p:txBody>
      </p:sp>
      <p:pic>
        <p:nvPicPr>
          <p:cNvPr id="4" name="Picture 3" descr="b-checkout.jpg"/>
          <p:cNvPicPr>
            <a:picLocks noChangeAspect="1"/>
          </p:cNvPicPr>
          <p:nvPr/>
        </p:nvPicPr>
        <p:blipFill>
          <a:blip r:embed="rId3"/>
          <a:stretch>
            <a:fillRect/>
          </a:stretch>
        </p:blipFill>
        <p:spPr>
          <a:xfrm>
            <a:off x="533400" y="596900"/>
            <a:ext cx="7315200" cy="5664200"/>
          </a:xfrm>
          <a:prstGeom prst="rect">
            <a:avLst/>
          </a:prstGeom>
        </p:spPr>
      </p:pic>
      <p:sp>
        <p:nvSpPr>
          <p:cNvPr id="5" name="TextBox 4"/>
          <p:cNvSpPr txBox="1"/>
          <p:nvPr/>
        </p:nvSpPr>
        <p:spPr>
          <a:xfrm>
            <a:off x="8128000" y="952500"/>
            <a:ext cx="3429000" cy="825500"/>
          </a:xfrm>
          <a:prstGeom prst="rect">
            <a:avLst/>
          </a:prstGeom>
          <a:noFill/>
        </p:spPr>
        <p:txBody>
          <a:bodyPr wrap="square" lIns="0" rIns="0" tIns="0" bIns="0" anchor="t">
            <a:noAutofit/>
          </a:bodyPr>
          <a:lstStyle/>
          <a:p>
            <a:pPr algn="l">
              <a:lnSpc>
                <a:spcPct val="106000"/>
              </a:lnSpc>
            </a:pPr>
            <a:r>
              <a:rPr sz="2600" b="1" i="0" spc="-50">
                <a:solidFill>
                  <a:srgbClr val="EDE8E1"/>
                </a:solidFill>
                <a:latin typeface="Alexandria"/>
                <a:ea typeface="Alexandria"/>
                <a:cs typeface="IBM Plex Sans Arabic"/>
              </a:rPr>
              <a:t>One page.</a:t>
            </a:r>
          </a:p>
          <a:p>
            <a:pPr algn="l">
              <a:lnSpc>
                <a:spcPct val="106000"/>
              </a:lnSpc>
            </a:pPr>
            <a:r>
              <a:rPr sz="2600" b="1" i="0" spc="-50">
                <a:solidFill>
                  <a:srgbClr val="FF5A36"/>
                </a:solidFill>
                <a:latin typeface="Alexandria"/>
                <a:ea typeface="Alexandria"/>
                <a:cs typeface="IBM Plex Sans Arabic"/>
              </a:rPr>
              <a:t>Four clear steps.</a:t>
            </a:r>
          </a:p>
        </p:txBody>
      </p:sp>
      <p:sp>
        <p:nvSpPr>
          <p:cNvPr id="6" name="Rectangle 5"/>
          <p:cNvSpPr/>
          <p:nvPr/>
        </p:nvSpPr>
        <p:spPr>
          <a:xfrm>
            <a:off x="8128000" y="2037080"/>
            <a:ext cx="63500" cy="63500"/>
          </a:xfrm>
          <a:prstGeom prst="rect">
            <a:avLst/>
          </a:prstGeom>
          <a:solidFill>
            <a:srgbClr val="FF5A36"/>
          </a:solidFill>
          <a:ln>
            <a:noFill/>
          </a:ln>
          <a:effectLst/>
        </p:spPr>
        <p:txBody>
          <a:bodyPr rtlCol="0" anchor="ctr" lIns="0" rIns="0"/>
          <a:lstStyle/>
          <a:p>
            <a:pPr algn="ctr"/>
          </a:p>
        </p:txBody>
      </p:sp>
      <p:sp>
        <p:nvSpPr>
          <p:cNvPr id="7" name="TextBox 6"/>
          <p:cNvSpPr txBox="1"/>
          <p:nvPr/>
        </p:nvSpPr>
        <p:spPr>
          <a:xfrm>
            <a:off x="8318500" y="1968500"/>
            <a:ext cx="3111500" cy="209550"/>
          </a:xfrm>
          <a:prstGeom prst="rect">
            <a:avLst/>
          </a:prstGeom>
          <a:noFill/>
        </p:spPr>
        <p:txBody>
          <a:bodyPr wrap="square" lIns="0" rIns="0" tIns="0" bIns="0" anchor="t">
            <a:noAutofit/>
          </a:bodyPr>
          <a:lstStyle/>
          <a:p>
            <a:pPr algn="l">
              <a:lnSpc>
                <a:spcPct val="130000"/>
              </a:lnSpc>
            </a:pPr>
            <a:r>
              <a:rPr sz="1200" b="1" i="0">
                <a:solidFill>
                  <a:srgbClr val="EDE8E1"/>
                </a:solidFill>
                <a:latin typeface="IBM Plex Sans"/>
                <a:ea typeface="IBM Plex Sans"/>
                <a:cs typeface="IBM Plex Sans Arabic"/>
              </a:rPr>
              <a:t>Contact</a:t>
            </a:r>
            <a:r>
              <a:rPr sz="1200" b="0" i="0">
                <a:solidFill>
                  <a:srgbClr val="C8C1B7"/>
                </a:solidFill>
                <a:latin typeface="IBM Plex Sans"/>
                <a:ea typeface="IBM Plex Sans"/>
                <a:cs typeface="IBM Plex Sans Arabic"/>
              </a:rPr>
              <a:t> from sign-in</a:t>
            </a:r>
          </a:p>
        </p:txBody>
      </p:sp>
      <p:sp>
        <p:nvSpPr>
          <p:cNvPr id="8" name="Rectangle 7"/>
          <p:cNvSpPr/>
          <p:nvPr/>
        </p:nvSpPr>
        <p:spPr>
          <a:xfrm>
            <a:off x="8128000" y="2322830"/>
            <a:ext cx="63500" cy="63500"/>
          </a:xfrm>
          <a:prstGeom prst="rect">
            <a:avLst/>
          </a:prstGeom>
          <a:solidFill>
            <a:srgbClr val="FF5A36"/>
          </a:solidFill>
          <a:ln>
            <a:noFill/>
          </a:ln>
          <a:effectLst/>
        </p:spPr>
        <p:txBody>
          <a:bodyPr rtlCol="0" anchor="ctr" lIns="0" rIns="0"/>
          <a:lstStyle/>
          <a:p>
            <a:pPr algn="ctr"/>
          </a:p>
        </p:txBody>
      </p:sp>
      <p:sp>
        <p:nvSpPr>
          <p:cNvPr id="9" name="TextBox 8"/>
          <p:cNvSpPr txBox="1"/>
          <p:nvPr/>
        </p:nvSpPr>
        <p:spPr>
          <a:xfrm>
            <a:off x="8318500" y="2254250"/>
            <a:ext cx="3111500" cy="209550"/>
          </a:xfrm>
          <a:prstGeom prst="rect">
            <a:avLst/>
          </a:prstGeom>
          <a:noFill/>
        </p:spPr>
        <p:txBody>
          <a:bodyPr wrap="square" lIns="0" rIns="0" tIns="0" bIns="0" anchor="t">
            <a:noAutofit/>
          </a:bodyPr>
          <a:lstStyle/>
          <a:p>
            <a:pPr algn="l">
              <a:lnSpc>
                <a:spcPct val="130000"/>
              </a:lnSpc>
            </a:pPr>
            <a:r>
              <a:rPr sz="1200" b="1" i="0">
                <a:solidFill>
                  <a:srgbClr val="EDE8E1"/>
                </a:solidFill>
                <a:latin typeface="IBM Plex Sans"/>
                <a:ea typeface="IBM Plex Sans"/>
                <a:cs typeface="IBM Plex Sans Arabic"/>
              </a:rPr>
              <a:t>Address</a:t>
            </a:r>
            <a:r>
              <a:rPr sz="1200" b="0" i="0">
                <a:solidFill>
                  <a:srgbClr val="C8C1B7"/>
                </a:solidFill>
                <a:latin typeface="IBM Plex Sans"/>
                <a:ea typeface="IBM Plex Sans"/>
                <a:cs typeface="IBM Plex Sans Arabic"/>
              </a:rPr>
              <a:t> home, work or other</a:t>
            </a:r>
          </a:p>
        </p:txBody>
      </p:sp>
      <p:sp>
        <p:nvSpPr>
          <p:cNvPr id="10" name="Rectangle 9"/>
          <p:cNvSpPr/>
          <p:nvPr/>
        </p:nvSpPr>
        <p:spPr>
          <a:xfrm>
            <a:off x="8128000" y="2608580"/>
            <a:ext cx="63500" cy="63500"/>
          </a:xfrm>
          <a:prstGeom prst="rect">
            <a:avLst/>
          </a:prstGeom>
          <a:solidFill>
            <a:srgbClr val="FF5A36"/>
          </a:solidFill>
          <a:ln>
            <a:noFill/>
          </a:ln>
          <a:effectLst/>
        </p:spPr>
        <p:txBody>
          <a:bodyPr rtlCol="0" anchor="ctr" lIns="0" rIns="0"/>
          <a:lstStyle/>
          <a:p>
            <a:pPr algn="ctr"/>
          </a:p>
        </p:txBody>
      </p:sp>
      <p:sp>
        <p:nvSpPr>
          <p:cNvPr id="11" name="TextBox 10"/>
          <p:cNvSpPr txBox="1"/>
          <p:nvPr/>
        </p:nvSpPr>
        <p:spPr>
          <a:xfrm>
            <a:off x="8318500" y="2540000"/>
            <a:ext cx="3111500" cy="209550"/>
          </a:xfrm>
          <a:prstGeom prst="rect">
            <a:avLst/>
          </a:prstGeom>
          <a:noFill/>
        </p:spPr>
        <p:txBody>
          <a:bodyPr wrap="square" lIns="0" rIns="0" tIns="0" bIns="0" anchor="t">
            <a:noAutofit/>
          </a:bodyPr>
          <a:lstStyle/>
          <a:p>
            <a:pPr algn="l">
              <a:lnSpc>
                <a:spcPct val="130000"/>
              </a:lnSpc>
            </a:pPr>
            <a:r>
              <a:rPr sz="1200" b="1" i="0">
                <a:solidFill>
                  <a:srgbClr val="EDE8E1"/>
                </a:solidFill>
                <a:latin typeface="IBM Plex Sans"/>
                <a:ea typeface="IBM Plex Sans"/>
                <a:cs typeface="IBM Plex Sans Arabic"/>
              </a:rPr>
              <a:t>Delivery day &amp; slot</a:t>
            </a:r>
            <a:r>
              <a:rPr sz="1200" b="0" i="0">
                <a:solidFill>
                  <a:srgbClr val="C8C1B7"/>
                </a:solidFill>
                <a:latin typeface="IBM Plex Sans"/>
                <a:ea typeface="IBM Plex Sans"/>
                <a:cs typeface="IBM Plex Sans Arabic"/>
              </a:rPr>
              <a:t> next 6 days, 4 time slots</a:t>
            </a:r>
          </a:p>
        </p:txBody>
      </p:sp>
      <p:sp>
        <p:nvSpPr>
          <p:cNvPr id="12" name="Rectangle 11"/>
          <p:cNvSpPr/>
          <p:nvPr/>
        </p:nvSpPr>
        <p:spPr>
          <a:xfrm>
            <a:off x="8128000" y="2894330"/>
            <a:ext cx="63500" cy="63500"/>
          </a:xfrm>
          <a:prstGeom prst="rect">
            <a:avLst/>
          </a:prstGeom>
          <a:solidFill>
            <a:srgbClr val="FF5A36"/>
          </a:solidFill>
          <a:ln>
            <a:noFill/>
          </a:ln>
          <a:effectLst/>
        </p:spPr>
        <p:txBody>
          <a:bodyPr rtlCol="0" anchor="ctr" lIns="0" rIns="0"/>
          <a:lstStyle/>
          <a:p>
            <a:pPr algn="ctr"/>
          </a:p>
        </p:txBody>
      </p:sp>
      <p:sp>
        <p:nvSpPr>
          <p:cNvPr id="13" name="TextBox 12"/>
          <p:cNvSpPr txBox="1"/>
          <p:nvPr/>
        </p:nvSpPr>
        <p:spPr>
          <a:xfrm>
            <a:off x="8318500" y="2825750"/>
            <a:ext cx="3111500" cy="406400"/>
          </a:xfrm>
          <a:prstGeom prst="rect">
            <a:avLst/>
          </a:prstGeom>
          <a:noFill/>
        </p:spPr>
        <p:txBody>
          <a:bodyPr wrap="square" lIns="0" rIns="0" tIns="0" bIns="0" anchor="t">
            <a:noAutofit/>
          </a:bodyPr>
          <a:lstStyle/>
          <a:p>
            <a:pPr algn="l">
              <a:lnSpc>
                <a:spcPct val="130000"/>
              </a:lnSpc>
            </a:pPr>
            <a:r>
              <a:rPr sz="1200" b="1" i="0">
                <a:solidFill>
                  <a:srgbClr val="EDE8E1"/>
                </a:solidFill>
                <a:latin typeface="IBM Plex Sans"/>
                <a:ea typeface="IBM Plex Sans"/>
                <a:cs typeface="IBM Plex Sans Arabic"/>
              </a:rPr>
              <a:t>Payment</a:t>
            </a:r>
            <a:r>
              <a:rPr sz="1200" b="0" i="0">
                <a:solidFill>
                  <a:srgbClr val="C8C1B7"/>
                </a:solidFill>
                <a:latin typeface="IBM Plex Sans"/>
                <a:ea typeface="IBM Plex Sans"/>
                <a:cs typeface="IBM Plex Sans Arabic"/>
              </a:rPr>
              <a:t> Apple Pay, mada, card, Tamara, cash on delivery</a:t>
            </a:r>
          </a:p>
        </p:txBody>
      </p:sp>
      <p:sp>
        <p:nvSpPr>
          <p:cNvPr id="14" name="Rectangle 13"/>
          <p:cNvSpPr/>
          <p:nvPr/>
        </p:nvSpPr>
        <p:spPr>
          <a:xfrm>
            <a:off x="8128000" y="3376930"/>
            <a:ext cx="63500" cy="63500"/>
          </a:xfrm>
          <a:prstGeom prst="rect">
            <a:avLst/>
          </a:prstGeom>
          <a:solidFill>
            <a:srgbClr val="FF5A36"/>
          </a:solidFill>
          <a:ln>
            <a:noFill/>
          </a:ln>
          <a:effectLst/>
        </p:spPr>
        <p:txBody>
          <a:bodyPr rtlCol="0" anchor="ctr" lIns="0" rIns="0"/>
          <a:lstStyle/>
          <a:p>
            <a:pPr algn="ctr"/>
          </a:p>
        </p:txBody>
      </p:sp>
      <p:sp>
        <p:nvSpPr>
          <p:cNvPr id="15" name="TextBox 14"/>
          <p:cNvSpPr txBox="1"/>
          <p:nvPr/>
        </p:nvSpPr>
        <p:spPr>
          <a:xfrm>
            <a:off x="8318500" y="3308350"/>
            <a:ext cx="3111500" cy="209550"/>
          </a:xfrm>
          <a:prstGeom prst="rect">
            <a:avLst/>
          </a:prstGeom>
          <a:noFill/>
        </p:spPr>
        <p:txBody>
          <a:bodyPr wrap="square" lIns="0" rIns="0" tIns="0" bIns="0" anchor="t">
            <a:noAutofit/>
          </a:bodyPr>
          <a:lstStyle/>
          <a:p>
            <a:pPr algn="l">
              <a:lnSpc>
                <a:spcPct val="130000"/>
              </a:lnSpc>
            </a:pPr>
            <a:r>
              <a:rPr sz="1200" b="1" i="0">
                <a:solidFill>
                  <a:srgbClr val="EDE8E1"/>
                </a:solidFill>
                <a:latin typeface="IBM Plex Sans"/>
                <a:ea typeface="IBM Plex Sans"/>
                <a:cs typeface="IBM Plex Sans Arabic"/>
              </a:rPr>
              <a:t>Discount code</a:t>
            </a:r>
            <a:r>
              <a:rPr sz="1200" b="0" i="0">
                <a:solidFill>
                  <a:srgbClr val="C8C1B7"/>
                </a:solidFill>
                <a:latin typeface="IBM Plex Sans"/>
                <a:ea typeface="IBM Plex Sans"/>
                <a:cs typeface="IBM Plex Sans Arabic"/>
              </a:rPr>
              <a:t> e.g. NUDJ10</a:t>
            </a:r>
          </a:p>
        </p:txBody>
      </p:sp>
      <p:sp>
        <p:nvSpPr>
          <p:cNvPr id="16" name="Rectangle 15"/>
          <p:cNvSpPr/>
          <p:nvPr/>
        </p:nvSpPr>
        <p:spPr>
          <a:xfrm>
            <a:off x="8128000" y="3662680"/>
            <a:ext cx="63500" cy="63500"/>
          </a:xfrm>
          <a:prstGeom prst="rect">
            <a:avLst/>
          </a:prstGeom>
          <a:solidFill>
            <a:srgbClr val="FF5A36"/>
          </a:solidFill>
          <a:ln>
            <a:noFill/>
          </a:ln>
          <a:effectLst/>
        </p:spPr>
        <p:txBody>
          <a:bodyPr rtlCol="0" anchor="ctr" lIns="0" rIns="0"/>
          <a:lstStyle/>
          <a:p>
            <a:pPr algn="ctr"/>
          </a:p>
        </p:txBody>
      </p:sp>
      <p:sp>
        <p:nvSpPr>
          <p:cNvPr id="17" name="TextBox 16"/>
          <p:cNvSpPr txBox="1"/>
          <p:nvPr/>
        </p:nvSpPr>
        <p:spPr>
          <a:xfrm>
            <a:off x="8318500" y="3594100"/>
            <a:ext cx="3111500" cy="209550"/>
          </a:xfrm>
          <a:prstGeom prst="rect">
            <a:avLst/>
          </a:prstGeom>
          <a:noFill/>
        </p:spPr>
        <p:txBody>
          <a:bodyPr wrap="square" lIns="0" rIns="0" tIns="0" bIns="0" anchor="t">
            <a:noAutofit/>
          </a:bodyPr>
          <a:lstStyle/>
          <a:p>
            <a:pPr algn="l">
              <a:lnSpc>
                <a:spcPct val="130000"/>
              </a:lnSpc>
            </a:pPr>
            <a:r>
              <a:rPr sz="1200" b="1" i="0">
                <a:solidFill>
                  <a:srgbClr val="EDE8E1"/>
                </a:solidFill>
                <a:latin typeface="IBM Plex Sans"/>
                <a:ea typeface="IBM Plex Sans"/>
                <a:cs typeface="IBM Plex Sans Arabic"/>
              </a:rPr>
              <a:t>Summary</a:t>
            </a:r>
            <a:r>
              <a:rPr sz="1200" b="0" i="0">
                <a:solidFill>
                  <a:srgbClr val="C8C1B7"/>
                </a:solidFill>
                <a:latin typeface="IBM Plex Sans"/>
                <a:ea typeface="IBM Plex Sans"/>
                <a:cs typeface="IBM Plex Sans Arabic"/>
              </a:rPr>
              <a:t> a compact receipt with VAT</a:t>
            </a:r>
          </a:p>
        </p:txBody>
      </p:sp>
      <p:pic>
        <p:nvPicPr>
          <p:cNvPr id="18" name="Picture 17" descr="logo-bone.png"/>
          <p:cNvPicPr>
            <a:picLocks noChangeAspect="1"/>
          </p:cNvPicPr>
          <p:nvPr/>
        </p:nvPicPr>
        <p:blipFill>
          <a:blip r:embed="rId4"/>
          <a:stretch>
            <a:fillRect/>
          </a:stretch>
        </p:blipFill>
        <p:spPr>
          <a:xfrm>
            <a:off x="762000" y="6426200"/>
            <a:ext cx="208788" cy="152400"/>
          </a:xfrm>
          <a:prstGeom prst="rect">
            <a:avLst/>
          </a:prstGeom>
        </p:spPr>
      </p:pic>
      <p:sp>
        <p:nvSpPr>
          <p:cNvPr id="19" name="TextBox 18"/>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0" name="TextBox 19"/>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18</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17</a:t>
            </a:r>
            <a:r>
              <a:rPr sz="950" b="0" i="0" spc="240">
                <a:solidFill>
                  <a:srgbClr val="8E969D"/>
                </a:solidFill>
                <a:latin typeface="IBM Plex Mono"/>
                <a:ea typeface="IBM Plex Mono"/>
                <a:cs typeface="IBM Plex Sans Arabic"/>
              </a:rPr>
              <a:t>  RECEIPT AND TRACKING</a:t>
            </a:r>
          </a:p>
        </p:txBody>
      </p:sp>
      <p:sp>
        <p:nvSpPr>
          <p:cNvPr id="4" name="TextBox 3"/>
          <p:cNvSpPr txBox="1"/>
          <p:nvPr/>
        </p:nvSpPr>
        <p:spPr>
          <a:xfrm>
            <a:off x="762000" y="952500"/>
            <a:ext cx="10160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Your receipt is printed.</a:t>
            </a:r>
          </a:p>
          <a:p>
            <a:pPr algn="l">
              <a:lnSpc>
                <a:spcPct val="106000"/>
              </a:lnSpc>
            </a:pPr>
            <a:r>
              <a:rPr sz="3000" b="1" i="0" spc="-50">
                <a:solidFill>
                  <a:srgbClr val="FF5A36"/>
                </a:solidFill>
                <a:latin typeface="Alexandria"/>
                <a:ea typeface="Alexandria"/>
                <a:cs typeface="IBM Plex Sans Arabic"/>
              </a:rPr>
              <a:t>Now watch it move.</a:t>
            </a:r>
          </a:p>
        </p:txBody>
      </p:sp>
      <p:pic>
        <p:nvPicPr>
          <p:cNvPr id="5" name="Picture 4" descr="b-order.jpg"/>
          <p:cNvPicPr>
            <a:picLocks noChangeAspect="1"/>
          </p:cNvPicPr>
          <p:nvPr/>
        </p:nvPicPr>
        <p:blipFill>
          <a:blip r:embed="rId3"/>
          <a:stretch>
            <a:fillRect/>
          </a:stretch>
        </p:blipFill>
        <p:spPr>
          <a:xfrm>
            <a:off x="533400" y="1930400"/>
            <a:ext cx="7061200" cy="4330700"/>
          </a:xfrm>
          <a:prstGeom prst="rect">
            <a:avLst/>
          </a:prstGeom>
        </p:spPr>
      </p:pic>
      <p:sp>
        <p:nvSpPr>
          <p:cNvPr id="6" name="Oval 5"/>
          <p:cNvSpPr/>
          <p:nvPr/>
        </p:nvSpPr>
        <p:spPr>
          <a:xfrm>
            <a:off x="7937500" y="2413000"/>
            <a:ext cx="355600" cy="355600"/>
          </a:xfrm>
          <a:prstGeom prst="ellipse">
            <a:avLst/>
          </a:prstGeom>
          <a:solidFill>
            <a:srgbClr val="FF5A36"/>
          </a:solidFill>
          <a:ln w="25400">
            <a:solidFill>
              <a:srgbClr val="FF5A36"/>
            </a:solidFill>
          </a:ln>
          <a:effectLst/>
        </p:spPr>
        <p:txBody>
          <a:bodyPr rtlCol="0" anchor="ctr"/>
          <a:lstStyle/>
          <a:p>
            <a:pPr algn="ctr"/>
          </a:p>
        </p:txBody>
      </p:sp>
      <p:sp>
        <p:nvSpPr>
          <p:cNvPr id="7" name="TextBox 6"/>
          <p:cNvSpPr txBox="1"/>
          <p:nvPr/>
        </p:nvSpPr>
        <p:spPr>
          <a:xfrm>
            <a:off x="7937500" y="2413000"/>
            <a:ext cx="355600" cy="355600"/>
          </a:xfrm>
          <a:prstGeom prst="rect">
            <a:avLst/>
          </a:prstGeom>
          <a:noFill/>
        </p:spPr>
        <p:txBody>
          <a:bodyPr wrap="square" lIns="0" rIns="0" tIns="0" bIns="0" anchor="ctr">
            <a:noAutofit/>
          </a:bodyPr>
          <a:lstStyle/>
          <a:p>
            <a:pPr algn="ctr">
              <a:lnSpc>
                <a:spcPct val="100000"/>
              </a:lnSpc>
            </a:pPr>
            <a:r>
              <a:rPr sz="1100" b="1" i="0">
                <a:solidFill>
                  <a:srgbClr val="161A1F"/>
                </a:solidFill>
                <a:latin typeface="IBM Plex Mono"/>
                <a:ea typeface="IBM Plex Mono"/>
                <a:cs typeface="IBM Plex Sans Arabic"/>
              </a:rPr>
              <a:t>1</a:t>
            </a:r>
          </a:p>
        </p:txBody>
      </p:sp>
      <p:cxnSp>
        <p:nvCxnSpPr>
          <p:cNvPr id="8" name="Connector 7"/>
          <p:cNvCxnSpPr/>
          <p:nvPr/>
        </p:nvCxnSpPr>
        <p:spPr>
          <a:xfrm>
            <a:off x="8115300" y="2794000"/>
            <a:ext cx="0" cy="368300"/>
          </a:xfrm>
          <a:prstGeom prst="line">
            <a:avLst/>
          </a:prstGeom>
          <a:ln w="25400">
            <a:solidFill>
              <a:srgbClr val="383B3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45500" y="2425700"/>
            <a:ext cx="3048000" cy="2286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Order received</a:t>
            </a:r>
          </a:p>
        </p:txBody>
      </p:sp>
      <p:sp>
        <p:nvSpPr>
          <p:cNvPr id="10" name="TextBox 9"/>
          <p:cNvSpPr txBox="1"/>
          <p:nvPr/>
        </p:nvSpPr>
        <p:spPr>
          <a:xfrm>
            <a:off x="8445500" y="2654300"/>
            <a:ext cx="3048000" cy="190500"/>
          </a:xfrm>
          <a:prstGeom prst="rect">
            <a:avLst/>
          </a:prstGeom>
          <a:noFill/>
        </p:spPr>
        <p:txBody>
          <a:bodyPr wrap="square" lIns="0" rIns="0" tIns="0" bIns="0" anchor="t">
            <a:noAutofit/>
          </a:bodyPr>
          <a:lstStyle/>
          <a:p>
            <a:pPr algn="l">
              <a:lnSpc>
                <a:spcPct val="100000"/>
              </a:lnSpc>
            </a:pPr>
            <a:r>
              <a:rPr sz="1050" b="0" i="0">
                <a:solidFill>
                  <a:srgbClr val="8E969D"/>
                </a:solidFill>
                <a:latin typeface="IBM Plex Sans"/>
                <a:ea typeface="IBM Plex Sans"/>
                <a:cs typeface="IBM Plex Sans Arabic"/>
              </a:rPr>
              <a:t>Confirmed, waiting to be prepared</a:t>
            </a:r>
          </a:p>
        </p:txBody>
      </p:sp>
      <p:sp>
        <p:nvSpPr>
          <p:cNvPr id="11" name="Oval 10"/>
          <p:cNvSpPr/>
          <p:nvPr/>
        </p:nvSpPr>
        <p:spPr>
          <a:xfrm>
            <a:off x="7937500" y="3187700"/>
            <a:ext cx="355600" cy="355600"/>
          </a:xfrm>
          <a:prstGeom prst="ellipse">
            <a:avLst/>
          </a:prstGeom>
          <a:solidFill>
            <a:srgbClr val="1C2228"/>
          </a:solidFill>
          <a:ln w="25400">
            <a:solidFill>
              <a:srgbClr val="383B3E"/>
            </a:solidFill>
          </a:ln>
          <a:effectLst/>
        </p:spPr>
        <p:txBody>
          <a:bodyPr rtlCol="0" anchor="ctr"/>
          <a:lstStyle/>
          <a:p>
            <a:pPr algn="ctr"/>
          </a:p>
        </p:txBody>
      </p:sp>
      <p:sp>
        <p:nvSpPr>
          <p:cNvPr id="12" name="TextBox 11"/>
          <p:cNvSpPr txBox="1"/>
          <p:nvPr/>
        </p:nvSpPr>
        <p:spPr>
          <a:xfrm>
            <a:off x="7937500" y="3187700"/>
            <a:ext cx="355600" cy="355600"/>
          </a:xfrm>
          <a:prstGeom prst="rect">
            <a:avLst/>
          </a:prstGeom>
          <a:noFill/>
        </p:spPr>
        <p:txBody>
          <a:bodyPr wrap="square" lIns="0" rIns="0" tIns="0" bIns="0" anchor="ctr">
            <a:noAutofit/>
          </a:bodyPr>
          <a:lstStyle/>
          <a:p>
            <a:pPr algn="ctr">
              <a:lnSpc>
                <a:spcPct val="100000"/>
              </a:lnSpc>
            </a:pPr>
            <a:r>
              <a:rPr sz="1100" b="1" i="0">
                <a:solidFill>
                  <a:srgbClr val="8E969D"/>
                </a:solidFill>
                <a:latin typeface="IBM Plex Mono"/>
                <a:ea typeface="IBM Plex Mono"/>
                <a:cs typeface="IBM Plex Sans Arabic"/>
              </a:rPr>
              <a:t>2</a:t>
            </a:r>
          </a:p>
        </p:txBody>
      </p:sp>
      <p:cxnSp>
        <p:nvCxnSpPr>
          <p:cNvPr id="13" name="Connector 12"/>
          <p:cNvCxnSpPr/>
          <p:nvPr/>
        </p:nvCxnSpPr>
        <p:spPr>
          <a:xfrm>
            <a:off x="8115300" y="3568700"/>
            <a:ext cx="0" cy="368300"/>
          </a:xfrm>
          <a:prstGeom prst="line">
            <a:avLst/>
          </a:prstGeom>
          <a:ln w="25400">
            <a:solidFill>
              <a:srgbClr val="383B3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45500" y="3200400"/>
            <a:ext cx="3048000" cy="2286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On the butcher's block</a:t>
            </a:r>
          </a:p>
        </p:txBody>
      </p:sp>
      <p:sp>
        <p:nvSpPr>
          <p:cNvPr id="15" name="TextBox 14"/>
          <p:cNvSpPr txBox="1"/>
          <p:nvPr/>
        </p:nvSpPr>
        <p:spPr>
          <a:xfrm>
            <a:off x="8445500" y="3429000"/>
            <a:ext cx="3048000" cy="190500"/>
          </a:xfrm>
          <a:prstGeom prst="rect">
            <a:avLst/>
          </a:prstGeom>
          <a:noFill/>
        </p:spPr>
        <p:txBody>
          <a:bodyPr wrap="square" lIns="0" rIns="0" tIns="0" bIns="0" anchor="t">
            <a:noAutofit/>
          </a:bodyPr>
          <a:lstStyle/>
          <a:p>
            <a:pPr algn="l">
              <a:lnSpc>
                <a:spcPct val="100000"/>
              </a:lnSpc>
            </a:pPr>
            <a:r>
              <a:rPr sz="1050" b="0" i="0">
                <a:solidFill>
                  <a:srgbClr val="8E969D"/>
                </a:solidFill>
                <a:latin typeface="IBM Plex Sans"/>
                <a:ea typeface="IBM Plex Sans"/>
                <a:cs typeface="IBM Plex Sans Arabic"/>
              </a:rPr>
              <a:t>Cutting, marinating, packing</a:t>
            </a:r>
          </a:p>
        </p:txBody>
      </p:sp>
      <p:sp>
        <p:nvSpPr>
          <p:cNvPr id="16" name="Oval 15"/>
          <p:cNvSpPr/>
          <p:nvPr/>
        </p:nvSpPr>
        <p:spPr>
          <a:xfrm>
            <a:off x="7937500" y="3962400"/>
            <a:ext cx="355600" cy="355600"/>
          </a:xfrm>
          <a:prstGeom prst="ellipse">
            <a:avLst/>
          </a:prstGeom>
          <a:solidFill>
            <a:srgbClr val="1C2228"/>
          </a:solidFill>
          <a:ln w="25400">
            <a:solidFill>
              <a:srgbClr val="383B3E"/>
            </a:solidFill>
          </a:ln>
          <a:effectLst/>
        </p:spPr>
        <p:txBody>
          <a:bodyPr rtlCol="0" anchor="ctr"/>
          <a:lstStyle/>
          <a:p>
            <a:pPr algn="ctr"/>
          </a:p>
        </p:txBody>
      </p:sp>
      <p:sp>
        <p:nvSpPr>
          <p:cNvPr id="17" name="TextBox 16"/>
          <p:cNvSpPr txBox="1"/>
          <p:nvPr/>
        </p:nvSpPr>
        <p:spPr>
          <a:xfrm>
            <a:off x="7937500" y="3962400"/>
            <a:ext cx="355600" cy="355600"/>
          </a:xfrm>
          <a:prstGeom prst="rect">
            <a:avLst/>
          </a:prstGeom>
          <a:noFill/>
        </p:spPr>
        <p:txBody>
          <a:bodyPr wrap="square" lIns="0" rIns="0" tIns="0" bIns="0" anchor="ctr">
            <a:noAutofit/>
          </a:bodyPr>
          <a:lstStyle/>
          <a:p>
            <a:pPr algn="ctr">
              <a:lnSpc>
                <a:spcPct val="100000"/>
              </a:lnSpc>
            </a:pPr>
            <a:r>
              <a:rPr sz="1100" b="1" i="0">
                <a:solidFill>
                  <a:srgbClr val="8E969D"/>
                </a:solidFill>
                <a:latin typeface="IBM Plex Mono"/>
                <a:ea typeface="IBM Plex Mono"/>
                <a:cs typeface="IBM Plex Sans Arabic"/>
              </a:rPr>
              <a:t>3</a:t>
            </a:r>
          </a:p>
        </p:txBody>
      </p:sp>
      <p:cxnSp>
        <p:nvCxnSpPr>
          <p:cNvPr id="18" name="Connector 17"/>
          <p:cNvCxnSpPr/>
          <p:nvPr/>
        </p:nvCxnSpPr>
        <p:spPr>
          <a:xfrm>
            <a:off x="8115300" y="4343400"/>
            <a:ext cx="0" cy="368300"/>
          </a:xfrm>
          <a:prstGeom prst="line">
            <a:avLst/>
          </a:prstGeom>
          <a:ln w="25400">
            <a:solidFill>
              <a:srgbClr val="383B3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45500" y="3975100"/>
            <a:ext cx="3048000" cy="2286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On its way</a:t>
            </a:r>
          </a:p>
        </p:txBody>
      </p:sp>
      <p:sp>
        <p:nvSpPr>
          <p:cNvPr id="20" name="TextBox 19"/>
          <p:cNvSpPr txBox="1"/>
          <p:nvPr/>
        </p:nvSpPr>
        <p:spPr>
          <a:xfrm>
            <a:off x="8445500" y="4203700"/>
            <a:ext cx="3048000" cy="190500"/>
          </a:xfrm>
          <a:prstGeom prst="rect">
            <a:avLst/>
          </a:prstGeom>
          <a:noFill/>
        </p:spPr>
        <p:txBody>
          <a:bodyPr wrap="square" lIns="0" rIns="0" tIns="0" bIns="0" anchor="t">
            <a:noAutofit/>
          </a:bodyPr>
          <a:lstStyle/>
          <a:p>
            <a:pPr algn="l">
              <a:lnSpc>
                <a:spcPct val="100000"/>
              </a:lnSpc>
            </a:pPr>
            <a:r>
              <a:rPr sz="1050" b="0" i="0">
                <a:solidFill>
                  <a:srgbClr val="8E969D"/>
                </a:solidFill>
                <a:latin typeface="IBM Plex Sans"/>
                <a:ea typeface="IBM Plex Sans"/>
                <a:cs typeface="IBM Plex Sans Arabic"/>
              </a:rPr>
              <a:t>With the driver, in your slot</a:t>
            </a:r>
          </a:p>
        </p:txBody>
      </p:sp>
      <p:sp>
        <p:nvSpPr>
          <p:cNvPr id="21" name="Oval 20"/>
          <p:cNvSpPr/>
          <p:nvPr/>
        </p:nvSpPr>
        <p:spPr>
          <a:xfrm>
            <a:off x="7937500" y="4737100"/>
            <a:ext cx="355600" cy="355600"/>
          </a:xfrm>
          <a:prstGeom prst="ellipse">
            <a:avLst/>
          </a:prstGeom>
          <a:solidFill>
            <a:srgbClr val="1C2228"/>
          </a:solidFill>
          <a:ln w="25400">
            <a:solidFill>
              <a:srgbClr val="383B3E"/>
            </a:solidFill>
          </a:ln>
          <a:effectLst/>
        </p:spPr>
        <p:txBody>
          <a:bodyPr rtlCol="0" anchor="ctr"/>
          <a:lstStyle/>
          <a:p>
            <a:pPr algn="ctr"/>
          </a:p>
        </p:txBody>
      </p:sp>
      <p:sp>
        <p:nvSpPr>
          <p:cNvPr id="22" name="TextBox 21"/>
          <p:cNvSpPr txBox="1"/>
          <p:nvPr/>
        </p:nvSpPr>
        <p:spPr>
          <a:xfrm>
            <a:off x="7937500" y="4737100"/>
            <a:ext cx="355600" cy="355600"/>
          </a:xfrm>
          <a:prstGeom prst="rect">
            <a:avLst/>
          </a:prstGeom>
          <a:noFill/>
        </p:spPr>
        <p:txBody>
          <a:bodyPr wrap="square" lIns="0" rIns="0" tIns="0" bIns="0" anchor="ctr">
            <a:noAutofit/>
          </a:bodyPr>
          <a:lstStyle/>
          <a:p>
            <a:pPr algn="ctr">
              <a:lnSpc>
                <a:spcPct val="100000"/>
              </a:lnSpc>
            </a:pPr>
            <a:r>
              <a:rPr sz="1100" b="1" i="0">
                <a:solidFill>
                  <a:srgbClr val="8E969D"/>
                </a:solidFill>
                <a:latin typeface="IBM Plex Mono"/>
                <a:ea typeface="IBM Plex Mono"/>
                <a:cs typeface="IBM Plex Sans Arabic"/>
              </a:rPr>
              <a:t>4</a:t>
            </a:r>
          </a:p>
        </p:txBody>
      </p:sp>
      <p:sp>
        <p:nvSpPr>
          <p:cNvPr id="23" name="TextBox 22"/>
          <p:cNvSpPr txBox="1"/>
          <p:nvPr/>
        </p:nvSpPr>
        <p:spPr>
          <a:xfrm>
            <a:off x="8445500" y="4749800"/>
            <a:ext cx="3048000" cy="2286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Delivered</a:t>
            </a:r>
          </a:p>
        </p:txBody>
      </p:sp>
      <p:sp>
        <p:nvSpPr>
          <p:cNvPr id="24" name="TextBox 23"/>
          <p:cNvSpPr txBox="1"/>
          <p:nvPr/>
        </p:nvSpPr>
        <p:spPr>
          <a:xfrm>
            <a:off x="8445500" y="4978400"/>
            <a:ext cx="3048000" cy="190500"/>
          </a:xfrm>
          <a:prstGeom prst="rect">
            <a:avLst/>
          </a:prstGeom>
          <a:noFill/>
        </p:spPr>
        <p:txBody>
          <a:bodyPr wrap="square" lIns="0" rIns="0" tIns="0" bIns="0" anchor="t">
            <a:noAutofit/>
          </a:bodyPr>
          <a:lstStyle/>
          <a:p>
            <a:pPr algn="l">
              <a:lnSpc>
                <a:spcPct val="100000"/>
              </a:lnSpc>
            </a:pPr>
            <a:r>
              <a:rPr sz="1050" b="0" i="0">
                <a:solidFill>
                  <a:srgbClr val="8E969D"/>
                </a:solidFill>
                <a:latin typeface="IBM Plex Sans"/>
                <a:ea typeface="IBM Plex Sans"/>
                <a:cs typeface="IBM Plex Sans Arabic"/>
              </a:rPr>
              <a:t>Enjoy your meal!</a:t>
            </a:r>
          </a:p>
        </p:txBody>
      </p:sp>
      <p:sp>
        <p:nvSpPr>
          <p:cNvPr id="25" name="TextBox 24"/>
          <p:cNvSpPr txBox="1"/>
          <p:nvPr/>
        </p:nvSpPr>
        <p:spPr>
          <a:xfrm>
            <a:off x="7937500" y="5588000"/>
            <a:ext cx="3556000" cy="381000"/>
          </a:xfrm>
          <a:prstGeom prst="rect">
            <a:avLst/>
          </a:prstGeom>
          <a:noFill/>
        </p:spPr>
        <p:txBody>
          <a:bodyPr wrap="square" lIns="0" rIns="0" tIns="0" bIns="0" anchor="t">
            <a:noAutofit/>
          </a:bodyPr>
          <a:lstStyle/>
          <a:p>
            <a:pPr algn="l">
              <a:lnSpc>
                <a:spcPct val="130000"/>
              </a:lnSpc>
            </a:pPr>
            <a:r>
              <a:rPr sz="1050" b="0" i="0">
                <a:solidFill>
                  <a:srgbClr val="FF5A36"/>
                </a:solidFill>
                <a:latin typeface="IBM Plex Mono"/>
                <a:ea typeface="IBM Plex Mono"/>
                <a:cs typeface="IBM Plex Sans Arabic"/>
              </a:rPr>
              <a:t>Plus: order it again · print receipt · cancel before cutting</a:t>
            </a:r>
          </a:p>
        </p:txBody>
      </p:sp>
      <p:pic>
        <p:nvPicPr>
          <p:cNvPr id="26" name="Picture 25" descr="logo-bone.png"/>
          <p:cNvPicPr>
            <a:picLocks noChangeAspect="1"/>
          </p:cNvPicPr>
          <p:nvPr/>
        </p:nvPicPr>
        <p:blipFill>
          <a:blip r:embed="rId4"/>
          <a:stretch>
            <a:fillRect/>
          </a:stretch>
        </p:blipFill>
        <p:spPr>
          <a:xfrm>
            <a:off x="762000" y="6426200"/>
            <a:ext cx="208788" cy="152400"/>
          </a:xfrm>
          <a:prstGeom prst="rect">
            <a:avLst/>
          </a:prstGeom>
        </p:spPr>
      </p:pic>
      <p:sp>
        <p:nvSpPr>
          <p:cNvPr id="27" name="TextBox 26"/>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8" name="TextBox 27"/>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19</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18</a:t>
            </a:r>
            <a:r>
              <a:rPr sz="950" b="0" i="0" spc="240">
                <a:solidFill>
                  <a:srgbClr val="8E969D"/>
                </a:solidFill>
                <a:latin typeface="IBM Plex Mono"/>
                <a:ea typeface="IBM Plex Mono"/>
                <a:cs typeface="IBM Plex Sans Arabic"/>
              </a:rPr>
              <a:t>  COME BACK · MY ACCOUNT</a:t>
            </a:r>
          </a:p>
        </p:txBody>
      </p:sp>
      <p:sp>
        <p:nvSpPr>
          <p:cNvPr id="4" name="TextBox 3"/>
          <p:cNvSpPr txBox="1"/>
          <p:nvPr/>
        </p:nvSpPr>
        <p:spPr>
          <a:xfrm>
            <a:off x="762000" y="952500"/>
            <a:ext cx="5080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Everything you need</a:t>
            </a:r>
          </a:p>
          <a:p>
            <a:pPr algn="l">
              <a:lnSpc>
                <a:spcPct val="106000"/>
              </a:lnSpc>
            </a:pPr>
            <a:r>
              <a:rPr sz="3000" b="1" i="0" spc="-50">
                <a:solidFill>
                  <a:srgbClr val="FF5A36"/>
                </a:solidFill>
                <a:latin typeface="Alexandria"/>
                <a:ea typeface="Alexandria"/>
                <a:cs typeface="IBM Plex Sans Arabic"/>
              </a:rPr>
              <a:t>to order again.</a:t>
            </a:r>
          </a:p>
        </p:txBody>
      </p:sp>
      <p:sp>
        <p:nvSpPr>
          <p:cNvPr id="5" name="Rounded Rectangle 4"/>
          <p:cNvSpPr/>
          <p:nvPr/>
        </p:nvSpPr>
        <p:spPr>
          <a:xfrm>
            <a:off x="762000" y="2222500"/>
            <a:ext cx="2540000" cy="927100"/>
          </a:xfrm>
          <a:prstGeom prst="roundRect">
            <a:avLst>
              <a:gd name="adj" fmla="val 10958"/>
            </a:avLst>
          </a:prstGeom>
          <a:solidFill>
            <a:srgbClr val="1C2228"/>
          </a:solidFill>
          <a:ln w="12700">
            <a:solidFill>
              <a:srgbClr val="383B3E"/>
            </a:solidFill>
          </a:ln>
          <a:effectLst/>
        </p:spPr>
        <p:txBody>
          <a:bodyPr rtlCol="0" anchor="ctr" lIns="0" rIns="0"/>
          <a:lstStyle/>
          <a:p>
            <a:pPr algn="ctr"/>
          </a:p>
        </p:txBody>
      </p:sp>
      <p:sp>
        <p:nvSpPr>
          <p:cNvPr id="6" name="Rectangle 5"/>
          <p:cNvSpPr/>
          <p:nvPr/>
        </p:nvSpPr>
        <p:spPr>
          <a:xfrm>
            <a:off x="939800" y="2438400"/>
            <a:ext cx="76200" cy="76200"/>
          </a:xfrm>
          <a:prstGeom prst="rect">
            <a:avLst/>
          </a:prstGeom>
          <a:solidFill>
            <a:srgbClr val="FF5A36"/>
          </a:solidFill>
          <a:ln>
            <a:noFill/>
          </a:ln>
          <a:effectLst/>
        </p:spPr>
        <p:txBody>
          <a:bodyPr rtlCol="0" anchor="ctr" lIns="0" rIns="0"/>
          <a:lstStyle/>
          <a:p>
            <a:pPr algn="ctr"/>
          </a:p>
        </p:txBody>
      </p:sp>
      <p:sp>
        <p:nvSpPr>
          <p:cNvPr id="7" name="TextBox 6"/>
          <p:cNvSpPr txBox="1"/>
          <p:nvPr/>
        </p:nvSpPr>
        <p:spPr>
          <a:xfrm>
            <a:off x="1117600" y="2374900"/>
            <a:ext cx="20955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My orders</a:t>
            </a:r>
          </a:p>
        </p:txBody>
      </p:sp>
      <p:sp>
        <p:nvSpPr>
          <p:cNvPr id="8" name="TextBox 7"/>
          <p:cNvSpPr txBox="1"/>
          <p:nvPr/>
        </p:nvSpPr>
        <p:spPr>
          <a:xfrm>
            <a:off x="939800" y="2705100"/>
            <a:ext cx="2222500" cy="381000"/>
          </a:xfrm>
          <a:prstGeom prst="rect">
            <a:avLst/>
          </a:prstGeom>
          <a:noFill/>
        </p:spPr>
        <p:txBody>
          <a:bodyPr wrap="square" lIns="0" rIns="0" tIns="0" bIns="0" anchor="t">
            <a:noAutofit/>
          </a:bodyPr>
          <a:lstStyle/>
          <a:p>
            <a:pPr algn="l">
              <a:lnSpc>
                <a:spcPct val="130000"/>
              </a:lnSpc>
            </a:pPr>
            <a:r>
              <a:rPr sz="1050" b="0" i="0">
                <a:solidFill>
                  <a:srgbClr val="8E969D"/>
                </a:solidFill>
                <a:latin typeface="IBM Plex Sans"/>
                <a:ea typeface="IBM Plex Sans"/>
                <a:cs typeface="IBM Plex Sans Arabic"/>
              </a:rPr>
              <a:t>every receipt and its status</a:t>
            </a:r>
          </a:p>
        </p:txBody>
      </p:sp>
      <p:sp>
        <p:nvSpPr>
          <p:cNvPr id="9" name="Rounded Rectangle 8"/>
          <p:cNvSpPr/>
          <p:nvPr/>
        </p:nvSpPr>
        <p:spPr>
          <a:xfrm>
            <a:off x="3492500" y="2222500"/>
            <a:ext cx="2540000" cy="927100"/>
          </a:xfrm>
          <a:prstGeom prst="roundRect">
            <a:avLst>
              <a:gd name="adj" fmla="val 10958"/>
            </a:avLst>
          </a:prstGeom>
          <a:solidFill>
            <a:srgbClr val="1C2228"/>
          </a:solidFill>
          <a:ln w="12700">
            <a:solidFill>
              <a:srgbClr val="383B3E"/>
            </a:solidFill>
          </a:ln>
          <a:effectLst/>
        </p:spPr>
        <p:txBody>
          <a:bodyPr rtlCol="0" anchor="ctr" lIns="0" rIns="0"/>
          <a:lstStyle/>
          <a:p>
            <a:pPr algn="ctr"/>
          </a:p>
        </p:txBody>
      </p:sp>
      <p:sp>
        <p:nvSpPr>
          <p:cNvPr id="10" name="Rectangle 9"/>
          <p:cNvSpPr/>
          <p:nvPr/>
        </p:nvSpPr>
        <p:spPr>
          <a:xfrm>
            <a:off x="3670300" y="2438400"/>
            <a:ext cx="76200" cy="76200"/>
          </a:xfrm>
          <a:prstGeom prst="rect">
            <a:avLst/>
          </a:prstGeom>
          <a:solidFill>
            <a:srgbClr val="FF5A36"/>
          </a:solidFill>
          <a:ln>
            <a:noFill/>
          </a:ln>
          <a:effectLst/>
        </p:spPr>
        <p:txBody>
          <a:bodyPr rtlCol="0" anchor="ctr" lIns="0" rIns="0"/>
          <a:lstStyle/>
          <a:p>
            <a:pPr algn="ctr"/>
          </a:p>
        </p:txBody>
      </p:sp>
      <p:sp>
        <p:nvSpPr>
          <p:cNvPr id="11" name="TextBox 10"/>
          <p:cNvSpPr txBox="1"/>
          <p:nvPr/>
        </p:nvSpPr>
        <p:spPr>
          <a:xfrm>
            <a:off x="3848100" y="2374900"/>
            <a:ext cx="20955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Advisor plans</a:t>
            </a:r>
          </a:p>
        </p:txBody>
      </p:sp>
      <p:sp>
        <p:nvSpPr>
          <p:cNvPr id="12" name="TextBox 11"/>
          <p:cNvSpPr txBox="1"/>
          <p:nvPr/>
        </p:nvSpPr>
        <p:spPr>
          <a:xfrm>
            <a:off x="3670300" y="2705100"/>
            <a:ext cx="2222500" cy="381000"/>
          </a:xfrm>
          <a:prstGeom prst="rect">
            <a:avLst/>
          </a:prstGeom>
          <a:noFill/>
        </p:spPr>
        <p:txBody>
          <a:bodyPr wrap="square" lIns="0" rIns="0" tIns="0" bIns="0" anchor="t">
            <a:noAutofit/>
          </a:bodyPr>
          <a:lstStyle/>
          <a:p>
            <a:pPr algn="l">
              <a:lnSpc>
                <a:spcPct val="130000"/>
              </a:lnSpc>
            </a:pPr>
            <a:r>
              <a:rPr sz="1050" b="0" i="0">
                <a:solidFill>
                  <a:srgbClr val="8E969D"/>
                </a:solidFill>
                <a:latin typeface="IBM Plex Sans"/>
                <a:ea typeface="IBM Plex Sans"/>
                <a:cs typeface="IBM Plex Sans Arabic"/>
              </a:rPr>
              <a:t>saved plans, ready to reorder</a:t>
            </a:r>
          </a:p>
        </p:txBody>
      </p:sp>
      <p:sp>
        <p:nvSpPr>
          <p:cNvPr id="13" name="Rounded Rectangle 12"/>
          <p:cNvSpPr/>
          <p:nvPr/>
        </p:nvSpPr>
        <p:spPr>
          <a:xfrm>
            <a:off x="762000" y="3302000"/>
            <a:ext cx="2540000" cy="927100"/>
          </a:xfrm>
          <a:prstGeom prst="roundRect">
            <a:avLst>
              <a:gd name="adj" fmla="val 10958"/>
            </a:avLst>
          </a:prstGeom>
          <a:solidFill>
            <a:srgbClr val="1C2228"/>
          </a:solidFill>
          <a:ln w="12700">
            <a:solidFill>
              <a:srgbClr val="383B3E"/>
            </a:solidFill>
          </a:ln>
          <a:effectLst/>
        </p:spPr>
        <p:txBody>
          <a:bodyPr rtlCol="0" anchor="ctr" lIns="0" rIns="0"/>
          <a:lstStyle/>
          <a:p>
            <a:pPr algn="ctr"/>
          </a:p>
        </p:txBody>
      </p:sp>
      <p:sp>
        <p:nvSpPr>
          <p:cNvPr id="14" name="Rectangle 13"/>
          <p:cNvSpPr/>
          <p:nvPr/>
        </p:nvSpPr>
        <p:spPr>
          <a:xfrm>
            <a:off x="939800" y="3517900"/>
            <a:ext cx="76200" cy="76200"/>
          </a:xfrm>
          <a:prstGeom prst="rect">
            <a:avLst/>
          </a:prstGeom>
          <a:solidFill>
            <a:srgbClr val="FF5A36"/>
          </a:solidFill>
          <a:ln>
            <a:noFill/>
          </a:ln>
          <a:effectLst/>
        </p:spPr>
        <p:txBody>
          <a:bodyPr rtlCol="0" anchor="ctr" lIns="0" rIns="0"/>
          <a:lstStyle/>
          <a:p>
            <a:pPr algn="ctr"/>
          </a:p>
        </p:txBody>
      </p:sp>
      <p:sp>
        <p:nvSpPr>
          <p:cNvPr id="15" name="TextBox 14"/>
          <p:cNvSpPr txBox="1"/>
          <p:nvPr/>
        </p:nvSpPr>
        <p:spPr>
          <a:xfrm>
            <a:off x="1117600" y="3454400"/>
            <a:ext cx="20955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Wishlist</a:t>
            </a:r>
          </a:p>
        </p:txBody>
      </p:sp>
      <p:sp>
        <p:nvSpPr>
          <p:cNvPr id="16" name="TextBox 15"/>
          <p:cNvSpPr txBox="1"/>
          <p:nvPr/>
        </p:nvSpPr>
        <p:spPr>
          <a:xfrm>
            <a:off x="939800" y="3784600"/>
            <a:ext cx="2222500" cy="381000"/>
          </a:xfrm>
          <a:prstGeom prst="rect">
            <a:avLst/>
          </a:prstGeom>
          <a:noFill/>
        </p:spPr>
        <p:txBody>
          <a:bodyPr wrap="square" lIns="0" rIns="0" tIns="0" bIns="0" anchor="t">
            <a:noAutofit/>
          </a:bodyPr>
          <a:lstStyle/>
          <a:p>
            <a:pPr algn="l">
              <a:lnSpc>
                <a:spcPct val="130000"/>
              </a:lnSpc>
            </a:pPr>
            <a:r>
              <a:rPr sz="1050" b="0" i="0">
                <a:solidFill>
                  <a:srgbClr val="8E969D"/>
                </a:solidFill>
                <a:latin typeface="IBM Plex Sans"/>
                <a:ea typeface="IBM Plex Sans"/>
                <a:cs typeface="IBM Plex Sans Arabic"/>
              </a:rPr>
              <a:t>cuts saved with the heart</a:t>
            </a:r>
          </a:p>
        </p:txBody>
      </p:sp>
      <p:sp>
        <p:nvSpPr>
          <p:cNvPr id="17" name="Rounded Rectangle 16"/>
          <p:cNvSpPr/>
          <p:nvPr/>
        </p:nvSpPr>
        <p:spPr>
          <a:xfrm>
            <a:off x="3492500" y="3302000"/>
            <a:ext cx="2540000" cy="927100"/>
          </a:xfrm>
          <a:prstGeom prst="roundRect">
            <a:avLst>
              <a:gd name="adj" fmla="val 10958"/>
            </a:avLst>
          </a:prstGeom>
          <a:solidFill>
            <a:srgbClr val="1C2228"/>
          </a:solidFill>
          <a:ln w="12700">
            <a:solidFill>
              <a:srgbClr val="383B3E"/>
            </a:solidFill>
          </a:ln>
          <a:effectLst/>
        </p:spPr>
        <p:txBody>
          <a:bodyPr rtlCol="0" anchor="ctr" lIns="0" rIns="0"/>
          <a:lstStyle/>
          <a:p>
            <a:pPr algn="ctr"/>
          </a:p>
        </p:txBody>
      </p:sp>
      <p:sp>
        <p:nvSpPr>
          <p:cNvPr id="18" name="Rectangle 17"/>
          <p:cNvSpPr/>
          <p:nvPr/>
        </p:nvSpPr>
        <p:spPr>
          <a:xfrm>
            <a:off x="3670300" y="3517900"/>
            <a:ext cx="76200" cy="76200"/>
          </a:xfrm>
          <a:prstGeom prst="rect">
            <a:avLst/>
          </a:prstGeom>
          <a:solidFill>
            <a:srgbClr val="FF5A36"/>
          </a:solidFill>
          <a:ln>
            <a:noFill/>
          </a:ln>
          <a:effectLst/>
        </p:spPr>
        <p:txBody>
          <a:bodyPr rtlCol="0" anchor="ctr" lIns="0" rIns="0"/>
          <a:lstStyle/>
          <a:p>
            <a:pPr algn="ctr"/>
          </a:p>
        </p:txBody>
      </p:sp>
      <p:sp>
        <p:nvSpPr>
          <p:cNvPr id="19" name="TextBox 18"/>
          <p:cNvSpPr txBox="1"/>
          <p:nvPr/>
        </p:nvSpPr>
        <p:spPr>
          <a:xfrm>
            <a:off x="3848100" y="3454400"/>
            <a:ext cx="20955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Addresses</a:t>
            </a:r>
          </a:p>
        </p:txBody>
      </p:sp>
      <p:sp>
        <p:nvSpPr>
          <p:cNvPr id="20" name="TextBox 19"/>
          <p:cNvSpPr txBox="1"/>
          <p:nvPr/>
        </p:nvSpPr>
        <p:spPr>
          <a:xfrm>
            <a:off x="3670300" y="3784600"/>
            <a:ext cx="2222500" cy="381000"/>
          </a:xfrm>
          <a:prstGeom prst="rect">
            <a:avLst/>
          </a:prstGeom>
          <a:noFill/>
        </p:spPr>
        <p:txBody>
          <a:bodyPr wrap="square" lIns="0" rIns="0" tIns="0" bIns="0" anchor="t">
            <a:noAutofit/>
          </a:bodyPr>
          <a:lstStyle/>
          <a:p>
            <a:pPr algn="l">
              <a:lnSpc>
                <a:spcPct val="130000"/>
              </a:lnSpc>
            </a:pPr>
            <a:r>
              <a:rPr sz="1050" b="0" i="0">
                <a:solidFill>
                  <a:srgbClr val="8E969D"/>
                </a:solidFill>
                <a:latin typeface="IBM Plex Sans"/>
                <a:ea typeface="IBM Plex Sans"/>
                <a:cs typeface="IBM Plex Sans Arabic"/>
              </a:rPr>
              <a:t>home, work, other — one is default</a:t>
            </a:r>
          </a:p>
        </p:txBody>
      </p:sp>
      <p:sp>
        <p:nvSpPr>
          <p:cNvPr id="21" name="Rounded Rectangle 20"/>
          <p:cNvSpPr/>
          <p:nvPr/>
        </p:nvSpPr>
        <p:spPr>
          <a:xfrm>
            <a:off x="762000" y="4381500"/>
            <a:ext cx="2540000" cy="927100"/>
          </a:xfrm>
          <a:prstGeom prst="roundRect">
            <a:avLst>
              <a:gd name="adj" fmla="val 10958"/>
            </a:avLst>
          </a:prstGeom>
          <a:solidFill>
            <a:srgbClr val="1C2228"/>
          </a:solidFill>
          <a:ln w="12700">
            <a:solidFill>
              <a:srgbClr val="383B3E"/>
            </a:solidFill>
          </a:ln>
          <a:effectLst/>
        </p:spPr>
        <p:txBody>
          <a:bodyPr rtlCol="0" anchor="ctr" lIns="0" rIns="0"/>
          <a:lstStyle/>
          <a:p>
            <a:pPr algn="ctr"/>
          </a:p>
        </p:txBody>
      </p:sp>
      <p:sp>
        <p:nvSpPr>
          <p:cNvPr id="22" name="Rectangle 21"/>
          <p:cNvSpPr/>
          <p:nvPr/>
        </p:nvSpPr>
        <p:spPr>
          <a:xfrm>
            <a:off x="939800" y="4597400"/>
            <a:ext cx="76200" cy="76200"/>
          </a:xfrm>
          <a:prstGeom prst="rect">
            <a:avLst/>
          </a:prstGeom>
          <a:solidFill>
            <a:srgbClr val="FF5A36"/>
          </a:solidFill>
          <a:ln>
            <a:noFill/>
          </a:ln>
          <a:effectLst/>
        </p:spPr>
        <p:txBody>
          <a:bodyPr rtlCol="0" anchor="ctr" lIns="0" rIns="0"/>
          <a:lstStyle/>
          <a:p>
            <a:pPr algn="ctr"/>
          </a:p>
        </p:txBody>
      </p:sp>
      <p:sp>
        <p:nvSpPr>
          <p:cNvPr id="23" name="TextBox 22"/>
          <p:cNvSpPr txBox="1"/>
          <p:nvPr/>
        </p:nvSpPr>
        <p:spPr>
          <a:xfrm>
            <a:off x="1117600" y="4533900"/>
            <a:ext cx="20955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Profile</a:t>
            </a:r>
          </a:p>
        </p:txBody>
      </p:sp>
      <p:sp>
        <p:nvSpPr>
          <p:cNvPr id="24" name="TextBox 23"/>
          <p:cNvSpPr txBox="1"/>
          <p:nvPr/>
        </p:nvSpPr>
        <p:spPr>
          <a:xfrm>
            <a:off x="939800" y="4864100"/>
            <a:ext cx="2222500" cy="381000"/>
          </a:xfrm>
          <a:prstGeom prst="rect">
            <a:avLst/>
          </a:prstGeom>
          <a:noFill/>
        </p:spPr>
        <p:txBody>
          <a:bodyPr wrap="square" lIns="0" rIns="0" tIns="0" bIns="0" anchor="t">
            <a:noAutofit/>
          </a:bodyPr>
          <a:lstStyle/>
          <a:p>
            <a:pPr algn="l">
              <a:lnSpc>
                <a:spcPct val="130000"/>
              </a:lnSpc>
            </a:pPr>
            <a:r>
              <a:rPr sz="1050" b="0" i="0">
                <a:solidFill>
                  <a:srgbClr val="8E969D"/>
                </a:solidFill>
                <a:latin typeface="IBM Plex Sans"/>
                <a:ea typeface="IBM Plex Sans"/>
                <a:cs typeface="IBM Plex Sans Arabic"/>
              </a:rPr>
              <a:t>name and mobile number</a:t>
            </a:r>
          </a:p>
        </p:txBody>
      </p:sp>
      <p:sp>
        <p:nvSpPr>
          <p:cNvPr id="25" name="Rounded Rectangle 24"/>
          <p:cNvSpPr/>
          <p:nvPr/>
        </p:nvSpPr>
        <p:spPr>
          <a:xfrm>
            <a:off x="3492500" y="4381500"/>
            <a:ext cx="2540000" cy="927100"/>
          </a:xfrm>
          <a:prstGeom prst="roundRect">
            <a:avLst>
              <a:gd name="adj" fmla="val 10958"/>
            </a:avLst>
          </a:prstGeom>
          <a:solidFill>
            <a:srgbClr val="1C2228"/>
          </a:solidFill>
          <a:ln w="12700">
            <a:solidFill>
              <a:srgbClr val="383B3E"/>
            </a:solidFill>
          </a:ln>
          <a:effectLst/>
        </p:spPr>
        <p:txBody>
          <a:bodyPr rtlCol="0" anchor="ctr" lIns="0" rIns="0"/>
          <a:lstStyle/>
          <a:p>
            <a:pPr algn="ctr"/>
          </a:p>
        </p:txBody>
      </p:sp>
      <p:sp>
        <p:nvSpPr>
          <p:cNvPr id="26" name="Rectangle 25"/>
          <p:cNvSpPr/>
          <p:nvPr/>
        </p:nvSpPr>
        <p:spPr>
          <a:xfrm>
            <a:off x="3670300" y="4597400"/>
            <a:ext cx="76200" cy="76200"/>
          </a:xfrm>
          <a:prstGeom prst="rect">
            <a:avLst/>
          </a:prstGeom>
          <a:solidFill>
            <a:srgbClr val="FF5A36"/>
          </a:solidFill>
          <a:ln>
            <a:noFill/>
          </a:ln>
          <a:effectLst/>
        </p:spPr>
        <p:txBody>
          <a:bodyPr rtlCol="0" anchor="ctr" lIns="0" rIns="0"/>
          <a:lstStyle/>
          <a:p>
            <a:pPr algn="ctr"/>
          </a:p>
        </p:txBody>
      </p:sp>
      <p:sp>
        <p:nvSpPr>
          <p:cNvPr id="27" name="TextBox 26"/>
          <p:cNvSpPr txBox="1"/>
          <p:nvPr/>
        </p:nvSpPr>
        <p:spPr>
          <a:xfrm>
            <a:off x="3848100" y="4533900"/>
            <a:ext cx="20955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Help &amp; language</a:t>
            </a:r>
          </a:p>
        </p:txBody>
      </p:sp>
      <p:sp>
        <p:nvSpPr>
          <p:cNvPr id="28" name="TextBox 27"/>
          <p:cNvSpPr txBox="1"/>
          <p:nvPr/>
        </p:nvSpPr>
        <p:spPr>
          <a:xfrm>
            <a:off x="3670300" y="4864100"/>
            <a:ext cx="2222500" cy="381000"/>
          </a:xfrm>
          <a:prstGeom prst="rect">
            <a:avLst/>
          </a:prstGeom>
          <a:noFill/>
        </p:spPr>
        <p:txBody>
          <a:bodyPr wrap="square" lIns="0" rIns="0" tIns="0" bIns="0" anchor="t">
            <a:noAutofit/>
          </a:bodyPr>
          <a:lstStyle/>
          <a:p>
            <a:pPr algn="l">
              <a:lnSpc>
                <a:spcPct val="130000"/>
              </a:lnSpc>
            </a:pPr>
            <a:r>
              <a:rPr sz="1050" b="0" i="0">
                <a:solidFill>
                  <a:srgbClr val="8E969D"/>
                </a:solidFill>
                <a:latin typeface="IBM Plex Sans"/>
                <a:ea typeface="IBM Plex Sans"/>
                <a:cs typeface="IBM Plex Sans Arabic"/>
              </a:rPr>
              <a:t>FAQ, contact, العربية / English</a:t>
            </a:r>
          </a:p>
        </p:txBody>
      </p:sp>
      <p:pic>
        <p:nvPicPr>
          <p:cNvPr id="29" name="Picture 28" descr="p-acc.jpg"/>
          <p:cNvPicPr>
            <a:picLocks noChangeAspect="1"/>
          </p:cNvPicPr>
          <p:nvPr/>
        </p:nvPicPr>
        <p:blipFill>
          <a:blip r:embed="rId3"/>
          <a:stretch>
            <a:fillRect/>
          </a:stretch>
        </p:blipFill>
        <p:spPr>
          <a:xfrm>
            <a:off x="6502400" y="469900"/>
            <a:ext cx="3026156" cy="5791200"/>
          </a:xfrm>
          <a:prstGeom prst="rect">
            <a:avLst/>
          </a:prstGeom>
        </p:spPr>
      </p:pic>
      <p:pic>
        <p:nvPicPr>
          <p:cNvPr id="30" name="Picture 29" descr="p-ord.jpg"/>
          <p:cNvPicPr>
            <a:picLocks noChangeAspect="1"/>
          </p:cNvPicPr>
          <p:nvPr/>
        </p:nvPicPr>
        <p:blipFill>
          <a:blip r:embed="rId4"/>
          <a:stretch>
            <a:fillRect/>
          </a:stretch>
        </p:blipFill>
        <p:spPr>
          <a:xfrm>
            <a:off x="9071356" y="469900"/>
            <a:ext cx="3026156" cy="5791200"/>
          </a:xfrm>
          <a:prstGeom prst="rect">
            <a:avLst/>
          </a:prstGeom>
        </p:spPr>
      </p:pic>
      <p:pic>
        <p:nvPicPr>
          <p:cNvPr id="31" name="Picture 30" descr="logo-bone.png"/>
          <p:cNvPicPr>
            <a:picLocks noChangeAspect="1"/>
          </p:cNvPicPr>
          <p:nvPr/>
        </p:nvPicPr>
        <p:blipFill>
          <a:blip r:embed="rId5"/>
          <a:stretch>
            <a:fillRect/>
          </a:stretch>
        </p:blipFill>
        <p:spPr>
          <a:xfrm>
            <a:off x="762000" y="6426200"/>
            <a:ext cx="208788" cy="152400"/>
          </a:xfrm>
          <a:prstGeom prst="rect">
            <a:avLst/>
          </a:prstGeom>
        </p:spPr>
      </p:pic>
      <p:sp>
        <p:nvSpPr>
          <p:cNvPr id="32" name="TextBox 31"/>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33" name="TextBox 32"/>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20</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19</a:t>
            </a:r>
            <a:r>
              <a:rPr sz="950" b="0" i="0" spc="240">
                <a:solidFill>
                  <a:srgbClr val="8E969D"/>
                </a:solidFill>
                <a:latin typeface="IBM Plex Mono"/>
                <a:ea typeface="IBM Plex Mono"/>
                <a:cs typeface="IBM Plex Sans Arabic"/>
              </a:rPr>
              <a:t>  ON THE PHONE</a:t>
            </a:r>
          </a:p>
        </p:txBody>
      </p:sp>
      <p:sp>
        <p:nvSpPr>
          <p:cNvPr id="4" name="TextBox 3"/>
          <p:cNvSpPr txBox="1"/>
          <p:nvPr/>
        </p:nvSpPr>
        <p:spPr>
          <a:xfrm>
            <a:off x="762000" y="952500"/>
            <a:ext cx="4572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On a phone,</a:t>
            </a:r>
          </a:p>
          <a:p>
            <a:pPr algn="l">
              <a:lnSpc>
                <a:spcPct val="106000"/>
              </a:lnSpc>
            </a:pPr>
            <a:r>
              <a:rPr sz="3000" b="1" i="0" spc="-50">
                <a:solidFill>
                  <a:srgbClr val="FF5A36"/>
                </a:solidFill>
                <a:latin typeface="Alexandria"/>
                <a:ea typeface="Alexandria"/>
                <a:cs typeface="IBM Plex Sans Arabic"/>
              </a:rPr>
              <a:t>it feels like an app.</a:t>
            </a:r>
          </a:p>
        </p:txBody>
      </p:sp>
      <p:sp>
        <p:nvSpPr>
          <p:cNvPr id="5" name="Rectangle 4"/>
          <p:cNvSpPr/>
          <p:nvPr/>
        </p:nvSpPr>
        <p:spPr>
          <a:xfrm>
            <a:off x="762000" y="2296795"/>
            <a:ext cx="63500" cy="63500"/>
          </a:xfrm>
          <a:prstGeom prst="rect">
            <a:avLst/>
          </a:prstGeom>
          <a:solidFill>
            <a:srgbClr val="FF5A36"/>
          </a:solidFill>
          <a:ln>
            <a:noFill/>
          </a:ln>
          <a:effectLst/>
        </p:spPr>
        <p:txBody>
          <a:bodyPr rtlCol="0" anchor="ctr" lIns="0" rIns="0"/>
          <a:lstStyle/>
          <a:p>
            <a:pPr algn="ctr"/>
          </a:p>
        </p:txBody>
      </p:sp>
      <p:sp>
        <p:nvSpPr>
          <p:cNvPr id="6" name="TextBox 5"/>
          <p:cNvSpPr txBox="1"/>
          <p:nvPr/>
        </p:nvSpPr>
        <p:spPr>
          <a:xfrm>
            <a:off x="952500" y="2222500"/>
            <a:ext cx="3746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Tab bar</a:t>
            </a:r>
            <a:r>
              <a:rPr sz="1300" b="0" i="0">
                <a:solidFill>
                  <a:srgbClr val="C8C1B7"/>
                </a:solidFill>
                <a:latin typeface="IBM Plex Sans"/>
                <a:ea typeface="IBM Plex Sans"/>
                <a:cs typeface="IBM Plex Sans Arabic"/>
              </a:rPr>
              <a:t> with the advisor in the middle</a:t>
            </a:r>
          </a:p>
        </p:txBody>
      </p:sp>
      <p:sp>
        <p:nvSpPr>
          <p:cNvPr id="7" name="Rectangle 6"/>
          <p:cNvSpPr/>
          <p:nvPr/>
        </p:nvSpPr>
        <p:spPr>
          <a:xfrm>
            <a:off x="762000" y="2620645"/>
            <a:ext cx="63500" cy="63500"/>
          </a:xfrm>
          <a:prstGeom prst="rect">
            <a:avLst/>
          </a:prstGeom>
          <a:solidFill>
            <a:srgbClr val="FF5A36"/>
          </a:solidFill>
          <a:ln>
            <a:noFill/>
          </a:ln>
          <a:effectLst/>
        </p:spPr>
        <p:txBody>
          <a:bodyPr rtlCol="0" anchor="ctr" lIns="0" rIns="0"/>
          <a:lstStyle/>
          <a:p>
            <a:pPr algn="ctr"/>
          </a:p>
        </p:txBody>
      </p:sp>
      <p:sp>
        <p:nvSpPr>
          <p:cNvPr id="8" name="TextBox 7"/>
          <p:cNvSpPr txBox="1"/>
          <p:nvPr/>
        </p:nvSpPr>
        <p:spPr>
          <a:xfrm>
            <a:off x="952500" y="2546350"/>
            <a:ext cx="3746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Large titles</a:t>
            </a:r>
            <a:r>
              <a:rPr sz="1300" b="0" i="0">
                <a:solidFill>
                  <a:srgbClr val="C8C1B7"/>
                </a:solidFill>
                <a:latin typeface="IBM Plex Sans"/>
                <a:ea typeface="IBM Plex Sans"/>
                <a:cs typeface="IBM Plex Sans Arabic"/>
              </a:rPr>
              <a:t> that shrink as you scroll</a:t>
            </a:r>
          </a:p>
        </p:txBody>
      </p:sp>
      <p:sp>
        <p:nvSpPr>
          <p:cNvPr id="9" name="Rectangle 8"/>
          <p:cNvSpPr/>
          <p:nvPr/>
        </p:nvSpPr>
        <p:spPr>
          <a:xfrm>
            <a:off x="762000" y="2944495"/>
            <a:ext cx="63500" cy="63500"/>
          </a:xfrm>
          <a:prstGeom prst="rect">
            <a:avLst/>
          </a:prstGeom>
          <a:solidFill>
            <a:srgbClr val="FF5A36"/>
          </a:solidFill>
          <a:ln>
            <a:noFill/>
          </a:ln>
          <a:effectLst/>
        </p:spPr>
        <p:txBody>
          <a:bodyPr rtlCol="0" anchor="ctr" lIns="0" rIns="0"/>
          <a:lstStyle/>
          <a:p>
            <a:pPr algn="ctr"/>
          </a:p>
        </p:txBody>
      </p:sp>
      <p:sp>
        <p:nvSpPr>
          <p:cNvPr id="10" name="TextBox 9"/>
          <p:cNvSpPr txBox="1"/>
          <p:nvPr/>
        </p:nvSpPr>
        <p:spPr>
          <a:xfrm>
            <a:off x="952500" y="2870200"/>
            <a:ext cx="3746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Bottom sheets</a:t>
            </a:r>
            <a:r>
              <a:rPr sz="1300" b="0" i="0">
                <a:solidFill>
                  <a:srgbClr val="C8C1B7"/>
                </a:solidFill>
                <a:latin typeface="IBM Plex Sans"/>
                <a:ea typeface="IBM Plex Sans"/>
                <a:cs typeface="IBM Plex Sans Arabic"/>
              </a:rPr>
              <a:t> for choices and addresses</a:t>
            </a:r>
          </a:p>
        </p:txBody>
      </p:sp>
      <p:sp>
        <p:nvSpPr>
          <p:cNvPr id="11" name="Rectangle 10"/>
          <p:cNvSpPr/>
          <p:nvPr/>
        </p:nvSpPr>
        <p:spPr>
          <a:xfrm>
            <a:off x="762000" y="3268345"/>
            <a:ext cx="63500" cy="63500"/>
          </a:xfrm>
          <a:prstGeom prst="rect">
            <a:avLst/>
          </a:prstGeom>
          <a:solidFill>
            <a:srgbClr val="FF5A36"/>
          </a:solidFill>
          <a:ln>
            <a:noFill/>
          </a:ln>
          <a:effectLst/>
        </p:spPr>
        <p:txBody>
          <a:bodyPr rtlCol="0" anchor="ctr" lIns="0" rIns="0"/>
          <a:lstStyle/>
          <a:p>
            <a:pPr algn="ctr"/>
          </a:p>
        </p:txBody>
      </p:sp>
      <p:sp>
        <p:nvSpPr>
          <p:cNvPr id="12" name="TextBox 11"/>
          <p:cNvSpPr txBox="1"/>
          <p:nvPr/>
        </p:nvSpPr>
        <p:spPr>
          <a:xfrm>
            <a:off x="952500" y="3194050"/>
            <a:ext cx="3746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Fixed action bar</a:t>
            </a:r>
            <a:r>
              <a:rPr sz="1300" b="0" i="0">
                <a:solidFill>
                  <a:srgbClr val="C8C1B7"/>
                </a:solidFill>
                <a:latin typeface="IBM Plex Sans"/>
                <a:ea typeface="IBM Plex Sans"/>
                <a:cs typeface="IBM Plex Sans Arabic"/>
              </a:rPr>
              <a:t> with the live total</a:t>
            </a:r>
          </a:p>
        </p:txBody>
      </p:sp>
      <p:sp>
        <p:nvSpPr>
          <p:cNvPr id="13" name="Rectangle 12"/>
          <p:cNvSpPr/>
          <p:nvPr/>
        </p:nvSpPr>
        <p:spPr>
          <a:xfrm>
            <a:off x="762000" y="3592195"/>
            <a:ext cx="63500" cy="63500"/>
          </a:xfrm>
          <a:prstGeom prst="rect">
            <a:avLst/>
          </a:prstGeom>
          <a:solidFill>
            <a:srgbClr val="FF5A36"/>
          </a:solidFill>
          <a:ln>
            <a:noFill/>
          </a:ln>
          <a:effectLst/>
        </p:spPr>
        <p:txBody>
          <a:bodyPr rtlCol="0" anchor="ctr" lIns="0" rIns="0"/>
          <a:lstStyle/>
          <a:p>
            <a:pPr algn="ctr"/>
          </a:p>
        </p:txBody>
      </p:sp>
      <p:sp>
        <p:nvSpPr>
          <p:cNvPr id="14" name="TextBox 13"/>
          <p:cNvSpPr txBox="1"/>
          <p:nvPr/>
        </p:nvSpPr>
        <p:spPr>
          <a:xfrm>
            <a:off x="952500" y="3517900"/>
            <a:ext cx="3746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Install it</a:t>
            </a:r>
            <a:r>
              <a:rPr sz="1300" b="0" i="0">
                <a:solidFill>
                  <a:srgbClr val="C8C1B7"/>
                </a:solidFill>
                <a:latin typeface="IBM Plex Sans"/>
                <a:ea typeface="IBM Plex Sans"/>
                <a:cs typeface="IBM Plex Sans Arabic"/>
              </a:rPr>
              <a:t> to the home screen (PWA)</a:t>
            </a:r>
          </a:p>
        </p:txBody>
      </p:sp>
      <p:pic>
        <p:nvPicPr>
          <p:cNvPr id="15" name="Picture 14" descr="p-home.jpg"/>
          <p:cNvPicPr>
            <a:picLocks noChangeAspect="1"/>
          </p:cNvPicPr>
          <p:nvPr/>
        </p:nvPicPr>
        <p:blipFill>
          <a:blip r:embed="rId3"/>
          <a:stretch>
            <a:fillRect/>
          </a:stretch>
        </p:blipFill>
        <p:spPr>
          <a:xfrm>
            <a:off x="4533900" y="596900"/>
            <a:ext cx="2852534" cy="5410200"/>
          </a:xfrm>
          <a:prstGeom prst="rect">
            <a:avLst/>
          </a:prstGeom>
        </p:spPr>
      </p:pic>
      <p:pic>
        <p:nvPicPr>
          <p:cNvPr id="16" name="Picture 15" descr="p-prod.jpg"/>
          <p:cNvPicPr>
            <a:picLocks noChangeAspect="1"/>
          </p:cNvPicPr>
          <p:nvPr/>
        </p:nvPicPr>
        <p:blipFill>
          <a:blip r:embed="rId4"/>
          <a:stretch>
            <a:fillRect/>
          </a:stretch>
        </p:blipFill>
        <p:spPr>
          <a:xfrm>
            <a:off x="6891134" y="596900"/>
            <a:ext cx="2852534" cy="5410200"/>
          </a:xfrm>
          <a:prstGeom prst="rect">
            <a:avLst/>
          </a:prstGeom>
        </p:spPr>
      </p:pic>
      <p:pic>
        <p:nvPicPr>
          <p:cNvPr id="17" name="Picture 16" descr="p-co.jpg"/>
          <p:cNvPicPr>
            <a:picLocks noChangeAspect="1"/>
          </p:cNvPicPr>
          <p:nvPr/>
        </p:nvPicPr>
        <p:blipFill>
          <a:blip r:embed="rId5"/>
          <a:stretch>
            <a:fillRect/>
          </a:stretch>
        </p:blipFill>
        <p:spPr>
          <a:xfrm>
            <a:off x="9248369" y="596900"/>
            <a:ext cx="2852534" cy="5410200"/>
          </a:xfrm>
          <a:prstGeom prst="rect">
            <a:avLst/>
          </a:prstGeom>
        </p:spPr>
      </p:pic>
      <p:pic>
        <p:nvPicPr>
          <p:cNvPr id="18" name="Picture 17" descr="logo-bone.png"/>
          <p:cNvPicPr>
            <a:picLocks noChangeAspect="1"/>
          </p:cNvPicPr>
          <p:nvPr/>
        </p:nvPicPr>
        <p:blipFill>
          <a:blip r:embed="rId6"/>
          <a:stretch>
            <a:fillRect/>
          </a:stretch>
        </p:blipFill>
        <p:spPr>
          <a:xfrm>
            <a:off x="762000" y="6426200"/>
            <a:ext cx="208788" cy="152400"/>
          </a:xfrm>
          <a:prstGeom prst="rect">
            <a:avLst/>
          </a:prstGeom>
        </p:spPr>
      </p:pic>
      <p:sp>
        <p:nvSpPr>
          <p:cNvPr id="19" name="TextBox 18"/>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0" name="TextBox 19"/>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21</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20</a:t>
            </a:r>
            <a:r>
              <a:rPr sz="950" b="0" i="0" spc="240">
                <a:solidFill>
                  <a:srgbClr val="8E969D"/>
                </a:solidFill>
                <a:latin typeface="IBM Plex Mono"/>
                <a:ea typeface="IBM Plex Mono"/>
                <a:cs typeface="IBM Plex Sans Arabic"/>
              </a:rPr>
              <a:t>  TWO LANGUAGES</a:t>
            </a:r>
          </a:p>
        </p:txBody>
      </p:sp>
      <p:sp>
        <p:nvSpPr>
          <p:cNvPr id="4" name="TextBox 3"/>
          <p:cNvSpPr txBox="1"/>
          <p:nvPr/>
        </p:nvSpPr>
        <p:spPr>
          <a:xfrm>
            <a:off x="762000" y="952500"/>
            <a:ext cx="10160000" cy="5270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Arabic first. Full English too.</a:t>
            </a:r>
          </a:p>
        </p:txBody>
      </p:sp>
      <p:pic>
        <p:nvPicPr>
          <p:cNvPr id="5" name="Picture 4" descr="b-ar.jpg"/>
          <p:cNvPicPr>
            <a:picLocks noChangeAspect="1"/>
          </p:cNvPicPr>
          <p:nvPr/>
        </p:nvPicPr>
        <p:blipFill>
          <a:blip r:embed="rId3"/>
          <a:stretch>
            <a:fillRect/>
          </a:stretch>
        </p:blipFill>
        <p:spPr>
          <a:xfrm>
            <a:off x="533400" y="1676400"/>
            <a:ext cx="5791200" cy="3886200"/>
          </a:xfrm>
          <a:prstGeom prst="rect">
            <a:avLst/>
          </a:prstGeom>
        </p:spPr>
      </p:pic>
      <p:pic>
        <p:nvPicPr>
          <p:cNvPr id="6" name="Picture 5" descr="b-en.jpg"/>
          <p:cNvPicPr>
            <a:picLocks noChangeAspect="1"/>
          </p:cNvPicPr>
          <p:nvPr/>
        </p:nvPicPr>
        <p:blipFill>
          <a:blip r:embed="rId4"/>
          <a:stretch>
            <a:fillRect/>
          </a:stretch>
        </p:blipFill>
        <p:spPr>
          <a:xfrm>
            <a:off x="5994400" y="1676400"/>
            <a:ext cx="5791200" cy="3886200"/>
          </a:xfrm>
          <a:prstGeom prst="rect">
            <a:avLst/>
          </a:prstGeom>
        </p:spPr>
      </p:pic>
      <p:sp>
        <p:nvSpPr>
          <p:cNvPr id="7" name="TextBox 6"/>
          <p:cNvSpPr txBox="1"/>
          <p:nvPr/>
        </p:nvSpPr>
        <p:spPr>
          <a:xfrm>
            <a:off x="889000" y="5461000"/>
            <a:ext cx="5080000" cy="508000"/>
          </a:xfrm>
          <a:prstGeom prst="rect">
            <a:avLst/>
          </a:prstGeom>
          <a:noFill/>
        </p:spPr>
        <p:txBody>
          <a:bodyPr wrap="square" lIns="0" rIns="0" tIns="0" bIns="0" anchor="t">
            <a:noAutofit/>
          </a:bodyPr>
          <a:lstStyle/>
          <a:p>
            <a:pPr algn="l">
              <a:lnSpc>
                <a:spcPct val="120000"/>
              </a:lnSpc>
            </a:pPr>
            <a:r>
              <a:rPr sz="1200" b="1" i="0">
                <a:solidFill>
                  <a:srgbClr val="EDE8E1"/>
                </a:solidFill>
                <a:latin typeface="IBM Plex Sans Arabic"/>
                <a:ea typeface="IBM Plex Sans Arabic"/>
                <a:cs typeface="IBM Plex Sans Arabic"/>
              </a:rPr>
              <a:t>العربية  </a:t>
            </a:r>
            <a:r>
              <a:rPr sz="1200" b="0" i="0">
                <a:solidFill>
                  <a:srgbClr val="8E969D"/>
                </a:solidFill>
                <a:latin typeface="IBM Plex Sans"/>
                <a:ea typeface="IBM Plex Sans"/>
                <a:cs typeface="IBM Plex Sans Arabic"/>
              </a:rPr>
              <a:t>Right to left · the main site</a:t>
            </a:r>
          </a:p>
        </p:txBody>
      </p:sp>
      <p:sp>
        <p:nvSpPr>
          <p:cNvPr id="8" name="TextBox 7"/>
          <p:cNvSpPr txBox="1"/>
          <p:nvPr/>
        </p:nvSpPr>
        <p:spPr>
          <a:xfrm>
            <a:off x="6350000" y="5461000"/>
            <a:ext cx="5080000" cy="508000"/>
          </a:xfrm>
          <a:prstGeom prst="rect">
            <a:avLst/>
          </a:prstGeom>
          <a:noFill/>
        </p:spPr>
        <p:txBody>
          <a:bodyPr wrap="square" lIns="0" rIns="0" tIns="0" bIns="0" anchor="t">
            <a:noAutofit/>
          </a:bodyPr>
          <a:lstStyle/>
          <a:p>
            <a:pPr algn="l">
              <a:lnSpc>
                <a:spcPct val="120000"/>
              </a:lnSpc>
            </a:pPr>
            <a:r>
              <a:rPr sz="1200" b="1" i="0">
                <a:solidFill>
                  <a:srgbClr val="EDE8E1"/>
                </a:solidFill>
                <a:latin typeface="IBM Plex Sans"/>
                <a:ea typeface="IBM Plex Sans"/>
                <a:cs typeface="IBM Plex Sans Arabic"/>
              </a:rPr>
              <a:t>English  </a:t>
            </a:r>
            <a:r>
              <a:rPr sz="1200" b="0" i="0">
                <a:solidFill>
                  <a:srgbClr val="8E969D"/>
                </a:solidFill>
                <a:latin typeface="IBM Plex Sans"/>
                <a:ea typeface="IBM Plex Sans"/>
                <a:cs typeface="IBM Plex Sans Arabic"/>
              </a:rPr>
              <a:t>Left to right · every page under /en/</a:t>
            </a:r>
          </a:p>
        </p:txBody>
      </p:sp>
      <p:sp>
        <p:nvSpPr>
          <p:cNvPr id="9" name="TextBox 8"/>
          <p:cNvSpPr txBox="1"/>
          <p:nvPr/>
        </p:nvSpPr>
        <p:spPr>
          <a:xfrm>
            <a:off x="762000" y="1562100"/>
            <a:ext cx="10668000" cy="254000"/>
          </a:xfrm>
          <a:prstGeom prst="rect">
            <a:avLst/>
          </a:prstGeom>
          <a:noFill/>
        </p:spPr>
        <p:txBody>
          <a:bodyPr wrap="square" lIns="0" rIns="0" tIns="0" bIns="0" anchor="t">
            <a:noAutofit/>
          </a:bodyPr>
          <a:lstStyle/>
          <a:p>
            <a:pPr algn="l">
              <a:lnSpc>
                <a:spcPct val="120000"/>
              </a:lnSpc>
            </a:pPr>
            <a:r>
              <a:rPr sz="1200" b="0" i="0">
                <a:solidFill>
                  <a:srgbClr val="C8C1B7"/>
                </a:solidFill>
                <a:latin typeface="IBM Plex Sans"/>
                <a:ea typeface="IBM Plex Sans"/>
                <a:cs typeface="IBM Plex Sans Arabic"/>
              </a:rPr>
              <a:t>One tap on EN / ع keeps you on the same page. Cart, orders and addresses are shared.</a:t>
            </a:r>
          </a:p>
        </p:txBody>
      </p:sp>
      <p:pic>
        <p:nvPicPr>
          <p:cNvPr id="10" name="Picture 9" descr="logo-bone.png"/>
          <p:cNvPicPr>
            <a:picLocks noChangeAspect="1"/>
          </p:cNvPicPr>
          <p:nvPr/>
        </p:nvPicPr>
        <p:blipFill>
          <a:blip r:embed="rId5"/>
          <a:stretch>
            <a:fillRect/>
          </a:stretch>
        </p:blipFill>
        <p:spPr>
          <a:xfrm>
            <a:off x="762000" y="6426200"/>
            <a:ext cx="208788" cy="152400"/>
          </a:xfrm>
          <a:prstGeom prst="rect">
            <a:avLst/>
          </a:prstGeom>
        </p:spPr>
      </p:pic>
      <p:sp>
        <p:nvSpPr>
          <p:cNvPr id="11" name="TextBox 10"/>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12" name="TextBox 11"/>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22</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21</a:t>
            </a:r>
            <a:r>
              <a:rPr sz="950" b="0" i="0" spc="240">
                <a:solidFill>
                  <a:srgbClr val="8E969D"/>
                </a:solidFill>
                <a:latin typeface="IBM Plex Mono"/>
                <a:ea typeface="IBM Plex Mono"/>
                <a:cs typeface="IBM Plex Sans Arabic"/>
              </a:rPr>
              <a:t>  HELP, TRUST AND SEARCH</a:t>
            </a:r>
          </a:p>
        </p:txBody>
      </p:sp>
      <p:sp>
        <p:nvSpPr>
          <p:cNvPr id="4" name="TextBox 3"/>
          <p:cNvSpPr txBox="1"/>
          <p:nvPr/>
        </p:nvSpPr>
        <p:spPr>
          <a:xfrm>
            <a:off x="762000" y="952500"/>
            <a:ext cx="4699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Answers before</a:t>
            </a:r>
          </a:p>
          <a:p>
            <a:pPr algn="l">
              <a:lnSpc>
                <a:spcPct val="106000"/>
              </a:lnSpc>
            </a:pPr>
            <a:r>
              <a:rPr sz="3000" b="1" i="0" spc="-50">
                <a:solidFill>
                  <a:srgbClr val="FF5A36"/>
                </a:solidFill>
                <a:latin typeface="Alexandria"/>
                <a:ea typeface="Alexandria"/>
                <a:cs typeface="IBM Plex Sans Arabic"/>
              </a:rPr>
              <a:t>people have to ask.</a:t>
            </a:r>
          </a:p>
        </p:txBody>
      </p:sp>
      <p:sp>
        <p:nvSpPr>
          <p:cNvPr id="5" name="TextBox 4"/>
          <p:cNvSpPr txBox="1"/>
          <p:nvPr/>
        </p:nvSpPr>
        <p:spPr>
          <a:xfrm>
            <a:off x="762000" y="2286000"/>
            <a:ext cx="4445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Help center</a:t>
            </a:r>
          </a:p>
        </p:txBody>
      </p:sp>
      <p:sp>
        <p:nvSpPr>
          <p:cNvPr id="6" name="TextBox 5"/>
          <p:cNvSpPr txBox="1"/>
          <p:nvPr/>
        </p:nvSpPr>
        <p:spPr>
          <a:xfrm>
            <a:off x="762000" y="2552700"/>
            <a:ext cx="4445000" cy="508000"/>
          </a:xfrm>
          <a:prstGeom prst="rect">
            <a:avLst/>
          </a:prstGeom>
          <a:noFill/>
        </p:spPr>
        <p:txBody>
          <a:bodyPr wrap="square" lIns="0" rIns="0" tIns="0" bIns="0" anchor="t">
            <a:noAutofit/>
          </a:bodyPr>
          <a:lstStyle/>
          <a:p>
            <a:pPr algn="l">
              <a:lnSpc>
                <a:spcPct val="135000"/>
              </a:lnSpc>
            </a:pPr>
            <a:r>
              <a:rPr sz="1150" b="0" i="0">
                <a:solidFill>
                  <a:srgbClr val="8E969D"/>
                </a:solidFill>
                <a:latin typeface="IBM Plex Sans"/>
                <a:ea typeface="IBM Plex Sans"/>
                <a:cs typeface="IBM Plex Sans Arabic"/>
              </a:rPr>
              <a:t>6 topics, 20+ questions: delivery, cutting, payment, returns, the advisor, account.</a:t>
            </a:r>
          </a:p>
        </p:txBody>
      </p:sp>
      <p:sp>
        <p:nvSpPr>
          <p:cNvPr id="7" name="TextBox 6"/>
          <p:cNvSpPr txBox="1"/>
          <p:nvPr/>
        </p:nvSpPr>
        <p:spPr>
          <a:xfrm>
            <a:off x="762000" y="3238500"/>
            <a:ext cx="4445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Contact</a:t>
            </a:r>
          </a:p>
        </p:txBody>
      </p:sp>
      <p:sp>
        <p:nvSpPr>
          <p:cNvPr id="8" name="TextBox 7"/>
          <p:cNvSpPr txBox="1"/>
          <p:nvPr/>
        </p:nvSpPr>
        <p:spPr>
          <a:xfrm>
            <a:off x="762000" y="3505200"/>
            <a:ext cx="4445000" cy="508000"/>
          </a:xfrm>
          <a:prstGeom prst="rect">
            <a:avLst/>
          </a:prstGeom>
          <a:noFill/>
        </p:spPr>
        <p:txBody>
          <a:bodyPr wrap="square" lIns="0" rIns="0" tIns="0" bIns="0" anchor="t">
            <a:noAutofit/>
          </a:bodyPr>
          <a:lstStyle/>
          <a:p>
            <a:pPr algn="l">
              <a:lnSpc>
                <a:spcPct val="135000"/>
              </a:lnSpc>
            </a:pPr>
            <a:r>
              <a:rPr sz="1150" b="0" i="0">
                <a:solidFill>
                  <a:srgbClr val="8E969D"/>
                </a:solidFill>
                <a:latin typeface="IBM Plex Sans"/>
                <a:ea typeface="IBM Plex Sans"/>
                <a:cs typeface="IBM Plex Sans Arabic"/>
              </a:rPr>
              <a:t>Phone, WhatsApp, email, and a form with topics and an order number.</a:t>
            </a:r>
          </a:p>
        </p:txBody>
      </p:sp>
      <p:sp>
        <p:nvSpPr>
          <p:cNvPr id="9" name="TextBox 8"/>
          <p:cNvSpPr txBox="1"/>
          <p:nvPr/>
        </p:nvSpPr>
        <p:spPr>
          <a:xfrm>
            <a:off x="762000" y="4191000"/>
            <a:ext cx="4445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About, terms, privacy</a:t>
            </a:r>
          </a:p>
        </p:txBody>
      </p:sp>
      <p:sp>
        <p:nvSpPr>
          <p:cNvPr id="10" name="TextBox 9"/>
          <p:cNvSpPr txBox="1"/>
          <p:nvPr/>
        </p:nvSpPr>
        <p:spPr>
          <a:xfrm>
            <a:off x="762000" y="4457700"/>
            <a:ext cx="4445000" cy="508000"/>
          </a:xfrm>
          <a:prstGeom prst="rect">
            <a:avLst/>
          </a:prstGeom>
          <a:noFill/>
        </p:spPr>
        <p:txBody>
          <a:bodyPr wrap="square" lIns="0" rIns="0" tIns="0" bIns="0" anchor="t">
            <a:noAutofit/>
          </a:bodyPr>
          <a:lstStyle/>
          <a:p>
            <a:pPr algn="l">
              <a:lnSpc>
                <a:spcPct val="135000"/>
              </a:lnSpc>
            </a:pPr>
            <a:r>
              <a:rPr sz="1150" b="0" i="0">
                <a:solidFill>
                  <a:srgbClr val="8E969D"/>
                </a:solidFill>
                <a:latin typeface="IBM Plex Sans"/>
                <a:ea typeface="IBM Plex Sans"/>
                <a:cs typeface="IBM Plex Sans Arabic"/>
              </a:rPr>
              <a:t>Clear company details and policies.</a:t>
            </a:r>
          </a:p>
        </p:txBody>
      </p:sp>
      <p:sp>
        <p:nvSpPr>
          <p:cNvPr id="11" name="TextBox 10"/>
          <p:cNvSpPr txBox="1"/>
          <p:nvPr/>
        </p:nvSpPr>
        <p:spPr>
          <a:xfrm>
            <a:off x="762000" y="5143500"/>
            <a:ext cx="4445000" cy="254000"/>
          </a:xfrm>
          <a:prstGeom prst="rect">
            <a:avLst/>
          </a:prstGeom>
          <a:noFill/>
        </p:spPr>
        <p:txBody>
          <a:bodyPr wrap="square" lIns="0" rIns="0" tIns="0" bIns="0" anchor="t">
            <a:noAutofit/>
          </a:bodyPr>
          <a:lstStyle/>
          <a:p>
            <a:pPr algn="l">
              <a:lnSpc>
                <a:spcPct val="100000"/>
              </a:lnSpc>
            </a:pPr>
            <a:r>
              <a:rPr sz="1400" b="1" i="0">
                <a:solidFill>
                  <a:srgbClr val="EDE8E1"/>
                </a:solidFill>
                <a:latin typeface="Alexandria"/>
                <a:ea typeface="Alexandria"/>
                <a:cs typeface="IBM Plex Sans Arabic"/>
              </a:rPr>
              <a:t>Found on Google and AI</a:t>
            </a:r>
          </a:p>
        </p:txBody>
      </p:sp>
      <p:sp>
        <p:nvSpPr>
          <p:cNvPr id="12" name="TextBox 11"/>
          <p:cNvSpPr txBox="1"/>
          <p:nvPr/>
        </p:nvSpPr>
        <p:spPr>
          <a:xfrm>
            <a:off x="762000" y="5410200"/>
            <a:ext cx="4445000" cy="508000"/>
          </a:xfrm>
          <a:prstGeom prst="rect">
            <a:avLst/>
          </a:prstGeom>
          <a:noFill/>
        </p:spPr>
        <p:txBody>
          <a:bodyPr wrap="square" lIns="0" rIns="0" tIns="0" bIns="0" anchor="t">
            <a:noAutofit/>
          </a:bodyPr>
          <a:lstStyle/>
          <a:p>
            <a:pPr algn="l">
              <a:lnSpc>
                <a:spcPct val="135000"/>
              </a:lnSpc>
            </a:pPr>
            <a:r>
              <a:rPr sz="1150" b="0" i="0">
                <a:solidFill>
                  <a:srgbClr val="8E969D"/>
                </a:solidFill>
                <a:latin typeface="IBM Plex Sans"/>
                <a:ea typeface="IBM Plex Sans"/>
                <a:cs typeface="IBM Plex Sans Arabic"/>
              </a:rPr>
              <a:t>A static page per product and animal, a sitemap, and llms.txt for AI assistants.</a:t>
            </a:r>
          </a:p>
        </p:txBody>
      </p:sp>
      <p:pic>
        <p:nvPicPr>
          <p:cNvPr id="13" name="Picture 12" descr="b-help.jpg"/>
          <p:cNvPicPr>
            <a:picLocks noChangeAspect="1"/>
          </p:cNvPicPr>
          <p:nvPr/>
        </p:nvPicPr>
        <p:blipFill>
          <a:blip r:embed="rId3"/>
          <a:stretch>
            <a:fillRect/>
          </a:stretch>
        </p:blipFill>
        <p:spPr>
          <a:xfrm>
            <a:off x="5359400" y="914400"/>
            <a:ext cx="6426200" cy="5029200"/>
          </a:xfrm>
          <a:prstGeom prst="rect">
            <a:avLst/>
          </a:prstGeom>
        </p:spPr>
      </p:pic>
      <p:pic>
        <p:nvPicPr>
          <p:cNvPr id="14" name="Picture 13" descr="logo-bone.png"/>
          <p:cNvPicPr>
            <a:picLocks noChangeAspect="1"/>
          </p:cNvPicPr>
          <p:nvPr/>
        </p:nvPicPr>
        <p:blipFill>
          <a:blip r:embed="rId4"/>
          <a:stretch>
            <a:fillRect/>
          </a:stretch>
        </p:blipFill>
        <p:spPr>
          <a:xfrm>
            <a:off x="762000" y="6426200"/>
            <a:ext cx="208788" cy="152400"/>
          </a:xfrm>
          <a:prstGeom prst="rect">
            <a:avLst/>
          </a:prstGeom>
        </p:spPr>
      </p:pic>
      <p:sp>
        <p:nvSpPr>
          <p:cNvPr id="15" name="TextBox 14"/>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16" name="TextBox 15"/>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23</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pic>
        <p:nvPicPr>
          <p:cNvPr id="2" name="Picture 1" descr="div2.jpg"/>
          <p:cNvPicPr>
            <a:picLocks noChangeAspect="1"/>
          </p:cNvPicPr>
          <p:nvPr/>
        </p:nvPicPr>
        <p:blipFill>
          <a:blip r:embed="rId3"/>
          <a:stretch>
            <a:fillRect/>
          </a:stretch>
        </p:blipFill>
        <p:spPr>
          <a:xfrm>
            <a:off x="0" y="0"/>
            <a:ext cx="12192000" cy="6858000"/>
          </a:xfrm>
          <a:prstGeom prst="rect">
            <a:avLst/>
          </a:prstGeom>
        </p:spPr>
      </p:pic>
      <p:cxnSp>
        <p:nvCxnSpPr>
          <p:cNvPr id="3" name="Connector 2"/>
          <p:cNvCxnSpPr/>
          <p:nvPr/>
        </p:nvCxnSpPr>
        <p:spPr>
          <a:xfrm>
            <a:off x="7493000" y="0"/>
            <a:ext cx="2413000" cy="6858000"/>
          </a:xfrm>
          <a:prstGeom prst="line">
            <a:avLst/>
          </a:prstGeom>
          <a:ln w="15240">
            <a:solidFill>
              <a:srgbClr val="FF5A3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62000" y="1435100"/>
            <a:ext cx="5080000" cy="254000"/>
          </a:xfrm>
          <a:prstGeom prst="rect">
            <a:avLst/>
          </a:prstGeom>
          <a:noFill/>
        </p:spPr>
        <p:txBody>
          <a:bodyPr wrap="square" lIns="0" rIns="0" tIns="0" bIns="0" anchor="t">
            <a:noAutofit/>
          </a:bodyPr>
          <a:lstStyle/>
          <a:p>
            <a:pPr algn="l">
              <a:lnSpc>
                <a:spcPct val="125000"/>
              </a:lnSpc>
            </a:pPr>
            <a:r>
              <a:rPr sz="1300" b="0" i="0" spc="600">
                <a:solidFill>
                  <a:srgbClr val="8E969D"/>
                </a:solidFill>
                <a:latin typeface="IBM Plex Mono"/>
                <a:ea typeface="IBM Plex Mono"/>
                <a:cs typeface="IBM Plex Sans Arabic"/>
              </a:rPr>
              <a:t>PART</a:t>
            </a:r>
          </a:p>
        </p:txBody>
      </p:sp>
      <p:sp>
        <p:nvSpPr>
          <p:cNvPr id="5" name="TextBox 4"/>
          <p:cNvSpPr txBox="1"/>
          <p:nvPr/>
        </p:nvSpPr>
        <p:spPr>
          <a:xfrm>
            <a:off x="762000" y="1778000"/>
            <a:ext cx="5080000" cy="1905000"/>
          </a:xfrm>
          <a:prstGeom prst="rect">
            <a:avLst/>
          </a:prstGeom>
          <a:noFill/>
        </p:spPr>
        <p:txBody>
          <a:bodyPr wrap="square" lIns="0" rIns="0" tIns="0" bIns="0" anchor="t">
            <a:noAutofit/>
          </a:bodyPr>
          <a:lstStyle/>
          <a:p>
            <a:pPr algn="l">
              <a:lnSpc>
                <a:spcPct val="100000"/>
              </a:lnSpc>
            </a:pPr>
            <a:r>
              <a:rPr sz="15000" b="1" i="0">
                <a:solidFill>
                  <a:srgbClr val="FF5A36"/>
                </a:solidFill>
                <a:latin typeface="IBM Plex Mono"/>
                <a:ea typeface="IBM Plex Mono"/>
                <a:cs typeface="IBM Plex Sans Arabic"/>
              </a:rPr>
              <a:t>02</a:t>
            </a:r>
          </a:p>
        </p:txBody>
      </p:sp>
      <p:sp>
        <p:nvSpPr>
          <p:cNvPr id="6" name="TextBox 5"/>
          <p:cNvSpPr txBox="1"/>
          <p:nvPr/>
        </p:nvSpPr>
        <p:spPr>
          <a:xfrm>
            <a:off x="762000" y="3873500"/>
            <a:ext cx="6350000" cy="692150"/>
          </a:xfrm>
          <a:prstGeom prst="rect">
            <a:avLst/>
          </a:prstGeom>
          <a:noFill/>
        </p:spPr>
        <p:txBody>
          <a:bodyPr wrap="square" lIns="0" rIns="0" tIns="0" bIns="0" anchor="t">
            <a:noAutofit/>
          </a:bodyPr>
          <a:lstStyle/>
          <a:p>
            <a:pPr algn="l">
              <a:lnSpc>
                <a:spcPct val="106000"/>
              </a:lnSpc>
            </a:pPr>
            <a:r>
              <a:rPr sz="4200" b="1" i="0" spc="-50">
                <a:solidFill>
                  <a:srgbClr val="EDE8E1"/>
                </a:solidFill>
                <a:latin typeface="Alexandria"/>
                <a:ea typeface="Alexandria"/>
                <a:cs typeface="IBM Plex Sans Arabic"/>
              </a:rPr>
              <a:t>The dashboard</a:t>
            </a:r>
          </a:p>
        </p:txBody>
      </p:sp>
      <p:sp>
        <p:nvSpPr>
          <p:cNvPr id="7" name="TextBox 6"/>
          <p:cNvSpPr txBox="1"/>
          <p:nvPr/>
        </p:nvSpPr>
        <p:spPr>
          <a:xfrm>
            <a:off x="762000" y="4572000"/>
            <a:ext cx="5461000" cy="1270000"/>
          </a:xfrm>
          <a:prstGeom prst="rect">
            <a:avLst/>
          </a:prstGeom>
          <a:noFill/>
        </p:spPr>
        <p:txBody>
          <a:bodyPr wrap="square" lIns="0" rIns="0" tIns="0" bIns="0" anchor="t">
            <a:noAutofit/>
          </a:bodyPr>
          <a:lstStyle/>
          <a:p>
            <a:pPr algn="l">
              <a:lnSpc>
                <a:spcPct val="155000"/>
              </a:lnSpc>
            </a:pPr>
            <a:r>
              <a:rPr sz="1300" b="0" i="0">
                <a:solidFill>
                  <a:srgbClr val="C8C1B7"/>
                </a:solidFill>
                <a:latin typeface="IBM Plex Sans"/>
                <a:ea typeface="IBM Plex Sans"/>
                <a:cs typeface="IBM Plex Sans Arabic"/>
              </a:rPr>
              <a:t>Home · Orders · Analytics · Reports · Customers · Stock · Editing the site · Publishing</a:t>
            </a:r>
          </a:p>
        </p:txBody>
      </p:sp>
      <p:pic>
        <p:nvPicPr>
          <p:cNvPr id="8" name="Picture 7" descr="logo-bone.png"/>
          <p:cNvPicPr>
            <a:picLocks noChangeAspect="1"/>
          </p:cNvPicPr>
          <p:nvPr/>
        </p:nvPicPr>
        <p:blipFill>
          <a:blip r:embed="rId4"/>
          <a:stretch>
            <a:fillRect/>
          </a:stretch>
        </p:blipFill>
        <p:spPr>
          <a:xfrm>
            <a:off x="762000" y="6426200"/>
            <a:ext cx="208788" cy="152400"/>
          </a:xfrm>
          <a:prstGeom prst="rect">
            <a:avLst/>
          </a:prstGeom>
        </p:spPr>
      </p:pic>
      <p:sp>
        <p:nvSpPr>
          <p:cNvPr id="9" name="TextBox 8"/>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10" name="TextBox 9"/>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24</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22</a:t>
            </a:r>
            <a:r>
              <a:rPr sz="950" b="0" i="0" spc="240">
                <a:solidFill>
                  <a:srgbClr val="8E969D"/>
                </a:solidFill>
                <a:latin typeface="IBM Plex Mono"/>
                <a:ea typeface="IBM Plex Mono"/>
                <a:cs typeface="IBM Plex Sans Arabic"/>
              </a:rPr>
              <a:t>  DASHBOARD · HOME</a:t>
            </a:r>
          </a:p>
        </p:txBody>
      </p:sp>
      <p:sp>
        <p:nvSpPr>
          <p:cNvPr id="4" name="TextBox 3"/>
          <p:cNvSpPr txBox="1"/>
          <p:nvPr/>
        </p:nvSpPr>
        <p:spPr>
          <a:xfrm>
            <a:off x="762000" y="952500"/>
            <a:ext cx="3556000" cy="1257300"/>
          </a:xfrm>
          <a:prstGeom prst="rect">
            <a:avLst/>
          </a:prstGeom>
          <a:noFill/>
        </p:spPr>
        <p:txBody>
          <a:bodyPr wrap="square" lIns="0" rIns="0" tIns="0" bIns="0" anchor="t">
            <a:noAutofit/>
          </a:bodyPr>
          <a:lstStyle/>
          <a:p>
            <a:pPr algn="l">
              <a:lnSpc>
                <a:spcPct val="106000"/>
              </a:lnSpc>
            </a:pPr>
            <a:r>
              <a:rPr sz="2800" b="1" i="0" spc="-50">
                <a:solidFill>
                  <a:srgbClr val="EDE8E1"/>
                </a:solidFill>
                <a:latin typeface="Alexandria"/>
                <a:ea typeface="Alexandria"/>
                <a:cs typeface="IBM Plex Sans Arabic"/>
              </a:rPr>
              <a:t>Good morning.</a:t>
            </a:r>
          </a:p>
          <a:p>
            <a:pPr algn="l">
              <a:lnSpc>
                <a:spcPct val="106000"/>
              </a:lnSpc>
            </a:pPr>
            <a:r>
              <a:rPr sz="2800" b="1" i="0" spc="-50">
                <a:solidFill>
                  <a:srgbClr val="EDE8E1"/>
                </a:solidFill>
                <a:latin typeface="Alexandria"/>
                <a:ea typeface="Alexandria"/>
                <a:cs typeface="IBM Plex Sans Arabic"/>
              </a:rPr>
              <a:t>Here's your</a:t>
            </a:r>
          </a:p>
          <a:p>
            <a:pPr algn="l">
              <a:lnSpc>
                <a:spcPct val="106000"/>
              </a:lnSpc>
            </a:pPr>
            <a:r>
              <a:rPr sz="2800" b="1" i="0" spc="-50">
                <a:solidFill>
                  <a:srgbClr val="FF5A36"/>
                </a:solidFill>
                <a:latin typeface="Alexandria"/>
                <a:ea typeface="Alexandria"/>
                <a:cs typeface="IBM Plex Sans Arabic"/>
              </a:rPr>
              <a:t>store.</a:t>
            </a:r>
          </a:p>
        </p:txBody>
      </p:sp>
      <p:sp>
        <p:nvSpPr>
          <p:cNvPr id="5" name="Rectangle 4"/>
          <p:cNvSpPr/>
          <p:nvPr/>
        </p:nvSpPr>
        <p:spPr>
          <a:xfrm>
            <a:off x="762000" y="2478722"/>
            <a:ext cx="63500" cy="63500"/>
          </a:xfrm>
          <a:prstGeom prst="rect">
            <a:avLst/>
          </a:prstGeom>
          <a:solidFill>
            <a:srgbClr val="FF5A36"/>
          </a:solidFill>
          <a:ln>
            <a:noFill/>
          </a:ln>
          <a:effectLst/>
        </p:spPr>
        <p:txBody>
          <a:bodyPr rtlCol="0" anchor="ctr" lIns="0" rIns="0"/>
          <a:lstStyle/>
          <a:p>
            <a:pPr algn="ctr"/>
          </a:p>
        </p:txBody>
      </p:sp>
      <p:sp>
        <p:nvSpPr>
          <p:cNvPr id="6" name="TextBox 5"/>
          <p:cNvSpPr txBox="1"/>
          <p:nvPr/>
        </p:nvSpPr>
        <p:spPr>
          <a:xfrm>
            <a:off x="952500" y="2413000"/>
            <a:ext cx="3365500" cy="387350"/>
          </a:xfrm>
          <a:prstGeom prst="rect">
            <a:avLst/>
          </a:prstGeom>
          <a:noFill/>
        </p:spPr>
        <p:txBody>
          <a:bodyPr wrap="square" lIns="0" rIns="0" tIns="0" bIns="0" anchor="t">
            <a:noAutofit/>
          </a:bodyPr>
          <a:lstStyle/>
          <a:p>
            <a:pPr algn="l">
              <a:lnSpc>
                <a:spcPct val="130000"/>
              </a:lnSpc>
            </a:pPr>
            <a:r>
              <a:rPr sz="1150" b="1" i="0">
                <a:solidFill>
                  <a:srgbClr val="EDE8E1"/>
                </a:solidFill>
                <a:latin typeface="IBM Plex Sans"/>
                <a:ea typeface="IBM Plex Sans"/>
                <a:cs typeface="IBM Plex Sans Arabic"/>
              </a:rPr>
              <a:t>Tasks first:</a:t>
            </a:r>
            <a:r>
              <a:rPr sz="1150" b="0" i="0">
                <a:solidFill>
                  <a:srgbClr val="C8C1B7"/>
                </a:solidFill>
                <a:latin typeface="IBM Plex Sans"/>
                <a:ea typeface="IBM Plex Sans"/>
                <a:cs typeface="IBM Plex Sans Arabic"/>
              </a:rPr>
              <a:t> orders to prepare, abandoned carts, low stock, failed searches</a:t>
            </a:r>
          </a:p>
        </p:txBody>
      </p:sp>
      <p:sp>
        <p:nvSpPr>
          <p:cNvPr id="7" name="Rectangle 6"/>
          <p:cNvSpPr/>
          <p:nvPr/>
        </p:nvSpPr>
        <p:spPr>
          <a:xfrm>
            <a:off x="762000" y="2942272"/>
            <a:ext cx="63500" cy="63500"/>
          </a:xfrm>
          <a:prstGeom prst="rect">
            <a:avLst/>
          </a:prstGeom>
          <a:solidFill>
            <a:srgbClr val="FF5A36"/>
          </a:solidFill>
          <a:ln>
            <a:noFill/>
          </a:ln>
          <a:effectLst/>
        </p:spPr>
        <p:txBody>
          <a:bodyPr rtlCol="0" anchor="ctr" lIns="0" rIns="0"/>
          <a:lstStyle/>
          <a:p>
            <a:pPr algn="ctr"/>
          </a:p>
        </p:txBody>
      </p:sp>
      <p:sp>
        <p:nvSpPr>
          <p:cNvPr id="8" name="TextBox 7"/>
          <p:cNvSpPr txBox="1"/>
          <p:nvPr/>
        </p:nvSpPr>
        <p:spPr>
          <a:xfrm>
            <a:off x="952500" y="2876550"/>
            <a:ext cx="3365500" cy="387350"/>
          </a:xfrm>
          <a:prstGeom prst="rect">
            <a:avLst/>
          </a:prstGeom>
          <a:noFill/>
        </p:spPr>
        <p:txBody>
          <a:bodyPr wrap="square" lIns="0" rIns="0" tIns="0" bIns="0" anchor="t">
            <a:noAutofit/>
          </a:bodyPr>
          <a:lstStyle/>
          <a:p>
            <a:pPr algn="l">
              <a:lnSpc>
                <a:spcPct val="130000"/>
              </a:lnSpc>
            </a:pPr>
            <a:r>
              <a:rPr sz="1150" b="1" i="0">
                <a:solidFill>
                  <a:srgbClr val="EDE8E1"/>
                </a:solidFill>
                <a:latin typeface="IBM Plex Sans"/>
                <a:ea typeface="IBM Plex Sans"/>
                <a:cs typeface="IBM Plex Sans Arabic"/>
              </a:rPr>
              <a:t>Four key numbers:</a:t>
            </a:r>
            <a:r>
              <a:rPr sz="1150" b="0" i="0">
                <a:solidFill>
                  <a:srgbClr val="C8C1B7"/>
                </a:solidFill>
                <a:latin typeface="IBM Plex Sans"/>
                <a:ea typeface="IBM Plex Sans"/>
                <a:cs typeface="IBM Plex Sans Arabic"/>
              </a:rPr>
              <a:t> sales, sessions, orders, conversion — vs the last period</a:t>
            </a:r>
          </a:p>
        </p:txBody>
      </p:sp>
      <p:sp>
        <p:nvSpPr>
          <p:cNvPr id="9" name="Rectangle 8"/>
          <p:cNvSpPr/>
          <p:nvPr/>
        </p:nvSpPr>
        <p:spPr>
          <a:xfrm>
            <a:off x="762000" y="3405822"/>
            <a:ext cx="63500" cy="63500"/>
          </a:xfrm>
          <a:prstGeom prst="rect">
            <a:avLst/>
          </a:prstGeom>
          <a:solidFill>
            <a:srgbClr val="FF5A36"/>
          </a:solidFill>
          <a:ln>
            <a:noFill/>
          </a:ln>
          <a:effectLst/>
        </p:spPr>
        <p:txBody>
          <a:bodyPr rtlCol="0" anchor="ctr" lIns="0" rIns="0"/>
          <a:lstStyle/>
          <a:p>
            <a:pPr algn="ctr"/>
          </a:p>
        </p:txBody>
      </p:sp>
      <p:sp>
        <p:nvSpPr>
          <p:cNvPr id="10" name="TextBox 9"/>
          <p:cNvSpPr txBox="1"/>
          <p:nvPr/>
        </p:nvSpPr>
        <p:spPr>
          <a:xfrm>
            <a:off x="952500" y="3340100"/>
            <a:ext cx="3365500" cy="196850"/>
          </a:xfrm>
          <a:prstGeom prst="rect">
            <a:avLst/>
          </a:prstGeom>
          <a:noFill/>
        </p:spPr>
        <p:txBody>
          <a:bodyPr wrap="square" lIns="0" rIns="0" tIns="0" bIns="0" anchor="t">
            <a:noAutofit/>
          </a:bodyPr>
          <a:lstStyle/>
          <a:p>
            <a:pPr algn="l">
              <a:lnSpc>
                <a:spcPct val="130000"/>
              </a:lnSpc>
            </a:pPr>
            <a:r>
              <a:rPr sz="1150" b="1" i="0">
                <a:solidFill>
                  <a:srgbClr val="EDE8E1"/>
                </a:solidFill>
                <a:latin typeface="IBM Plex Sans"/>
                <a:ea typeface="IBM Plex Sans"/>
                <a:cs typeface="IBM Plex Sans Arabic"/>
              </a:rPr>
              <a:t>Sales chart</a:t>
            </a:r>
            <a:r>
              <a:rPr sz="1150" b="0" i="0">
                <a:solidFill>
                  <a:srgbClr val="C8C1B7"/>
                </a:solidFill>
                <a:latin typeface="IBM Plex Sans"/>
                <a:ea typeface="IBM Plex Sans"/>
                <a:cs typeface="IBM Plex Sans Arabic"/>
              </a:rPr>
              <a:t> with last period as a dotted line</a:t>
            </a:r>
          </a:p>
        </p:txBody>
      </p:sp>
      <p:sp>
        <p:nvSpPr>
          <p:cNvPr id="11" name="Rectangle 10"/>
          <p:cNvSpPr/>
          <p:nvPr/>
        </p:nvSpPr>
        <p:spPr>
          <a:xfrm>
            <a:off x="762000" y="3678872"/>
            <a:ext cx="63500" cy="63500"/>
          </a:xfrm>
          <a:prstGeom prst="rect">
            <a:avLst/>
          </a:prstGeom>
          <a:solidFill>
            <a:srgbClr val="FF5A36"/>
          </a:solidFill>
          <a:ln>
            <a:noFill/>
          </a:ln>
          <a:effectLst/>
        </p:spPr>
        <p:txBody>
          <a:bodyPr rtlCol="0" anchor="ctr" lIns="0" rIns="0"/>
          <a:lstStyle/>
          <a:p>
            <a:pPr algn="ctr"/>
          </a:p>
        </p:txBody>
      </p:sp>
      <p:sp>
        <p:nvSpPr>
          <p:cNvPr id="12" name="TextBox 11"/>
          <p:cNvSpPr txBox="1"/>
          <p:nvPr/>
        </p:nvSpPr>
        <p:spPr>
          <a:xfrm>
            <a:off x="952500" y="3613150"/>
            <a:ext cx="3365500" cy="387350"/>
          </a:xfrm>
          <a:prstGeom prst="rect">
            <a:avLst/>
          </a:prstGeom>
          <a:noFill/>
        </p:spPr>
        <p:txBody>
          <a:bodyPr wrap="square" lIns="0" rIns="0" tIns="0" bIns="0" anchor="t">
            <a:noAutofit/>
          </a:bodyPr>
          <a:lstStyle/>
          <a:p>
            <a:pPr algn="l">
              <a:lnSpc>
                <a:spcPct val="130000"/>
              </a:lnSpc>
            </a:pPr>
            <a:r>
              <a:rPr sz="1150" b="1" i="0">
                <a:solidFill>
                  <a:srgbClr val="EDE8E1"/>
                </a:solidFill>
                <a:latin typeface="IBM Plex Sans"/>
                <a:ea typeface="IBM Plex Sans"/>
                <a:cs typeface="IBM Plex Sans Arabic"/>
              </a:rPr>
              <a:t>Time ranges:</a:t>
            </a:r>
            <a:r>
              <a:rPr sz="1150" b="0" i="0">
                <a:solidFill>
                  <a:srgbClr val="C8C1B7"/>
                </a:solidFill>
                <a:latin typeface="IBM Plex Sans"/>
                <a:ea typeface="IBM Plex Sans"/>
                <a:cs typeface="IBM Plex Sans Arabic"/>
              </a:rPr>
              <a:t> today, yesterday, 7 / 30 / 90 days, 12 months</a:t>
            </a:r>
          </a:p>
        </p:txBody>
      </p:sp>
      <p:sp>
        <p:nvSpPr>
          <p:cNvPr id="13" name="Rectangle 12"/>
          <p:cNvSpPr/>
          <p:nvPr/>
        </p:nvSpPr>
        <p:spPr>
          <a:xfrm>
            <a:off x="762000" y="4142422"/>
            <a:ext cx="63500" cy="63500"/>
          </a:xfrm>
          <a:prstGeom prst="rect">
            <a:avLst/>
          </a:prstGeom>
          <a:solidFill>
            <a:srgbClr val="FF5A36"/>
          </a:solidFill>
          <a:ln>
            <a:noFill/>
          </a:ln>
          <a:effectLst/>
        </p:spPr>
        <p:txBody>
          <a:bodyPr rtlCol="0" anchor="ctr" lIns="0" rIns="0"/>
          <a:lstStyle/>
          <a:p>
            <a:pPr algn="ctr"/>
          </a:p>
        </p:txBody>
      </p:sp>
      <p:sp>
        <p:nvSpPr>
          <p:cNvPr id="14" name="TextBox 13"/>
          <p:cNvSpPr txBox="1"/>
          <p:nvPr/>
        </p:nvSpPr>
        <p:spPr>
          <a:xfrm>
            <a:off x="952500" y="4076700"/>
            <a:ext cx="3365500" cy="196850"/>
          </a:xfrm>
          <a:prstGeom prst="rect">
            <a:avLst/>
          </a:prstGeom>
          <a:noFill/>
        </p:spPr>
        <p:txBody>
          <a:bodyPr wrap="square" lIns="0" rIns="0" tIns="0" bIns="0" anchor="t">
            <a:noAutofit/>
          </a:bodyPr>
          <a:lstStyle/>
          <a:p>
            <a:pPr algn="l">
              <a:lnSpc>
                <a:spcPct val="130000"/>
              </a:lnSpc>
            </a:pPr>
            <a:r>
              <a:rPr sz="1150" b="1" i="0">
                <a:solidFill>
                  <a:srgbClr val="EDE8E1"/>
                </a:solidFill>
                <a:latin typeface="IBM Plex Sans"/>
                <a:ea typeface="IBM Plex Sans"/>
                <a:cs typeface="IBM Plex Sans Arabic"/>
              </a:rPr>
              <a:t>Activity feed</a:t>
            </a:r>
            <a:r>
              <a:rPr sz="1150" b="0" i="0">
                <a:solidFill>
                  <a:srgbClr val="C8C1B7"/>
                </a:solidFill>
                <a:latin typeface="IBM Plex Sans"/>
                <a:ea typeface="IBM Plex Sans"/>
                <a:cs typeface="IBM Plex Sans Arabic"/>
              </a:rPr>
              <a:t> and best sellers</a:t>
            </a:r>
          </a:p>
        </p:txBody>
      </p:sp>
      <p:pic>
        <p:nvPicPr>
          <p:cNvPr id="15" name="Picture 14" descr="b-a-home.jpg"/>
          <p:cNvPicPr>
            <a:picLocks noChangeAspect="1"/>
          </p:cNvPicPr>
          <p:nvPr/>
        </p:nvPicPr>
        <p:blipFill>
          <a:blip r:embed="rId3"/>
          <a:stretch>
            <a:fillRect/>
          </a:stretch>
        </p:blipFill>
        <p:spPr>
          <a:xfrm>
            <a:off x="4470400" y="596900"/>
            <a:ext cx="7315200" cy="5664200"/>
          </a:xfrm>
          <a:prstGeom prst="rect">
            <a:avLst/>
          </a:prstGeom>
        </p:spPr>
      </p:pic>
      <p:pic>
        <p:nvPicPr>
          <p:cNvPr id="16" name="Picture 15" descr="logo-bone.png"/>
          <p:cNvPicPr>
            <a:picLocks noChangeAspect="1"/>
          </p:cNvPicPr>
          <p:nvPr/>
        </p:nvPicPr>
        <p:blipFill>
          <a:blip r:embed="rId4"/>
          <a:stretch>
            <a:fillRect/>
          </a:stretch>
        </p:blipFill>
        <p:spPr>
          <a:xfrm>
            <a:off x="762000" y="6426200"/>
            <a:ext cx="208788" cy="152400"/>
          </a:xfrm>
          <a:prstGeom prst="rect">
            <a:avLst/>
          </a:prstGeom>
        </p:spPr>
      </p:pic>
      <p:sp>
        <p:nvSpPr>
          <p:cNvPr id="17" name="TextBox 16"/>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DASHBOARD</a:t>
            </a:r>
          </a:p>
        </p:txBody>
      </p:sp>
      <p:sp>
        <p:nvSpPr>
          <p:cNvPr id="18" name="TextBox 17"/>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25</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23</a:t>
            </a:r>
            <a:r>
              <a:rPr sz="950" b="0" i="0" spc="240">
                <a:solidFill>
                  <a:srgbClr val="8E969D"/>
                </a:solidFill>
                <a:latin typeface="IBM Plex Mono"/>
                <a:ea typeface="IBM Plex Mono"/>
                <a:cs typeface="IBM Plex Sans Arabic"/>
              </a:rPr>
              <a:t>  DASHBOARD · ORDERS</a:t>
            </a:r>
          </a:p>
        </p:txBody>
      </p:sp>
      <p:sp>
        <p:nvSpPr>
          <p:cNvPr id="4" name="TextBox 3"/>
          <p:cNvSpPr txBox="1"/>
          <p:nvPr/>
        </p:nvSpPr>
        <p:spPr>
          <a:xfrm>
            <a:off x="762000" y="952500"/>
            <a:ext cx="10160000" cy="876300"/>
          </a:xfrm>
          <a:prstGeom prst="rect">
            <a:avLst/>
          </a:prstGeom>
          <a:noFill/>
        </p:spPr>
        <p:txBody>
          <a:bodyPr wrap="square" lIns="0" rIns="0" tIns="0" bIns="0" anchor="t">
            <a:noAutofit/>
          </a:bodyPr>
          <a:lstStyle/>
          <a:p>
            <a:pPr algn="l">
              <a:lnSpc>
                <a:spcPct val="106000"/>
              </a:lnSpc>
            </a:pPr>
            <a:r>
              <a:rPr sz="2800" b="1" i="0" spc="-50">
                <a:solidFill>
                  <a:srgbClr val="EDE8E1"/>
                </a:solidFill>
                <a:latin typeface="Alexandria"/>
                <a:ea typeface="Alexandria"/>
                <a:cs typeface="IBM Plex Sans Arabic"/>
              </a:rPr>
              <a:t>Move an order.</a:t>
            </a:r>
          </a:p>
          <a:p>
            <a:pPr algn="l">
              <a:lnSpc>
                <a:spcPct val="106000"/>
              </a:lnSpc>
            </a:pPr>
            <a:r>
              <a:rPr sz="2800" b="1" i="0" spc="-50">
                <a:solidFill>
                  <a:srgbClr val="FF5A36"/>
                </a:solidFill>
                <a:latin typeface="Alexandria"/>
                <a:ea typeface="Alexandria"/>
                <a:cs typeface="IBM Plex Sans Arabic"/>
              </a:rPr>
              <a:t>The customer's tracking moves with it.</a:t>
            </a:r>
          </a:p>
        </p:txBody>
      </p:sp>
      <p:pic>
        <p:nvPicPr>
          <p:cNvPr id="5" name="Picture 4" descr="b-a-orders.jpg"/>
          <p:cNvPicPr>
            <a:picLocks noChangeAspect="1"/>
          </p:cNvPicPr>
          <p:nvPr/>
        </p:nvPicPr>
        <p:blipFill>
          <a:blip r:embed="rId3"/>
          <a:stretch>
            <a:fillRect/>
          </a:stretch>
        </p:blipFill>
        <p:spPr>
          <a:xfrm>
            <a:off x="533400" y="1930400"/>
            <a:ext cx="5918200" cy="4140200"/>
          </a:xfrm>
          <a:prstGeom prst="rect">
            <a:avLst/>
          </a:prstGeom>
        </p:spPr>
      </p:pic>
      <p:pic>
        <p:nvPicPr>
          <p:cNvPr id="6" name="Picture 5" descr="b-a-odet.jpg"/>
          <p:cNvPicPr>
            <a:picLocks noChangeAspect="1"/>
          </p:cNvPicPr>
          <p:nvPr/>
        </p:nvPicPr>
        <p:blipFill>
          <a:blip r:embed="rId4"/>
          <a:stretch>
            <a:fillRect/>
          </a:stretch>
        </p:blipFill>
        <p:spPr>
          <a:xfrm>
            <a:off x="5994400" y="1930400"/>
            <a:ext cx="5791200" cy="4140200"/>
          </a:xfrm>
          <a:prstGeom prst="rect">
            <a:avLst/>
          </a:prstGeom>
        </p:spPr>
      </p:pic>
      <p:sp>
        <p:nvSpPr>
          <p:cNvPr id="7" name="TextBox 6"/>
          <p:cNvSpPr txBox="1"/>
          <p:nvPr/>
        </p:nvSpPr>
        <p:spPr>
          <a:xfrm>
            <a:off x="889000" y="5905500"/>
            <a:ext cx="5080000" cy="254000"/>
          </a:xfrm>
          <a:prstGeom prst="rect">
            <a:avLst/>
          </a:prstGeom>
          <a:noFill/>
        </p:spPr>
        <p:txBody>
          <a:bodyPr wrap="square" lIns="0" rIns="0" tIns="0" bIns="0" anchor="t">
            <a:noAutofit/>
          </a:bodyPr>
          <a:lstStyle/>
          <a:p>
            <a:pPr algn="l">
              <a:lnSpc>
                <a:spcPct val="100000"/>
              </a:lnSpc>
            </a:pPr>
            <a:r>
              <a:rPr sz="1050" b="0" i="0">
                <a:solidFill>
                  <a:srgbClr val="8E969D"/>
                </a:solidFill>
                <a:latin typeface="IBM Plex Mono"/>
                <a:ea typeface="IBM Plex Mono"/>
                <a:cs typeface="IBM Plex Sans Arabic"/>
              </a:rPr>
              <a:t>Tabs by stage · bulk move · search · CSV export</a:t>
            </a:r>
          </a:p>
        </p:txBody>
      </p:sp>
      <p:sp>
        <p:nvSpPr>
          <p:cNvPr id="8" name="TextBox 7"/>
          <p:cNvSpPr txBox="1"/>
          <p:nvPr/>
        </p:nvSpPr>
        <p:spPr>
          <a:xfrm>
            <a:off x="6350000" y="5905500"/>
            <a:ext cx="5080000" cy="254000"/>
          </a:xfrm>
          <a:prstGeom prst="rect">
            <a:avLst/>
          </a:prstGeom>
          <a:noFill/>
        </p:spPr>
        <p:txBody>
          <a:bodyPr wrap="square" lIns="0" rIns="0" tIns="0" bIns="0" anchor="t">
            <a:noAutofit/>
          </a:bodyPr>
          <a:lstStyle/>
          <a:p>
            <a:pPr algn="l">
              <a:lnSpc>
                <a:spcPct val="100000"/>
              </a:lnSpc>
            </a:pPr>
            <a:r>
              <a:rPr sz="1050" b="0" i="0">
                <a:solidFill>
                  <a:srgbClr val="8E969D"/>
                </a:solidFill>
                <a:latin typeface="IBM Plex Mono"/>
                <a:ea typeface="IBM Plex Mono"/>
                <a:cs typeface="IBM Plex Sans Arabic"/>
              </a:rPr>
              <a:t>Items · history · customer · profit per order</a:t>
            </a:r>
          </a:p>
        </p:txBody>
      </p:sp>
      <p:pic>
        <p:nvPicPr>
          <p:cNvPr id="9" name="Picture 8" descr="logo-bone.png"/>
          <p:cNvPicPr>
            <a:picLocks noChangeAspect="1"/>
          </p:cNvPicPr>
          <p:nvPr/>
        </p:nvPicPr>
        <p:blipFill>
          <a:blip r:embed="rId5"/>
          <a:stretch>
            <a:fillRect/>
          </a:stretch>
        </p:blipFill>
        <p:spPr>
          <a:xfrm>
            <a:off x="762000" y="6426200"/>
            <a:ext cx="208788" cy="152400"/>
          </a:xfrm>
          <a:prstGeom prst="rect">
            <a:avLst/>
          </a:prstGeom>
        </p:spPr>
      </p:pic>
      <p:sp>
        <p:nvSpPr>
          <p:cNvPr id="10" name="TextBox 9"/>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DASHBOARD</a:t>
            </a:r>
          </a:p>
        </p:txBody>
      </p:sp>
      <p:sp>
        <p:nvSpPr>
          <p:cNvPr id="11" name="TextBox 10"/>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26</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24</a:t>
            </a:r>
            <a:r>
              <a:rPr sz="950" b="0" i="0" spc="240">
                <a:solidFill>
                  <a:srgbClr val="8E969D"/>
                </a:solidFill>
                <a:latin typeface="IBM Plex Mono"/>
                <a:ea typeface="IBM Plex Mono"/>
                <a:cs typeface="IBM Plex Sans Arabic"/>
              </a:rPr>
              <a:t>  DASHBOARD · ANALYTICS</a:t>
            </a:r>
          </a:p>
        </p:txBody>
      </p:sp>
      <p:sp>
        <p:nvSpPr>
          <p:cNvPr id="4" name="TextBox 3"/>
          <p:cNvSpPr txBox="1"/>
          <p:nvPr/>
        </p:nvSpPr>
        <p:spPr>
          <a:xfrm>
            <a:off x="762000" y="952500"/>
            <a:ext cx="3810000" cy="825500"/>
          </a:xfrm>
          <a:prstGeom prst="rect">
            <a:avLst/>
          </a:prstGeom>
          <a:noFill/>
        </p:spPr>
        <p:txBody>
          <a:bodyPr wrap="square" lIns="0" rIns="0" tIns="0" bIns="0" anchor="t">
            <a:noAutofit/>
          </a:bodyPr>
          <a:lstStyle/>
          <a:p>
            <a:pPr algn="l">
              <a:lnSpc>
                <a:spcPct val="106000"/>
              </a:lnSpc>
            </a:pPr>
            <a:r>
              <a:rPr sz="2600" b="1" i="0" spc="-50">
                <a:solidFill>
                  <a:srgbClr val="EDE8E1"/>
                </a:solidFill>
                <a:latin typeface="Alexandria"/>
                <a:ea typeface="Alexandria"/>
                <a:cs typeface="IBM Plex Sans Arabic"/>
              </a:rPr>
              <a:t>See where people</a:t>
            </a:r>
          </a:p>
          <a:p>
            <a:pPr algn="l">
              <a:lnSpc>
                <a:spcPct val="106000"/>
              </a:lnSpc>
            </a:pPr>
            <a:r>
              <a:rPr sz="2600" b="1" i="0" spc="-50">
                <a:solidFill>
                  <a:srgbClr val="FF5A36"/>
                </a:solidFill>
                <a:latin typeface="Alexandria"/>
                <a:ea typeface="Alexandria"/>
                <a:cs typeface="IBM Plex Sans Arabic"/>
              </a:rPr>
              <a:t>drop — and why.</a:t>
            </a:r>
          </a:p>
        </p:txBody>
      </p:sp>
      <p:sp>
        <p:nvSpPr>
          <p:cNvPr id="5" name="Rectangle 4"/>
          <p:cNvSpPr/>
          <p:nvPr/>
        </p:nvSpPr>
        <p:spPr>
          <a:xfrm>
            <a:off x="762000" y="2158365"/>
            <a:ext cx="63500" cy="63500"/>
          </a:xfrm>
          <a:prstGeom prst="rect">
            <a:avLst/>
          </a:prstGeom>
          <a:solidFill>
            <a:srgbClr val="FF5A36"/>
          </a:solidFill>
          <a:ln>
            <a:noFill/>
          </a:ln>
          <a:effectLst/>
        </p:spPr>
        <p:txBody>
          <a:bodyPr rtlCol="0" anchor="ctr" lIns="0" rIns="0"/>
          <a:lstStyle/>
          <a:p>
            <a:pPr algn="ctr"/>
          </a:p>
        </p:txBody>
      </p:sp>
      <p:sp>
        <p:nvSpPr>
          <p:cNvPr id="6" name="TextBox 5"/>
          <p:cNvSpPr txBox="1"/>
          <p:nvPr/>
        </p:nvSpPr>
        <p:spPr>
          <a:xfrm>
            <a:off x="952500" y="2095500"/>
            <a:ext cx="3619500" cy="37465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8 key numbers:</a:t>
            </a:r>
            <a:r>
              <a:rPr sz="1100" b="0" i="0">
                <a:solidFill>
                  <a:srgbClr val="C8C1B7"/>
                </a:solidFill>
                <a:latin typeface="IBM Plex Sans"/>
                <a:ea typeface="IBM Plex Sans"/>
                <a:cs typeface="IBM Plex Sans Arabic"/>
              </a:rPr>
              <a:t> sales, orders, average order, profit, sessions, visitors, conversion, returning customers</a:t>
            </a:r>
          </a:p>
        </p:txBody>
      </p:sp>
      <p:sp>
        <p:nvSpPr>
          <p:cNvPr id="7" name="Rectangle 6"/>
          <p:cNvSpPr/>
          <p:nvPr/>
        </p:nvSpPr>
        <p:spPr>
          <a:xfrm>
            <a:off x="762000" y="2596515"/>
            <a:ext cx="63500" cy="63500"/>
          </a:xfrm>
          <a:prstGeom prst="rect">
            <a:avLst/>
          </a:prstGeom>
          <a:solidFill>
            <a:srgbClr val="FF5A36"/>
          </a:solidFill>
          <a:ln>
            <a:noFill/>
          </a:ln>
          <a:effectLst/>
        </p:spPr>
        <p:txBody>
          <a:bodyPr rtlCol="0" anchor="ctr" lIns="0" rIns="0"/>
          <a:lstStyle/>
          <a:p>
            <a:pPr algn="ctr"/>
          </a:p>
        </p:txBody>
      </p:sp>
      <p:sp>
        <p:nvSpPr>
          <p:cNvPr id="8" name="TextBox 7"/>
          <p:cNvSpPr txBox="1"/>
          <p:nvPr/>
        </p:nvSpPr>
        <p:spPr>
          <a:xfrm>
            <a:off x="952500" y="2533650"/>
            <a:ext cx="3619500" cy="19050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Sales breakdown:</a:t>
            </a:r>
            <a:r>
              <a:rPr sz="1100" b="0" i="0">
                <a:solidFill>
                  <a:srgbClr val="C8C1B7"/>
                </a:solidFill>
                <a:latin typeface="IBM Plex Sans"/>
                <a:ea typeface="IBM Plex Sans"/>
                <a:cs typeface="IBM Plex Sans Arabic"/>
              </a:rPr>
              <a:t> gross → discounts → returns → net</a:t>
            </a:r>
          </a:p>
        </p:txBody>
      </p:sp>
      <p:sp>
        <p:nvSpPr>
          <p:cNvPr id="9" name="Rectangle 8"/>
          <p:cNvSpPr/>
          <p:nvPr/>
        </p:nvSpPr>
        <p:spPr>
          <a:xfrm>
            <a:off x="762000" y="2850515"/>
            <a:ext cx="63500" cy="63500"/>
          </a:xfrm>
          <a:prstGeom prst="rect">
            <a:avLst/>
          </a:prstGeom>
          <a:solidFill>
            <a:srgbClr val="FF5A36"/>
          </a:solidFill>
          <a:ln>
            <a:noFill/>
          </a:ln>
          <a:effectLst/>
        </p:spPr>
        <p:txBody>
          <a:bodyPr rtlCol="0" anchor="ctr" lIns="0" rIns="0"/>
          <a:lstStyle/>
          <a:p>
            <a:pPr algn="ctr"/>
          </a:p>
        </p:txBody>
      </p:sp>
      <p:sp>
        <p:nvSpPr>
          <p:cNvPr id="10" name="TextBox 9"/>
          <p:cNvSpPr txBox="1"/>
          <p:nvPr/>
        </p:nvSpPr>
        <p:spPr>
          <a:xfrm>
            <a:off x="952500" y="2787650"/>
            <a:ext cx="3619500" cy="37465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Conversion funnel:</a:t>
            </a:r>
            <a:r>
              <a:rPr sz="1100" b="0" i="0">
                <a:solidFill>
                  <a:srgbClr val="C8C1B7"/>
                </a:solidFill>
                <a:latin typeface="IBM Plex Sans"/>
                <a:ea typeface="IBM Plex Sans"/>
                <a:cs typeface="IBM Plex Sans Arabic"/>
              </a:rPr>
              <a:t> visit → product → cart → checkout → order</a:t>
            </a:r>
          </a:p>
        </p:txBody>
      </p:sp>
      <p:sp>
        <p:nvSpPr>
          <p:cNvPr id="11" name="Rectangle 10"/>
          <p:cNvSpPr/>
          <p:nvPr/>
        </p:nvSpPr>
        <p:spPr>
          <a:xfrm>
            <a:off x="762000" y="3288665"/>
            <a:ext cx="63500" cy="63500"/>
          </a:xfrm>
          <a:prstGeom prst="rect">
            <a:avLst/>
          </a:prstGeom>
          <a:solidFill>
            <a:srgbClr val="FF5A36"/>
          </a:solidFill>
          <a:ln>
            <a:noFill/>
          </a:ln>
          <a:effectLst/>
        </p:spPr>
        <p:txBody>
          <a:bodyPr rtlCol="0" anchor="ctr" lIns="0" rIns="0"/>
          <a:lstStyle/>
          <a:p>
            <a:pPr algn="ctr"/>
          </a:p>
        </p:txBody>
      </p:sp>
      <p:sp>
        <p:nvSpPr>
          <p:cNvPr id="12" name="TextBox 11"/>
          <p:cNvSpPr txBox="1"/>
          <p:nvPr/>
        </p:nvSpPr>
        <p:spPr>
          <a:xfrm>
            <a:off x="952500" y="3225800"/>
            <a:ext cx="3619500" cy="19050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Traffic:</a:t>
            </a:r>
            <a:r>
              <a:rPr sz="1100" b="0" i="0">
                <a:solidFill>
                  <a:srgbClr val="C8C1B7"/>
                </a:solidFill>
                <a:latin typeface="IBM Plex Sans"/>
                <a:ea typeface="IBM Plex Sans"/>
                <a:cs typeface="IBM Plex Sans Arabic"/>
              </a:rPr>
              <a:t> device, source, city, landing page</a:t>
            </a:r>
          </a:p>
        </p:txBody>
      </p:sp>
      <p:sp>
        <p:nvSpPr>
          <p:cNvPr id="13" name="Rectangle 12"/>
          <p:cNvSpPr/>
          <p:nvPr/>
        </p:nvSpPr>
        <p:spPr>
          <a:xfrm>
            <a:off x="762000" y="3542665"/>
            <a:ext cx="63500" cy="63500"/>
          </a:xfrm>
          <a:prstGeom prst="rect">
            <a:avLst/>
          </a:prstGeom>
          <a:solidFill>
            <a:srgbClr val="FF5A36"/>
          </a:solidFill>
          <a:ln>
            <a:noFill/>
          </a:ln>
          <a:effectLst/>
        </p:spPr>
        <p:txBody>
          <a:bodyPr rtlCol="0" anchor="ctr" lIns="0" rIns="0"/>
          <a:lstStyle/>
          <a:p>
            <a:pPr algn="ctr"/>
          </a:p>
        </p:txBody>
      </p:sp>
      <p:sp>
        <p:nvSpPr>
          <p:cNvPr id="14" name="TextBox 13"/>
          <p:cNvSpPr txBox="1"/>
          <p:nvPr/>
        </p:nvSpPr>
        <p:spPr>
          <a:xfrm>
            <a:off x="952500" y="3479800"/>
            <a:ext cx="3619500" cy="37465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Advisor funnel:</a:t>
            </a:r>
            <a:r>
              <a:rPr sz="1100" b="0" i="0">
                <a:solidFill>
                  <a:srgbClr val="C8C1B7"/>
                </a:solidFill>
                <a:latin typeface="IBM Plex Sans"/>
                <a:ea typeface="IBM Plex Sans"/>
                <a:cs typeface="IBM Plex Sans Arabic"/>
              </a:rPr>
              <a:t> chats → plans → cart, and its share of sales</a:t>
            </a:r>
          </a:p>
        </p:txBody>
      </p:sp>
      <p:sp>
        <p:nvSpPr>
          <p:cNvPr id="15" name="Rectangle 14"/>
          <p:cNvSpPr/>
          <p:nvPr/>
        </p:nvSpPr>
        <p:spPr>
          <a:xfrm>
            <a:off x="762000" y="3980815"/>
            <a:ext cx="63500" cy="63500"/>
          </a:xfrm>
          <a:prstGeom prst="rect">
            <a:avLst/>
          </a:prstGeom>
          <a:solidFill>
            <a:srgbClr val="FF5A36"/>
          </a:solidFill>
          <a:ln>
            <a:noFill/>
          </a:ln>
          <a:effectLst/>
        </p:spPr>
        <p:txBody>
          <a:bodyPr rtlCol="0" anchor="ctr" lIns="0" rIns="0"/>
          <a:lstStyle/>
          <a:p>
            <a:pPr algn="ctr"/>
          </a:p>
        </p:txBody>
      </p:sp>
      <p:sp>
        <p:nvSpPr>
          <p:cNvPr id="16" name="TextBox 15"/>
          <p:cNvSpPr txBox="1"/>
          <p:nvPr/>
        </p:nvSpPr>
        <p:spPr>
          <a:xfrm>
            <a:off x="952500" y="3917950"/>
            <a:ext cx="3619500" cy="19050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Search:</a:t>
            </a:r>
            <a:r>
              <a:rPr sz="1100" b="0" i="0">
                <a:solidFill>
                  <a:srgbClr val="C8C1B7"/>
                </a:solidFill>
                <a:latin typeface="IBM Plex Sans"/>
                <a:ea typeface="IBM Plex Sans"/>
                <a:cs typeface="IBM Plex Sans Arabic"/>
              </a:rPr>
              <a:t> top words and words with no results</a:t>
            </a:r>
          </a:p>
        </p:txBody>
      </p:sp>
      <p:sp>
        <p:nvSpPr>
          <p:cNvPr id="17" name="Rectangle 16"/>
          <p:cNvSpPr/>
          <p:nvPr/>
        </p:nvSpPr>
        <p:spPr>
          <a:xfrm>
            <a:off x="762000" y="4234815"/>
            <a:ext cx="63500" cy="63500"/>
          </a:xfrm>
          <a:prstGeom prst="rect">
            <a:avLst/>
          </a:prstGeom>
          <a:solidFill>
            <a:srgbClr val="FF5A36"/>
          </a:solidFill>
          <a:ln>
            <a:noFill/>
          </a:ln>
          <a:effectLst/>
        </p:spPr>
        <p:txBody>
          <a:bodyPr rtlCol="0" anchor="ctr" lIns="0" rIns="0"/>
          <a:lstStyle/>
          <a:p>
            <a:pPr algn="ctr"/>
          </a:p>
        </p:txBody>
      </p:sp>
      <p:sp>
        <p:nvSpPr>
          <p:cNvPr id="18" name="TextBox 17"/>
          <p:cNvSpPr txBox="1"/>
          <p:nvPr/>
        </p:nvSpPr>
        <p:spPr>
          <a:xfrm>
            <a:off x="952500" y="4171950"/>
            <a:ext cx="3619500" cy="190500"/>
          </a:xfrm>
          <a:prstGeom prst="rect">
            <a:avLst/>
          </a:prstGeom>
          <a:noFill/>
        </p:spPr>
        <p:txBody>
          <a:bodyPr wrap="square" lIns="0" rIns="0" tIns="0" bIns="0" anchor="t">
            <a:noAutofit/>
          </a:bodyPr>
          <a:lstStyle/>
          <a:p>
            <a:pPr algn="l">
              <a:lnSpc>
                <a:spcPct val="130000"/>
              </a:lnSpc>
            </a:pPr>
            <a:r>
              <a:rPr sz="1100" b="1" i="0">
                <a:solidFill>
                  <a:srgbClr val="EDE8E1"/>
                </a:solidFill>
                <a:latin typeface="IBM Plex Sans"/>
                <a:ea typeface="IBM Plex Sans"/>
                <a:cs typeface="IBM Plex Sans Arabic"/>
              </a:rPr>
              <a:t>Abandoned carts</a:t>
            </a:r>
            <a:r>
              <a:rPr sz="1100" b="0" i="0">
                <a:solidFill>
                  <a:srgbClr val="C8C1B7"/>
                </a:solidFill>
                <a:latin typeface="IBM Plex Sans"/>
                <a:ea typeface="IBM Plex Sans"/>
                <a:cs typeface="IBM Plex Sans Arabic"/>
              </a:rPr>
              <a:t> and profit</a:t>
            </a:r>
          </a:p>
        </p:txBody>
      </p:sp>
      <p:pic>
        <p:nvPicPr>
          <p:cNvPr id="19" name="Picture 18" descr="b-a-an.jpg"/>
          <p:cNvPicPr>
            <a:picLocks noChangeAspect="1"/>
          </p:cNvPicPr>
          <p:nvPr/>
        </p:nvPicPr>
        <p:blipFill>
          <a:blip r:embed="rId3"/>
          <a:stretch>
            <a:fillRect/>
          </a:stretch>
        </p:blipFill>
        <p:spPr>
          <a:xfrm>
            <a:off x="4597400" y="596900"/>
            <a:ext cx="7188200" cy="5664200"/>
          </a:xfrm>
          <a:prstGeom prst="rect">
            <a:avLst/>
          </a:prstGeom>
        </p:spPr>
      </p:pic>
      <p:pic>
        <p:nvPicPr>
          <p:cNvPr id="20" name="Picture 19" descr="logo-bone.png"/>
          <p:cNvPicPr>
            <a:picLocks noChangeAspect="1"/>
          </p:cNvPicPr>
          <p:nvPr/>
        </p:nvPicPr>
        <p:blipFill>
          <a:blip r:embed="rId4"/>
          <a:stretch>
            <a:fillRect/>
          </a:stretch>
        </p:blipFill>
        <p:spPr>
          <a:xfrm>
            <a:off x="762000" y="6426200"/>
            <a:ext cx="208788" cy="152400"/>
          </a:xfrm>
          <a:prstGeom prst="rect">
            <a:avLst/>
          </a:prstGeom>
        </p:spPr>
      </p:pic>
      <p:sp>
        <p:nvSpPr>
          <p:cNvPr id="21" name="TextBox 20"/>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DASHBOARD</a:t>
            </a:r>
          </a:p>
        </p:txBody>
      </p:sp>
      <p:sp>
        <p:nvSpPr>
          <p:cNvPr id="22" name="TextBox 21"/>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27</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ECE2"/>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25</a:t>
            </a:r>
            <a:r>
              <a:rPr sz="950" b="0" i="0" spc="240">
                <a:solidFill>
                  <a:srgbClr val="7A6E62"/>
                </a:solidFill>
                <a:latin typeface="IBM Plex Mono"/>
                <a:ea typeface="IBM Plex Mono"/>
                <a:cs typeface="IBM Plex Sans Arabic"/>
              </a:rPr>
              <a:t>  DASHBOARD · REPORTS</a:t>
            </a:r>
          </a:p>
        </p:txBody>
      </p:sp>
      <p:sp>
        <p:nvSpPr>
          <p:cNvPr id="4" name="TextBox 3"/>
          <p:cNvSpPr txBox="1"/>
          <p:nvPr/>
        </p:nvSpPr>
        <p:spPr>
          <a:xfrm>
            <a:off x="762000" y="952500"/>
            <a:ext cx="5715000" cy="984250"/>
          </a:xfrm>
          <a:prstGeom prst="rect">
            <a:avLst/>
          </a:prstGeom>
          <a:noFill/>
        </p:spPr>
        <p:txBody>
          <a:bodyPr wrap="square" lIns="0" rIns="0" tIns="0" bIns="0" anchor="t">
            <a:noAutofit/>
          </a:bodyPr>
          <a:lstStyle/>
          <a:p>
            <a:pPr algn="l">
              <a:lnSpc>
                <a:spcPct val="106000"/>
              </a:lnSpc>
            </a:pPr>
            <a:r>
              <a:rPr sz="3200" b="1" i="0" spc="-50">
                <a:solidFill>
                  <a:srgbClr val="1A1512"/>
                </a:solidFill>
                <a:latin typeface="Alexandria"/>
                <a:ea typeface="Alexandria"/>
                <a:cs typeface="IBM Plex Sans Arabic"/>
              </a:rPr>
              <a:t>31 reports.</a:t>
            </a:r>
          </a:p>
          <a:p>
            <a:pPr algn="l">
              <a:lnSpc>
                <a:spcPct val="106000"/>
              </a:lnSpc>
            </a:pPr>
            <a:r>
              <a:rPr sz="3200" b="1" i="0" spc="-50">
                <a:solidFill>
                  <a:srgbClr val="FF5A36"/>
                </a:solidFill>
                <a:latin typeface="Alexandria"/>
                <a:ea typeface="Alexandria"/>
                <a:cs typeface="IBM Plex Sans Arabic"/>
              </a:rPr>
              <a:t>Chart, table, CSV.</a:t>
            </a:r>
          </a:p>
        </p:txBody>
      </p:sp>
      <p:sp>
        <p:nvSpPr>
          <p:cNvPr id="5" name="TextBox 4"/>
          <p:cNvSpPr txBox="1"/>
          <p:nvPr/>
        </p:nvSpPr>
        <p:spPr>
          <a:xfrm>
            <a:off x="762000" y="2095500"/>
            <a:ext cx="4445000" cy="762000"/>
          </a:xfrm>
          <a:prstGeom prst="rect">
            <a:avLst/>
          </a:prstGeom>
          <a:noFill/>
        </p:spPr>
        <p:txBody>
          <a:bodyPr wrap="square" lIns="0" rIns="0" tIns="0" bIns="0" anchor="t">
            <a:noAutofit/>
          </a:bodyPr>
          <a:lstStyle/>
          <a:p>
            <a:pPr algn="l">
              <a:lnSpc>
                <a:spcPct val="145000"/>
              </a:lnSpc>
            </a:pPr>
            <a:r>
              <a:rPr sz="1350" b="0" i="0">
                <a:solidFill>
                  <a:srgbClr val="3A322C"/>
                </a:solidFill>
                <a:latin typeface="IBM Plex Sans"/>
                <a:ea typeface="IBM Plex Sans"/>
                <a:cs typeface="IBM Plex Sans Arabic"/>
              </a:rPr>
              <a:t>Every report follows the selected time range and exports to CSV in one click.</a:t>
            </a:r>
          </a:p>
        </p:txBody>
      </p:sp>
      <p:sp>
        <p:nvSpPr>
          <p:cNvPr id="6" name="Rounded Rectangle 5"/>
          <p:cNvSpPr/>
          <p:nvPr/>
        </p:nvSpPr>
        <p:spPr>
          <a:xfrm>
            <a:off x="5715000" y="8255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7" name="TextBox 6"/>
          <p:cNvSpPr txBox="1"/>
          <p:nvPr/>
        </p:nvSpPr>
        <p:spPr>
          <a:xfrm>
            <a:off x="5905500" y="8255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10</a:t>
            </a:r>
          </a:p>
        </p:txBody>
      </p:sp>
      <p:sp>
        <p:nvSpPr>
          <p:cNvPr id="8" name="TextBox 7"/>
          <p:cNvSpPr txBox="1"/>
          <p:nvPr/>
        </p:nvSpPr>
        <p:spPr>
          <a:xfrm>
            <a:off x="6667500" y="9271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Sales</a:t>
            </a:r>
          </a:p>
        </p:txBody>
      </p:sp>
      <p:sp>
        <p:nvSpPr>
          <p:cNvPr id="9" name="TextBox 8"/>
          <p:cNvSpPr txBox="1"/>
          <p:nvPr/>
        </p:nvSpPr>
        <p:spPr>
          <a:xfrm>
            <a:off x="6667500" y="11557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Over time, breakdown, by product, animal, city, payment, discount code, hour, weekday, services</a:t>
            </a:r>
          </a:p>
        </p:txBody>
      </p:sp>
      <p:sp>
        <p:nvSpPr>
          <p:cNvPr id="10" name="Rounded Rectangle 9"/>
          <p:cNvSpPr/>
          <p:nvPr/>
        </p:nvSpPr>
        <p:spPr>
          <a:xfrm>
            <a:off x="5715000" y="15748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11" name="TextBox 10"/>
          <p:cNvSpPr txBox="1"/>
          <p:nvPr/>
        </p:nvSpPr>
        <p:spPr>
          <a:xfrm>
            <a:off x="5905500" y="15748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4</a:t>
            </a:r>
          </a:p>
        </p:txBody>
      </p:sp>
      <p:sp>
        <p:nvSpPr>
          <p:cNvPr id="12" name="TextBox 11"/>
          <p:cNvSpPr txBox="1"/>
          <p:nvPr/>
        </p:nvSpPr>
        <p:spPr>
          <a:xfrm>
            <a:off x="6667500" y="16764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Orders</a:t>
            </a:r>
          </a:p>
        </p:txBody>
      </p:sp>
      <p:sp>
        <p:nvSpPr>
          <p:cNvPr id="13" name="TextBox 12"/>
          <p:cNvSpPr txBox="1"/>
          <p:nvPr/>
        </p:nvSpPr>
        <p:spPr>
          <a:xfrm>
            <a:off x="6667500" y="19050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Over time, average order value, by stage, by delivery slot</a:t>
            </a:r>
          </a:p>
        </p:txBody>
      </p:sp>
      <p:sp>
        <p:nvSpPr>
          <p:cNvPr id="14" name="Rounded Rectangle 13"/>
          <p:cNvSpPr/>
          <p:nvPr/>
        </p:nvSpPr>
        <p:spPr>
          <a:xfrm>
            <a:off x="5715000" y="23241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15" name="TextBox 14"/>
          <p:cNvSpPr txBox="1"/>
          <p:nvPr/>
        </p:nvSpPr>
        <p:spPr>
          <a:xfrm>
            <a:off x="5905500" y="23241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5</a:t>
            </a:r>
          </a:p>
        </p:txBody>
      </p:sp>
      <p:sp>
        <p:nvSpPr>
          <p:cNvPr id="16" name="TextBox 15"/>
          <p:cNvSpPr txBox="1"/>
          <p:nvPr/>
        </p:nvSpPr>
        <p:spPr>
          <a:xfrm>
            <a:off x="6667500" y="24257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Traffic</a:t>
            </a:r>
          </a:p>
        </p:txBody>
      </p:sp>
      <p:sp>
        <p:nvSpPr>
          <p:cNvPr id="17" name="TextBox 16"/>
          <p:cNvSpPr txBox="1"/>
          <p:nvPr/>
        </p:nvSpPr>
        <p:spPr>
          <a:xfrm>
            <a:off x="6667500" y="26543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Sessions over time, by source, device, city, landing pages</a:t>
            </a:r>
          </a:p>
        </p:txBody>
      </p:sp>
      <p:sp>
        <p:nvSpPr>
          <p:cNvPr id="18" name="Rounded Rectangle 17"/>
          <p:cNvSpPr/>
          <p:nvPr/>
        </p:nvSpPr>
        <p:spPr>
          <a:xfrm>
            <a:off x="5715000" y="30734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19" name="TextBox 18"/>
          <p:cNvSpPr txBox="1"/>
          <p:nvPr/>
        </p:nvSpPr>
        <p:spPr>
          <a:xfrm>
            <a:off x="5905500" y="30734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5</a:t>
            </a:r>
          </a:p>
        </p:txBody>
      </p:sp>
      <p:sp>
        <p:nvSpPr>
          <p:cNvPr id="20" name="TextBox 19"/>
          <p:cNvSpPr txBox="1"/>
          <p:nvPr/>
        </p:nvSpPr>
        <p:spPr>
          <a:xfrm>
            <a:off x="6667500" y="31750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Behaviour</a:t>
            </a:r>
          </a:p>
        </p:txBody>
      </p:sp>
      <p:sp>
        <p:nvSpPr>
          <p:cNvPr id="21" name="TextBox 20"/>
          <p:cNvSpPr txBox="1"/>
          <p:nvPr/>
        </p:nvSpPr>
        <p:spPr>
          <a:xfrm>
            <a:off x="6667500" y="34036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Conversion funnel and rate, product performance, search, abandoned carts</a:t>
            </a:r>
          </a:p>
        </p:txBody>
      </p:sp>
      <p:sp>
        <p:nvSpPr>
          <p:cNvPr id="22" name="Rounded Rectangle 21"/>
          <p:cNvSpPr/>
          <p:nvPr/>
        </p:nvSpPr>
        <p:spPr>
          <a:xfrm>
            <a:off x="5715000" y="38227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23" name="TextBox 22"/>
          <p:cNvSpPr txBox="1"/>
          <p:nvPr/>
        </p:nvSpPr>
        <p:spPr>
          <a:xfrm>
            <a:off x="5905500" y="38227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4</a:t>
            </a:r>
          </a:p>
        </p:txBody>
      </p:sp>
      <p:sp>
        <p:nvSpPr>
          <p:cNvPr id="24" name="TextBox 23"/>
          <p:cNvSpPr txBox="1"/>
          <p:nvPr/>
        </p:nvSpPr>
        <p:spPr>
          <a:xfrm>
            <a:off x="6667500" y="39243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Customers</a:t>
            </a:r>
          </a:p>
        </p:txBody>
      </p:sp>
      <p:sp>
        <p:nvSpPr>
          <p:cNvPr id="25" name="TextBox 24"/>
          <p:cNvSpPr txBox="1"/>
          <p:nvPr/>
        </p:nvSpPr>
        <p:spPr>
          <a:xfrm>
            <a:off x="6667500" y="41529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New vs returning, segments (RFM), cohorts, top customers</a:t>
            </a:r>
          </a:p>
        </p:txBody>
      </p:sp>
      <p:sp>
        <p:nvSpPr>
          <p:cNvPr id="26" name="Rounded Rectangle 25"/>
          <p:cNvSpPr/>
          <p:nvPr/>
        </p:nvSpPr>
        <p:spPr>
          <a:xfrm>
            <a:off x="5715000" y="45720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27" name="TextBox 26"/>
          <p:cNvSpPr txBox="1"/>
          <p:nvPr/>
        </p:nvSpPr>
        <p:spPr>
          <a:xfrm>
            <a:off x="5905500" y="45720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2</a:t>
            </a:r>
          </a:p>
        </p:txBody>
      </p:sp>
      <p:sp>
        <p:nvSpPr>
          <p:cNvPr id="28" name="TextBox 27"/>
          <p:cNvSpPr txBox="1"/>
          <p:nvPr/>
        </p:nvSpPr>
        <p:spPr>
          <a:xfrm>
            <a:off x="6667500" y="46736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Profit</a:t>
            </a:r>
          </a:p>
        </p:txBody>
      </p:sp>
      <p:sp>
        <p:nvSpPr>
          <p:cNvPr id="29" name="TextBox 28"/>
          <p:cNvSpPr txBox="1"/>
          <p:nvPr/>
        </p:nvSpPr>
        <p:spPr>
          <a:xfrm>
            <a:off x="6667500" y="49022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Profit over time, profit by product</a:t>
            </a:r>
          </a:p>
        </p:txBody>
      </p:sp>
      <p:sp>
        <p:nvSpPr>
          <p:cNvPr id="30" name="Rounded Rectangle 29"/>
          <p:cNvSpPr/>
          <p:nvPr/>
        </p:nvSpPr>
        <p:spPr>
          <a:xfrm>
            <a:off x="5715000" y="5321300"/>
            <a:ext cx="5715000" cy="673100"/>
          </a:xfrm>
          <a:prstGeom prst="roundRect">
            <a:avLst>
              <a:gd name="adj" fmla="val 13207"/>
            </a:avLst>
          </a:prstGeom>
          <a:solidFill>
            <a:srgbClr val="FBF8F3"/>
          </a:solidFill>
          <a:ln>
            <a:noFill/>
          </a:ln>
          <a:effectLst/>
        </p:spPr>
        <p:txBody>
          <a:bodyPr rtlCol="0" anchor="ctr" lIns="0" rIns="0"/>
          <a:lstStyle/>
          <a:p>
            <a:pPr algn="ctr"/>
          </a:p>
        </p:txBody>
      </p:sp>
      <p:sp>
        <p:nvSpPr>
          <p:cNvPr id="31" name="TextBox 30"/>
          <p:cNvSpPr txBox="1"/>
          <p:nvPr/>
        </p:nvSpPr>
        <p:spPr>
          <a:xfrm>
            <a:off x="5905500" y="5321300"/>
            <a:ext cx="698500" cy="673100"/>
          </a:xfrm>
          <a:prstGeom prst="rect">
            <a:avLst/>
          </a:prstGeom>
          <a:noFill/>
        </p:spPr>
        <p:txBody>
          <a:bodyPr wrap="square" lIns="0" rIns="0" tIns="0" bIns="0" anchor="ctr">
            <a:noAutofit/>
          </a:bodyPr>
          <a:lstStyle/>
          <a:p>
            <a:pPr algn="l">
              <a:lnSpc>
                <a:spcPct val="100000"/>
              </a:lnSpc>
            </a:pPr>
            <a:r>
              <a:rPr sz="2600" b="1" i="0">
                <a:solidFill>
                  <a:srgbClr val="FF5A36"/>
                </a:solidFill>
                <a:latin typeface="IBM Plex Mono"/>
                <a:ea typeface="IBM Plex Mono"/>
                <a:cs typeface="IBM Plex Sans Arabic"/>
              </a:rPr>
              <a:t>1</a:t>
            </a:r>
          </a:p>
        </p:txBody>
      </p:sp>
      <p:sp>
        <p:nvSpPr>
          <p:cNvPr id="32" name="TextBox 31"/>
          <p:cNvSpPr txBox="1"/>
          <p:nvPr/>
        </p:nvSpPr>
        <p:spPr>
          <a:xfrm>
            <a:off x="6667500" y="5422900"/>
            <a:ext cx="4572000" cy="228600"/>
          </a:xfrm>
          <a:prstGeom prst="rect">
            <a:avLst/>
          </a:prstGeom>
          <a:noFill/>
        </p:spPr>
        <p:txBody>
          <a:bodyPr wrap="square" lIns="0" rIns="0" tIns="0" bIns="0" anchor="t">
            <a:noAutofit/>
          </a:bodyPr>
          <a:lstStyle/>
          <a:p>
            <a:pPr algn="l">
              <a:lnSpc>
                <a:spcPct val="100000"/>
              </a:lnSpc>
            </a:pPr>
            <a:r>
              <a:rPr sz="1350" b="1" i="0">
                <a:solidFill>
                  <a:srgbClr val="1A1512"/>
                </a:solidFill>
                <a:latin typeface="Alexandria"/>
                <a:ea typeface="Alexandria"/>
                <a:cs typeface="IBM Plex Sans Arabic"/>
              </a:rPr>
              <a:t>Advisor</a:t>
            </a:r>
          </a:p>
        </p:txBody>
      </p:sp>
      <p:sp>
        <p:nvSpPr>
          <p:cNvPr id="33" name="TextBox 32"/>
          <p:cNvSpPr txBox="1"/>
          <p:nvPr/>
        </p:nvSpPr>
        <p:spPr>
          <a:xfrm>
            <a:off x="6667500" y="5651500"/>
            <a:ext cx="4635500" cy="317500"/>
          </a:xfrm>
          <a:prstGeom prst="rect">
            <a:avLst/>
          </a:prstGeom>
          <a:noFill/>
        </p:spPr>
        <p:txBody>
          <a:bodyPr wrap="square" lIns="0" rIns="0" tIns="0" bIns="0" anchor="t">
            <a:noAutofit/>
          </a:bodyPr>
          <a:lstStyle/>
          <a:p>
            <a:pPr algn="l">
              <a:lnSpc>
                <a:spcPct val="125000"/>
              </a:lnSpc>
            </a:pPr>
            <a:r>
              <a:rPr sz="850" b="0" i="0">
                <a:solidFill>
                  <a:srgbClr val="7A6E62"/>
                </a:solidFill>
                <a:latin typeface="IBM Plex Sans"/>
                <a:ea typeface="IBM Plex Sans"/>
                <a:cs typeface="IBM Plex Sans Arabic"/>
              </a:rPr>
              <a:t>Chats → plans → carts, sales and occasions</a:t>
            </a:r>
          </a:p>
        </p:txBody>
      </p:sp>
      <p:pic>
        <p:nvPicPr>
          <p:cNvPr id="34" name="Picture 33" descr="logo-ink.png"/>
          <p:cNvPicPr>
            <a:picLocks noChangeAspect="1"/>
          </p:cNvPicPr>
          <p:nvPr/>
        </p:nvPicPr>
        <p:blipFill>
          <a:blip r:embed="rId3"/>
          <a:stretch>
            <a:fillRect/>
          </a:stretch>
        </p:blipFill>
        <p:spPr>
          <a:xfrm>
            <a:off x="762000" y="6426200"/>
            <a:ext cx="208788" cy="152400"/>
          </a:xfrm>
          <a:prstGeom prst="rect">
            <a:avLst/>
          </a:prstGeom>
        </p:spPr>
      </p:pic>
      <p:sp>
        <p:nvSpPr>
          <p:cNvPr id="35" name="TextBox 34"/>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A3988B"/>
                </a:solidFill>
                <a:latin typeface="IBM Plex Mono"/>
                <a:ea typeface="IBM Plex Mono"/>
                <a:cs typeface="IBM Plex Sans Arabic"/>
              </a:rPr>
              <a:t>DASHBOARD</a:t>
            </a:r>
          </a:p>
        </p:txBody>
      </p:sp>
      <p:sp>
        <p:nvSpPr>
          <p:cNvPr id="36" name="TextBox 35"/>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7A6E62"/>
                </a:solidFill>
                <a:latin typeface="IBM Plex Mono"/>
                <a:ea typeface="IBM Plex Mono"/>
                <a:cs typeface="IBM Plex Sans Arabic"/>
              </a:rPr>
              <a:t>28</a:t>
            </a:r>
            <a:r>
              <a:rPr sz="750" b="0" i="0" spc="150">
                <a:solidFill>
                  <a:srgbClr val="A3988B"/>
                </a:solidFill>
                <a:latin typeface="IBM Plex Mono"/>
                <a:ea typeface="IBM Plex Mono"/>
                <a:cs typeface="IBM Plex Sans Arabic"/>
              </a:rPr>
              <a:t>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26</a:t>
            </a:r>
            <a:r>
              <a:rPr sz="950" b="0" i="0" spc="240">
                <a:solidFill>
                  <a:srgbClr val="8E969D"/>
                </a:solidFill>
                <a:latin typeface="IBM Plex Mono"/>
                <a:ea typeface="IBM Plex Mono"/>
                <a:cs typeface="IBM Plex Sans Arabic"/>
              </a:rPr>
              <a:t>  DASHBOARD · CUSTOMERS AND STOCK</a:t>
            </a:r>
          </a:p>
        </p:txBody>
      </p:sp>
      <p:sp>
        <p:nvSpPr>
          <p:cNvPr id="4" name="TextBox 3"/>
          <p:cNvSpPr txBox="1"/>
          <p:nvPr/>
        </p:nvSpPr>
        <p:spPr>
          <a:xfrm>
            <a:off x="762000" y="952500"/>
            <a:ext cx="10160000" cy="876300"/>
          </a:xfrm>
          <a:prstGeom prst="rect">
            <a:avLst/>
          </a:prstGeom>
          <a:noFill/>
        </p:spPr>
        <p:txBody>
          <a:bodyPr wrap="square" lIns="0" rIns="0" tIns="0" bIns="0" anchor="t">
            <a:noAutofit/>
          </a:bodyPr>
          <a:lstStyle/>
          <a:p>
            <a:pPr algn="l">
              <a:lnSpc>
                <a:spcPct val="106000"/>
              </a:lnSpc>
            </a:pPr>
            <a:r>
              <a:rPr sz="2800" b="1" i="0" spc="-50">
                <a:solidFill>
                  <a:srgbClr val="EDE8E1"/>
                </a:solidFill>
                <a:latin typeface="Alexandria"/>
                <a:ea typeface="Alexandria"/>
                <a:cs typeface="IBM Plex Sans Arabic"/>
              </a:rPr>
              <a:t>Know who to thank.</a:t>
            </a:r>
          </a:p>
          <a:p>
            <a:pPr algn="l">
              <a:lnSpc>
                <a:spcPct val="106000"/>
              </a:lnSpc>
            </a:pPr>
            <a:r>
              <a:rPr sz="2800" b="1" i="0" spc="-50">
                <a:solidFill>
                  <a:srgbClr val="FF5A36"/>
                </a:solidFill>
                <a:latin typeface="Alexandria"/>
                <a:ea typeface="Alexandria"/>
                <a:cs typeface="IBM Plex Sans Arabic"/>
              </a:rPr>
              <a:t>Never sell what you don't have.</a:t>
            </a:r>
          </a:p>
        </p:txBody>
      </p:sp>
      <p:pic>
        <p:nvPicPr>
          <p:cNvPr id="5" name="Picture 4" descr="b-a-cust.jpg"/>
          <p:cNvPicPr>
            <a:picLocks noChangeAspect="1"/>
          </p:cNvPicPr>
          <p:nvPr/>
        </p:nvPicPr>
        <p:blipFill>
          <a:blip r:embed="rId3"/>
          <a:stretch>
            <a:fillRect/>
          </a:stretch>
        </p:blipFill>
        <p:spPr>
          <a:xfrm>
            <a:off x="533400" y="1930400"/>
            <a:ext cx="5918200" cy="3568700"/>
          </a:xfrm>
          <a:prstGeom prst="rect">
            <a:avLst/>
          </a:prstGeom>
        </p:spPr>
      </p:pic>
      <p:pic>
        <p:nvPicPr>
          <p:cNvPr id="6" name="Picture 5" descr="b-a-inv.jpg"/>
          <p:cNvPicPr>
            <a:picLocks noChangeAspect="1"/>
          </p:cNvPicPr>
          <p:nvPr/>
        </p:nvPicPr>
        <p:blipFill>
          <a:blip r:embed="rId4"/>
          <a:stretch>
            <a:fillRect/>
          </a:stretch>
        </p:blipFill>
        <p:spPr>
          <a:xfrm>
            <a:off x="5994400" y="1930400"/>
            <a:ext cx="5791200" cy="3568700"/>
          </a:xfrm>
          <a:prstGeom prst="rect">
            <a:avLst/>
          </a:prstGeom>
        </p:spPr>
      </p:pic>
      <p:sp>
        <p:nvSpPr>
          <p:cNvPr id="7" name="Rounded Rectangle 6"/>
          <p:cNvSpPr/>
          <p:nvPr/>
        </p:nvSpPr>
        <p:spPr>
          <a:xfrm>
            <a:off x="889000" y="5397500"/>
            <a:ext cx="520700" cy="2540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8" name="TextBox 7"/>
          <p:cNvSpPr txBox="1"/>
          <p:nvPr/>
        </p:nvSpPr>
        <p:spPr>
          <a:xfrm>
            <a:off x="889000" y="5397500"/>
            <a:ext cx="520700" cy="2540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Loyal</a:t>
            </a:r>
          </a:p>
        </p:txBody>
      </p:sp>
      <p:sp>
        <p:nvSpPr>
          <p:cNvPr id="9" name="Rounded Rectangle 8"/>
          <p:cNvSpPr/>
          <p:nvPr/>
        </p:nvSpPr>
        <p:spPr>
          <a:xfrm>
            <a:off x="1473200" y="5397500"/>
            <a:ext cx="774700" cy="2540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0" name="TextBox 9"/>
          <p:cNvSpPr txBox="1"/>
          <p:nvPr/>
        </p:nvSpPr>
        <p:spPr>
          <a:xfrm>
            <a:off x="1473200" y="5397500"/>
            <a:ext cx="774700" cy="2540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Returning</a:t>
            </a:r>
          </a:p>
        </p:txBody>
      </p:sp>
      <p:sp>
        <p:nvSpPr>
          <p:cNvPr id="11" name="Rounded Rectangle 10"/>
          <p:cNvSpPr/>
          <p:nvPr/>
        </p:nvSpPr>
        <p:spPr>
          <a:xfrm>
            <a:off x="2311400" y="5397500"/>
            <a:ext cx="393700" cy="2540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2" name="TextBox 11"/>
          <p:cNvSpPr txBox="1"/>
          <p:nvPr/>
        </p:nvSpPr>
        <p:spPr>
          <a:xfrm>
            <a:off x="2311400" y="5397500"/>
            <a:ext cx="393700" cy="2540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New</a:t>
            </a:r>
          </a:p>
        </p:txBody>
      </p:sp>
      <p:sp>
        <p:nvSpPr>
          <p:cNvPr id="13" name="Rounded Rectangle 12"/>
          <p:cNvSpPr/>
          <p:nvPr/>
        </p:nvSpPr>
        <p:spPr>
          <a:xfrm>
            <a:off x="2768600" y="5397500"/>
            <a:ext cx="647700" cy="2540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4" name="TextBox 13"/>
          <p:cNvSpPr txBox="1"/>
          <p:nvPr/>
        </p:nvSpPr>
        <p:spPr>
          <a:xfrm>
            <a:off x="2768600" y="5397500"/>
            <a:ext cx="647700" cy="2540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At risk</a:t>
            </a:r>
          </a:p>
        </p:txBody>
      </p:sp>
      <p:sp>
        <p:nvSpPr>
          <p:cNvPr id="15" name="Rounded Rectangle 14"/>
          <p:cNvSpPr/>
          <p:nvPr/>
        </p:nvSpPr>
        <p:spPr>
          <a:xfrm>
            <a:off x="3479800" y="5397500"/>
            <a:ext cx="711200" cy="2540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6" name="TextBox 15"/>
          <p:cNvSpPr txBox="1"/>
          <p:nvPr/>
        </p:nvSpPr>
        <p:spPr>
          <a:xfrm>
            <a:off x="3479800" y="5397500"/>
            <a:ext cx="711200" cy="2540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Inactive</a:t>
            </a:r>
          </a:p>
        </p:txBody>
      </p:sp>
      <p:sp>
        <p:nvSpPr>
          <p:cNvPr id="17" name="Rounded Rectangle 16"/>
          <p:cNvSpPr/>
          <p:nvPr/>
        </p:nvSpPr>
        <p:spPr>
          <a:xfrm>
            <a:off x="4254500" y="5397500"/>
            <a:ext cx="1035050" cy="254000"/>
          </a:xfrm>
          <a:prstGeom prst="roundRect">
            <a:avLst>
              <a:gd name="adj" fmla="val 50000"/>
            </a:avLst>
          </a:prstGeom>
          <a:solidFill>
            <a:srgbClr val="1C2228"/>
          </a:solidFill>
          <a:ln w="12700">
            <a:solidFill>
              <a:srgbClr val="383B3E"/>
            </a:solidFill>
          </a:ln>
          <a:effectLst/>
        </p:spPr>
        <p:txBody>
          <a:bodyPr rtlCol="0" anchor="ctr" lIns="0" rIns="0"/>
          <a:lstStyle/>
          <a:p>
            <a:pPr algn="ctr"/>
          </a:p>
        </p:txBody>
      </p:sp>
      <p:sp>
        <p:nvSpPr>
          <p:cNvPr id="18" name="TextBox 17"/>
          <p:cNvSpPr txBox="1"/>
          <p:nvPr/>
        </p:nvSpPr>
        <p:spPr>
          <a:xfrm>
            <a:off x="4254500" y="5397500"/>
            <a:ext cx="1035050" cy="254000"/>
          </a:xfrm>
          <a:prstGeom prst="rect">
            <a:avLst/>
          </a:prstGeom>
          <a:noFill/>
        </p:spPr>
        <p:txBody>
          <a:bodyPr wrap="square" lIns="0" rIns="0" tIns="0" bIns="0" anchor="ctr">
            <a:noAutofit/>
          </a:bodyPr>
          <a:lstStyle/>
          <a:p>
            <a:pPr algn="ctr">
              <a:lnSpc>
                <a:spcPct val="100000"/>
              </a:lnSpc>
            </a:pPr>
            <a:r>
              <a:rPr sz="900" b="1" i="0">
                <a:solidFill>
                  <a:srgbClr val="EDE8E1"/>
                </a:solidFill>
                <a:latin typeface="IBM Plex Sans"/>
                <a:ea typeface="IBM Plex Sans"/>
                <a:cs typeface="IBM Plex Sans Arabic"/>
              </a:rPr>
              <a:t>One old order</a:t>
            </a:r>
          </a:p>
        </p:txBody>
      </p:sp>
      <p:sp>
        <p:nvSpPr>
          <p:cNvPr id="19" name="TextBox 18"/>
          <p:cNvSpPr txBox="1"/>
          <p:nvPr/>
        </p:nvSpPr>
        <p:spPr>
          <a:xfrm>
            <a:off x="6350000" y="5372100"/>
            <a:ext cx="5080000" cy="508000"/>
          </a:xfrm>
          <a:prstGeom prst="rect">
            <a:avLst/>
          </a:prstGeom>
          <a:noFill/>
        </p:spPr>
        <p:txBody>
          <a:bodyPr wrap="square" lIns="0" rIns="0" tIns="0" bIns="0" anchor="t">
            <a:noAutofit/>
          </a:bodyPr>
          <a:lstStyle/>
          <a:p>
            <a:pPr algn="l">
              <a:lnSpc>
                <a:spcPct val="135000"/>
              </a:lnSpc>
            </a:pPr>
            <a:r>
              <a:rPr sz="1050" b="0" i="0">
                <a:solidFill>
                  <a:srgbClr val="8E969D"/>
                </a:solidFill>
                <a:latin typeface="IBM Plex Mono"/>
                <a:ea typeface="IBM Plex Mono"/>
                <a:cs typeface="IBM Plex Sans Arabic"/>
              </a:rPr>
              <a:t>Stock + alert level · days of cover · 0 = sold out in the shop</a:t>
            </a:r>
          </a:p>
        </p:txBody>
      </p:sp>
      <p:pic>
        <p:nvPicPr>
          <p:cNvPr id="20" name="Picture 19" descr="logo-bone.png"/>
          <p:cNvPicPr>
            <a:picLocks noChangeAspect="1"/>
          </p:cNvPicPr>
          <p:nvPr/>
        </p:nvPicPr>
        <p:blipFill>
          <a:blip r:embed="rId5"/>
          <a:stretch>
            <a:fillRect/>
          </a:stretch>
        </p:blipFill>
        <p:spPr>
          <a:xfrm>
            <a:off x="762000" y="6426200"/>
            <a:ext cx="208788" cy="152400"/>
          </a:xfrm>
          <a:prstGeom prst="rect">
            <a:avLst/>
          </a:prstGeom>
        </p:spPr>
      </p:pic>
      <p:sp>
        <p:nvSpPr>
          <p:cNvPr id="21" name="TextBox 20"/>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DASHBOARD</a:t>
            </a:r>
          </a:p>
        </p:txBody>
      </p:sp>
      <p:sp>
        <p:nvSpPr>
          <p:cNvPr id="22" name="TextBox 21"/>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29</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27</a:t>
            </a:r>
            <a:r>
              <a:rPr sz="950" b="0" i="0" spc="240">
                <a:solidFill>
                  <a:srgbClr val="8E969D"/>
                </a:solidFill>
                <a:latin typeface="IBM Plex Mono"/>
                <a:ea typeface="IBM Plex Mono"/>
                <a:cs typeface="IBM Plex Sans Arabic"/>
              </a:rPr>
              <a:t>  DASHBOARD · EDIT THE WHOLE SITE</a:t>
            </a:r>
          </a:p>
        </p:txBody>
      </p:sp>
      <p:pic>
        <p:nvPicPr>
          <p:cNvPr id="4" name="Picture 3" descr="b-a-herd.jpg"/>
          <p:cNvPicPr>
            <a:picLocks noChangeAspect="1"/>
          </p:cNvPicPr>
          <p:nvPr/>
        </p:nvPicPr>
        <p:blipFill>
          <a:blip r:embed="rId3"/>
          <a:stretch>
            <a:fillRect/>
          </a:stretch>
        </p:blipFill>
        <p:spPr>
          <a:xfrm>
            <a:off x="533400" y="596900"/>
            <a:ext cx="6426200" cy="5664200"/>
          </a:xfrm>
          <a:prstGeom prst="rect">
            <a:avLst/>
          </a:prstGeom>
        </p:spPr>
      </p:pic>
      <p:sp>
        <p:nvSpPr>
          <p:cNvPr id="5" name="TextBox 4"/>
          <p:cNvSpPr txBox="1"/>
          <p:nvPr/>
        </p:nvSpPr>
        <p:spPr>
          <a:xfrm>
            <a:off x="7239000" y="952500"/>
            <a:ext cx="4318000" cy="876300"/>
          </a:xfrm>
          <a:prstGeom prst="rect">
            <a:avLst/>
          </a:prstGeom>
          <a:noFill/>
        </p:spPr>
        <p:txBody>
          <a:bodyPr wrap="square" lIns="0" rIns="0" tIns="0" bIns="0" anchor="t">
            <a:noAutofit/>
          </a:bodyPr>
          <a:lstStyle/>
          <a:p>
            <a:pPr algn="l">
              <a:lnSpc>
                <a:spcPct val="106000"/>
              </a:lnSpc>
            </a:pPr>
            <a:r>
              <a:rPr sz="2800" b="1" i="0" spc="-50">
                <a:solidFill>
                  <a:srgbClr val="EDE8E1"/>
                </a:solidFill>
                <a:latin typeface="Alexandria"/>
                <a:ea typeface="Alexandria"/>
                <a:cs typeface="IBM Plex Sans Arabic"/>
              </a:rPr>
              <a:t>Change anything.</a:t>
            </a:r>
          </a:p>
          <a:p>
            <a:pPr algn="l">
              <a:lnSpc>
                <a:spcPct val="106000"/>
              </a:lnSpc>
            </a:pPr>
            <a:r>
              <a:rPr sz="2800" b="1" i="0" spc="-50">
                <a:solidFill>
                  <a:srgbClr val="FF5A36"/>
                </a:solidFill>
                <a:latin typeface="Alexandria"/>
                <a:ea typeface="Alexandria"/>
                <a:cs typeface="IBM Plex Sans Arabic"/>
              </a:rPr>
              <a:t>No code.</a:t>
            </a:r>
          </a:p>
        </p:txBody>
      </p:sp>
      <p:cxnSp>
        <p:nvCxnSpPr>
          <p:cNvPr id="6" name="Connector 5"/>
          <p:cNvCxnSpPr/>
          <p:nvPr/>
        </p:nvCxnSpPr>
        <p:spPr>
          <a:xfrm>
            <a:off x="7239000" y="19812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239000" y="20320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Products</a:t>
            </a:r>
          </a:p>
        </p:txBody>
      </p:sp>
      <p:sp>
        <p:nvSpPr>
          <p:cNvPr id="8" name="TextBox 7"/>
          <p:cNvSpPr txBox="1"/>
          <p:nvPr/>
        </p:nvSpPr>
        <p:spPr>
          <a:xfrm>
            <a:off x="9080500" y="20447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price, name, photos, weights, stock, hide</a:t>
            </a:r>
          </a:p>
        </p:txBody>
      </p:sp>
      <p:cxnSp>
        <p:nvCxnSpPr>
          <p:cNvPr id="9" name="Connector 8"/>
          <p:cNvCxnSpPr/>
          <p:nvPr/>
        </p:nvCxnSpPr>
        <p:spPr>
          <a:xfrm>
            <a:off x="7239000" y="24003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239000" y="24511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The herd</a:t>
            </a:r>
          </a:p>
        </p:txBody>
      </p:sp>
      <p:sp>
        <p:nvSpPr>
          <p:cNvPr id="11" name="TextBox 10"/>
          <p:cNvSpPr txBox="1"/>
          <p:nvPr/>
        </p:nvSpPr>
        <p:spPr>
          <a:xfrm>
            <a:off x="9080500" y="24638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drag the dots on the drawing</a:t>
            </a:r>
          </a:p>
        </p:txBody>
      </p:sp>
      <p:cxnSp>
        <p:nvCxnSpPr>
          <p:cNvPr id="12" name="Connector 11"/>
          <p:cNvCxnSpPr/>
          <p:nvPr/>
        </p:nvCxnSpPr>
        <p:spPr>
          <a:xfrm>
            <a:off x="7239000" y="28194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239000" y="28702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Services</a:t>
            </a:r>
          </a:p>
        </p:txBody>
      </p:sp>
      <p:sp>
        <p:nvSpPr>
          <p:cNvPr id="14" name="TextBox 13"/>
          <p:cNvSpPr txBox="1"/>
          <p:nvPr/>
        </p:nvSpPr>
        <p:spPr>
          <a:xfrm>
            <a:off x="9080500" y="28829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marinades, cutting styles, packing</a:t>
            </a:r>
          </a:p>
        </p:txBody>
      </p:sp>
      <p:cxnSp>
        <p:nvCxnSpPr>
          <p:cNvPr id="15" name="Connector 14"/>
          <p:cNvCxnSpPr/>
          <p:nvPr/>
        </p:nvCxnSpPr>
        <p:spPr>
          <a:xfrm>
            <a:off x="7239000" y="32385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39000" y="32893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The advisor</a:t>
            </a:r>
          </a:p>
        </p:txBody>
      </p:sp>
      <p:sp>
        <p:nvSpPr>
          <p:cNvPr id="17" name="TextBox 16"/>
          <p:cNvSpPr txBox="1"/>
          <p:nvPr/>
        </p:nvSpPr>
        <p:spPr>
          <a:xfrm>
            <a:off x="9080500" y="33020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grams per person, charcoal, questions</a:t>
            </a:r>
          </a:p>
        </p:txBody>
      </p:sp>
      <p:cxnSp>
        <p:nvCxnSpPr>
          <p:cNvPr id="18" name="Connector 17"/>
          <p:cNvCxnSpPr/>
          <p:nvPr/>
        </p:nvCxnSpPr>
        <p:spPr>
          <a:xfrm>
            <a:off x="7239000" y="36576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239000" y="37084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Home page</a:t>
            </a:r>
          </a:p>
        </p:txBody>
      </p:sp>
      <p:sp>
        <p:nvSpPr>
          <p:cNvPr id="20" name="TextBox 19"/>
          <p:cNvSpPr txBox="1"/>
          <p:nvPr/>
        </p:nvSpPr>
        <p:spPr>
          <a:xfrm>
            <a:off x="9080500" y="37211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order, show / hide, dark or paper</a:t>
            </a:r>
          </a:p>
        </p:txBody>
      </p:sp>
      <p:cxnSp>
        <p:nvCxnSpPr>
          <p:cNvPr id="21" name="Connector 20"/>
          <p:cNvCxnSpPr/>
          <p:nvPr/>
        </p:nvCxnSpPr>
        <p:spPr>
          <a:xfrm>
            <a:off x="7239000" y="40767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239000" y="41275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All texts &amp; FAQ</a:t>
            </a:r>
          </a:p>
        </p:txBody>
      </p:sp>
      <p:sp>
        <p:nvSpPr>
          <p:cNvPr id="23" name="TextBox 22"/>
          <p:cNvSpPr txBox="1"/>
          <p:nvPr/>
        </p:nvSpPr>
        <p:spPr>
          <a:xfrm>
            <a:off x="9080500" y="41402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every title on every page</a:t>
            </a:r>
          </a:p>
        </p:txBody>
      </p:sp>
      <p:cxnSp>
        <p:nvCxnSpPr>
          <p:cNvPr id="24" name="Connector 23"/>
          <p:cNvCxnSpPr/>
          <p:nvPr/>
        </p:nvCxnSpPr>
        <p:spPr>
          <a:xfrm>
            <a:off x="7239000" y="44958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39000" y="45466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Images</a:t>
            </a:r>
          </a:p>
        </p:txBody>
      </p:sp>
      <p:sp>
        <p:nvSpPr>
          <p:cNvPr id="26" name="TextBox 25"/>
          <p:cNvSpPr txBox="1"/>
          <p:nvPr/>
        </p:nvSpPr>
        <p:spPr>
          <a:xfrm>
            <a:off x="9080500" y="45593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upload or link</a:t>
            </a:r>
          </a:p>
        </p:txBody>
      </p:sp>
      <p:cxnSp>
        <p:nvCxnSpPr>
          <p:cNvPr id="27" name="Connector 26"/>
          <p:cNvCxnSpPr/>
          <p:nvPr/>
        </p:nvCxnSpPr>
        <p:spPr>
          <a:xfrm>
            <a:off x="7239000" y="49149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39000" y="49657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Payment &amp; delivery</a:t>
            </a:r>
          </a:p>
        </p:txBody>
      </p:sp>
      <p:sp>
        <p:nvSpPr>
          <p:cNvPr id="29" name="TextBox 28"/>
          <p:cNvSpPr txBox="1"/>
          <p:nvPr/>
        </p:nvSpPr>
        <p:spPr>
          <a:xfrm>
            <a:off x="9080500" y="49784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methods, fees, cities, slots, coupons</a:t>
            </a:r>
          </a:p>
        </p:txBody>
      </p:sp>
      <p:cxnSp>
        <p:nvCxnSpPr>
          <p:cNvPr id="30" name="Connector 29"/>
          <p:cNvCxnSpPr/>
          <p:nvPr/>
        </p:nvCxnSpPr>
        <p:spPr>
          <a:xfrm>
            <a:off x="7239000" y="5334000"/>
            <a:ext cx="4191000" cy="0"/>
          </a:xfrm>
          <a:prstGeom prst="line">
            <a:avLst/>
          </a:prstGeom>
          <a:ln w="12700">
            <a:solidFill>
              <a:srgbClr val="2A2D3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239000" y="5384800"/>
            <a:ext cx="1778000" cy="228600"/>
          </a:xfrm>
          <a:prstGeom prst="rect">
            <a:avLst/>
          </a:prstGeom>
          <a:noFill/>
        </p:spPr>
        <p:txBody>
          <a:bodyPr wrap="square" lIns="0" rIns="0" tIns="0" bIns="0" anchor="t">
            <a:noAutofit/>
          </a:bodyPr>
          <a:lstStyle/>
          <a:p>
            <a:pPr algn="l">
              <a:lnSpc>
                <a:spcPct val="100000"/>
              </a:lnSpc>
            </a:pPr>
            <a:r>
              <a:rPr sz="1200" b="1" i="0">
                <a:solidFill>
                  <a:srgbClr val="EDE8E1"/>
                </a:solidFill>
                <a:latin typeface="Alexandria"/>
                <a:ea typeface="Alexandria"/>
                <a:cs typeface="IBM Plex Sans Arabic"/>
              </a:rPr>
              <a:t>Brand colour</a:t>
            </a:r>
          </a:p>
        </p:txBody>
      </p:sp>
      <p:sp>
        <p:nvSpPr>
          <p:cNvPr id="32" name="TextBox 31"/>
          <p:cNvSpPr txBox="1"/>
          <p:nvPr/>
        </p:nvSpPr>
        <p:spPr>
          <a:xfrm>
            <a:off x="9080500" y="5397500"/>
            <a:ext cx="2476500" cy="228600"/>
          </a:xfrm>
          <a:prstGeom prst="rect">
            <a:avLst/>
          </a:prstGeom>
          <a:noFill/>
        </p:spPr>
        <p:txBody>
          <a:bodyPr wrap="square" lIns="0" rIns="0" tIns="0" bIns="0" anchor="t">
            <a:noAutofit/>
          </a:bodyPr>
          <a:lstStyle/>
          <a:p>
            <a:pPr algn="l">
              <a:lnSpc>
                <a:spcPct val="120000"/>
              </a:lnSpc>
            </a:pPr>
            <a:r>
              <a:rPr sz="1000" b="0" i="0">
                <a:solidFill>
                  <a:srgbClr val="8E969D"/>
                </a:solidFill>
                <a:latin typeface="IBM Plex Sans"/>
                <a:ea typeface="IBM Plex Sans"/>
                <a:cs typeface="IBM Plex Sans Arabic"/>
              </a:rPr>
              <a:t>the ember accent</a:t>
            </a:r>
          </a:p>
        </p:txBody>
      </p:sp>
      <p:sp>
        <p:nvSpPr>
          <p:cNvPr id="33" name="TextBox 32"/>
          <p:cNvSpPr txBox="1"/>
          <p:nvPr/>
        </p:nvSpPr>
        <p:spPr>
          <a:xfrm>
            <a:off x="7239000" y="5842000"/>
            <a:ext cx="4318000" cy="254000"/>
          </a:xfrm>
          <a:prstGeom prst="rect">
            <a:avLst/>
          </a:prstGeom>
          <a:noFill/>
        </p:spPr>
        <p:txBody>
          <a:bodyPr wrap="square" lIns="0" rIns="0" tIns="0" bIns="0" anchor="t">
            <a:noAutofit/>
          </a:bodyPr>
          <a:lstStyle/>
          <a:p>
            <a:pPr algn="l">
              <a:lnSpc>
                <a:spcPct val="100000"/>
              </a:lnSpc>
            </a:pPr>
            <a:r>
              <a:rPr sz="1000" b="0" i="0">
                <a:solidFill>
                  <a:srgbClr val="FF5A36"/>
                </a:solidFill>
                <a:latin typeface="IBM Plex Mono"/>
                <a:ea typeface="IBM Plex Mono"/>
                <a:cs typeface="IBM Plex Sans Arabic"/>
              </a:rPr>
              <a:t>عربي / English toggle on every field</a:t>
            </a:r>
          </a:p>
        </p:txBody>
      </p:sp>
      <p:pic>
        <p:nvPicPr>
          <p:cNvPr id="34" name="Picture 33" descr="logo-bone.png"/>
          <p:cNvPicPr>
            <a:picLocks noChangeAspect="1"/>
          </p:cNvPicPr>
          <p:nvPr/>
        </p:nvPicPr>
        <p:blipFill>
          <a:blip r:embed="rId4"/>
          <a:stretch>
            <a:fillRect/>
          </a:stretch>
        </p:blipFill>
        <p:spPr>
          <a:xfrm>
            <a:off x="762000" y="6426200"/>
            <a:ext cx="208788" cy="152400"/>
          </a:xfrm>
          <a:prstGeom prst="rect">
            <a:avLst/>
          </a:prstGeom>
        </p:spPr>
      </p:pic>
      <p:sp>
        <p:nvSpPr>
          <p:cNvPr id="35" name="TextBox 34"/>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DASHBOARD</a:t>
            </a:r>
          </a:p>
        </p:txBody>
      </p:sp>
      <p:sp>
        <p:nvSpPr>
          <p:cNvPr id="36" name="TextBox 35"/>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30</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28</a:t>
            </a:r>
            <a:r>
              <a:rPr sz="950" b="0" i="0" spc="240">
                <a:solidFill>
                  <a:srgbClr val="8E969D"/>
                </a:solidFill>
                <a:latin typeface="IBM Plex Mono"/>
                <a:ea typeface="IBM Plex Mono"/>
                <a:cs typeface="IBM Plex Sans Arabic"/>
              </a:rPr>
              <a:t>  DASHBOARD · PUBLISHING</a:t>
            </a:r>
          </a:p>
        </p:txBody>
      </p:sp>
      <p:sp>
        <p:nvSpPr>
          <p:cNvPr id="4" name="TextBox 3"/>
          <p:cNvSpPr txBox="1"/>
          <p:nvPr/>
        </p:nvSpPr>
        <p:spPr>
          <a:xfrm>
            <a:off x="762000" y="952500"/>
            <a:ext cx="10160000" cy="933450"/>
          </a:xfrm>
          <a:prstGeom prst="rect">
            <a:avLst/>
          </a:prstGeom>
          <a:noFill/>
        </p:spPr>
        <p:txBody>
          <a:bodyPr wrap="square" lIns="0" rIns="0" tIns="0" bIns="0" anchor="t">
            <a:noAutofit/>
          </a:bodyPr>
          <a:lstStyle/>
          <a:p>
            <a:pPr algn="l">
              <a:lnSpc>
                <a:spcPct val="106000"/>
              </a:lnSpc>
            </a:pPr>
            <a:r>
              <a:rPr sz="3000" b="1" i="0" spc="-50">
                <a:solidFill>
                  <a:srgbClr val="EDE8E1"/>
                </a:solidFill>
                <a:latin typeface="Alexandria"/>
                <a:ea typeface="Alexandria"/>
                <a:cs typeface="IBM Plex Sans Arabic"/>
              </a:rPr>
              <a:t>Draft. Preview. Publish.</a:t>
            </a:r>
          </a:p>
          <a:p>
            <a:pPr algn="l">
              <a:lnSpc>
                <a:spcPct val="106000"/>
              </a:lnSpc>
            </a:pPr>
            <a:r>
              <a:rPr sz="3000" b="1" i="0" spc="-50">
                <a:solidFill>
                  <a:srgbClr val="FF5A36"/>
                </a:solidFill>
                <a:latin typeface="Alexandria"/>
                <a:ea typeface="Alexandria"/>
                <a:cs typeface="IBM Plex Sans Arabic"/>
              </a:rPr>
              <a:t>Live in about a minute.</a:t>
            </a:r>
          </a:p>
        </p:txBody>
      </p:sp>
      <p:sp>
        <p:nvSpPr>
          <p:cNvPr id="5" name="Rounded Rectangle 4"/>
          <p:cNvSpPr/>
          <p:nvPr/>
        </p:nvSpPr>
        <p:spPr>
          <a:xfrm>
            <a:off x="762000" y="2540000"/>
            <a:ext cx="2413000" cy="2032000"/>
          </a:xfrm>
          <a:prstGeom prst="roundRect">
            <a:avLst>
              <a:gd name="adj" fmla="val 6250"/>
            </a:avLst>
          </a:prstGeom>
          <a:solidFill>
            <a:srgbClr val="1C2228"/>
          </a:solidFill>
          <a:ln w="12700">
            <a:solidFill>
              <a:srgbClr val="383B3E"/>
            </a:solidFill>
          </a:ln>
          <a:effectLst/>
        </p:spPr>
        <p:txBody>
          <a:bodyPr rtlCol="0" anchor="ctr" lIns="0" rIns="0"/>
          <a:lstStyle/>
          <a:p>
            <a:pPr algn="ctr"/>
          </a:p>
        </p:txBody>
      </p:sp>
      <p:sp>
        <p:nvSpPr>
          <p:cNvPr id="6" name="TextBox 5"/>
          <p:cNvSpPr txBox="1"/>
          <p:nvPr/>
        </p:nvSpPr>
        <p:spPr>
          <a:xfrm>
            <a:off x="990600" y="2768600"/>
            <a:ext cx="1905000" cy="254000"/>
          </a:xfrm>
          <a:prstGeom prst="rect">
            <a:avLst/>
          </a:prstGeom>
          <a:noFill/>
        </p:spPr>
        <p:txBody>
          <a:bodyPr wrap="square" lIns="0" rIns="0" tIns="0" bIns="0" anchor="t">
            <a:noAutofit/>
          </a:bodyPr>
          <a:lstStyle/>
          <a:p>
            <a:pPr algn="l">
              <a:lnSpc>
                <a:spcPct val="100000"/>
              </a:lnSpc>
            </a:pPr>
            <a:r>
              <a:rPr sz="1300" b="1" i="0">
                <a:solidFill>
                  <a:srgbClr val="FF5A36"/>
                </a:solidFill>
                <a:latin typeface="IBM Plex Mono"/>
                <a:ea typeface="IBM Plex Mono"/>
                <a:cs typeface="IBM Plex Sans Arabic"/>
              </a:rPr>
              <a:t>01</a:t>
            </a:r>
          </a:p>
        </p:txBody>
      </p:sp>
      <p:sp>
        <p:nvSpPr>
          <p:cNvPr id="7" name="TextBox 6"/>
          <p:cNvSpPr txBox="1"/>
          <p:nvPr/>
        </p:nvSpPr>
        <p:spPr>
          <a:xfrm>
            <a:off x="990600" y="3175000"/>
            <a:ext cx="1968500" cy="381000"/>
          </a:xfrm>
          <a:prstGeom prst="rect">
            <a:avLst/>
          </a:prstGeom>
          <a:noFill/>
        </p:spPr>
        <p:txBody>
          <a:bodyPr wrap="square" lIns="0" rIns="0" tIns="0" bIns="0" anchor="t">
            <a:noAutofit/>
          </a:bodyPr>
          <a:lstStyle/>
          <a:p>
            <a:pPr algn="l">
              <a:lnSpc>
                <a:spcPct val="100000"/>
              </a:lnSpc>
            </a:pPr>
            <a:r>
              <a:rPr sz="2200" b="1" i="0">
                <a:solidFill>
                  <a:srgbClr val="EDE8E1"/>
                </a:solidFill>
                <a:latin typeface="Alexandria"/>
                <a:ea typeface="Alexandria"/>
                <a:cs typeface="IBM Plex Sans Arabic"/>
              </a:rPr>
              <a:t>Draft</a:t>
            </a:r>
          </a:p>
        </p:txBody>
      </p:sp>
      <p:sp>
        <p:nvSpPr>
          <p:cNvPr id="8" name="TextBox 7"/>
          <p:cNvSpPr txBox="1"/>
          <p:nvPr/>
        </p:nvSpPr>
        <p:spPr>
          <a:xfrm>
            <a:off x="990600" y="3657600"/>
            <a:ext cx="1968500" cy="762000"/>
          </a:xfrm>
          <a:prstGeom prst="rect">
            <a:avLst/>
          </a:prstGeom>
          <a:noFill/>
        </p:spPr>
        <p:txBody>
          <a:bodyPr wrap="square" lIns="0" rIns="0" tIns="0" bIns="0" anchor="t">
            <a:noAutofit/>
          </a:bodyPr>
          <a:lstStyle/>
          <a:p>
            <a:pPr algn="l">
              <a:lnSpc>
                <a:spcPct val="140000"/>
              </a:lnSpc>
            </a:pPr>
            <a:r>
              <a:rPr sz="1200" b="0" i="0">
                <a:solidFill>
                  <a:srgbClr val="C8C1B7"/>
                </a:solidFill>
                <a:latin typeface="IBM Plex Sans"/>
                <a:ea typeface="IBM Plex Sans"/>
                <a:cs typeface="IBM Plex Sans Arabic"/>
              </a:rPr>
              <a:t>Every edit saves automatically in the browser.</a:t>
            </a:r>
          </a:p>
        </p:txBody>
      </p:sp>
      <p:cxnSp>
        <p:nvCxnSpPr>
          <p:cNvPr id="9" name="Connector 8"/>
          <p:cNvCxnSpPr/>
          <p:nvPr/>
        </p:nvCxnSpPr>
        <p:spPr>
          <a:xfrm>
            <a:off x="3238500" y="3556000"/>
            <a:ext cx="228600" cy="0"/>
          </a:xfrm>
          <a:prstGeom prst="line">
            <a:avLst/>
          </a:prstGeom>
          <a:ln w="2540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11550" y="2540000"/>
            <a:ext cx="2413000" cy="2032000"/>
          </a:xfrm>
          <a:prstGeom prst="roundRect">
            <a:avLst>
              <a:gd name="adj" fmla="val 6250"/>
            </a:avLst>
          </a:prstGeom>
          <a:solidFill>
            <a:srgbClr val="1C2228"/>
          </a:solidFill>
          <a:ln w="12700">
            <a:solidFill>
              <a:srgbClr val="383B3E"/>
            </a:solidFill>
          </a:ln>
          <a:effectLst/>
        </p:spPr>
        <p:txBody>
          <a:bodyPr rtlCol="0" anchor="ctr" lIns="0" rIns="0"/>
          <a:lstStyle/>
          <a:p>
            <a:pPr algn="ctr"/>
          </a:p>
        </p:txBody>
      </p:sp>
      <p:sp>
        <p:nvSpPr>
          <p:cNvPr id="11" name="TextBox 10"/>
          <p:cNvSpPr txBox="1"/>
          <p:nvPr/>
        </p:nvSpPr>
        <p:spPr>
          <a:xfrm>
            <a:off x="3740150" y="2768600"/>
            <a:ext cx="1905000" cy="254000"/>
          </a:xfrm>
          <a:prstGeom prst="rect">
            <a:avLst/>
          </a:prstGeom>
          <a:noFill/>
        </p:spPr>
        <p:txBody>
          <a:bodyPr wrap="square" lIns="0" rIns="0" tIns="0" bIns="0" anchor="t">
            <a:noAutofit/>
          </a:bodyPr>
          <a:lstStyle/>
          <a:p>
            <a:pPr algn="l">
              <a:lnSpc>
                <a:spcPct val="100000"/>
              </a:lnSpc>
            </a:pPr>
            <a:r>
              <a:rPr sz="1300" b="1" i="0">
                <a:solidFill>
                  <a:srgbClr val="FF5A36"/>
                </a:solidFill>
                <a:latin typeface="IBM Plex Mono"/>
                <a:ea typeface="IBM Plex Mono"/>
                <a:cs typeface="IBM Plex Sans Arabic"/>
              </a:rPr>
              <a:t>02</a:t>
            </a:r>
          </a:p>
        </p:txBody>
      </p:sp>
      <p:sp>
        <p:nvSpPr>
          <p:cNvPr id="12" name="TextBox 11"/>
          <p:cNvSpPr txBox="1"/>
          <p:nvPr/>
        </p:nvSpPr>
        <p:spPr>
          <a:xfrm>
            <a:off x="3740150" y="3175000"/>
            <a:ext cx="1968500" cy="381000"/>
          </a:xfrm>
          <a:prstGeom prst="rect">
            <a:avLst/>
          </a:prstGeom>
          <a:noFill/>
        </p:spPr>
        <p:txBody>
          <a:bodyPr wrap="square" lIns="0" rIns="0" tIns="0" bIns="0" anchor="t">
            <a:noAutofit/>
          </a:bodyPr>
          <a:lstStyle/>
          <a:p>
            <a:pPr algn="l">
              <a:lnSpc>
                <a:spcPct val="100000"/>
              </a:lnSpc>
            </a:pPr>
            <a:r>
              <a:rPr sz="2200" b="1" i="0">
                <a:solidFill>
                  <a:srgbClr val="EDE8E1"/>
                </a:solidFill>
                <a:latin typeface="Alexandria"/>
                <a:ea typeface="Alexandria"/>
                <a:cs typeface="IBM Plex Sans Arabic"/>
              </a:rPr>
              <a:t>Preview</a:t>
            </a:r>
          </a:p>
        </p:txBody>
      </p:sp>
      <p:sp>
        <p:nvSpPr>
          <p:cNvPr id="13" name="TextBox 12"/>
          <p:cNvSpPr txBox="1"/>
          <p:nvPr/>
        </p:nvSpPr>
        <p:spPr>
          <a:xfrm>
            <a:off x="3740150" y="3657600"/>
            <a:ext cx="1968500" cy="762000"/>
          </a:xfrm>
          <a:prstGeom prst="rect">
            <a:avLst/>
          </a:prstGeom>
          <a:noFill/>
        </p:spPr>
        <p:txBody>
          <a:bodyPr wrap="square" lIns="0" rIns="0" tIns="0" bIns="0" anchor="t">
            <a:noAutofit/>
          </a:bodyPr>
          <a:lstStyle/>
          <a:p>
            <a:pPr algn="l">
              <a:lnSpc>
                <a:spcPct val="140000"/>
              </a:lnSpc>
            </a:pPr>
            <a:r>
              <a:rPr sz="1200" b="0" i="0">
                <a:solidFill>
                  <a:srgbClr val="C8C1B7"/>
                </a:solidFill>
                <a:latin typeface="IBM Plex Sans"/>
                <a:ea typeface="IBM Plex Sans"/>
                <a:cs typeface="IBM Plex Sans Arabic"/>
              </a:rPr>
              <a:t>See the real site with your changes.</a:t>
            </a:r>
          </a:p>
        </p:txBody>
      </p:sp>
      <p:cxnSp>
        <p:nvCxnSpPr>
          <p:cNvPr id="14" name="Connector 13"/>
          <p:cNvCxnSpPr/>
          <p:nvPr/>
        </p:nvCxnSpPr>
        <p:spPr>
          <a:xfrm>
            <a:off x="5988050" y="3556000"/>
            <a:ext cx="228600" cy="0"/>
          </a:xfrm>
          <a:prstGeom prst="line">
            <a:avLst/>
          </a:prstGeom>
          <a:ln w="2540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61100" y="2540000"/>
            <a:ext cx="2413000" cy="2032000"/>
          </a:xfrm>
          <a:prstGeom prst="roundRect">
            <a:avLst>
              <a:gd name="adj" fmla="val 6250"/>
            </a:avLst>
          </a:prstGeom>
          <a:solidFill>
            <a:srgbClr val="1C2228"/>
          </a:solidFill>
          <a:ln w="12700">
            <a:solidFill>
              <a:srgbClr val="383B3E"/>
            </a:solidFill>
          </a:ln>
          <a:effectLst/>
        </p:spPr>
        <p:txBody>
          <a:bodyPr rtlCol="0" anchor="ctr" lIns="0" rIns="0"/>
          <a:lstStyle/>
          <a:p>
            <a:pPr algn="ctr"/>
          </a:p>
        </p:txBody>
      </p:sp>
      <p:sp>
        <p:nvSpPr>
          <p:cNvPr id="16" name="TextBox 15"/>
          <p:cNvSpPr txBox="1"/>
          <p:nvPr/>
        </p:nvSpPr>
        <p:spPr>
          <a:xfrm>
            <a:off x="6489700" y="2768600"/>
            <a:ext cx="1905000" cy="254000"/>
          </a:xfrm>
          <a:prstGeom prst="rect">
            <a:avLst/>
          </a:prstGeom>
          <a:noFill/>
        </p:spPr>
        <p:txBody>
          <a:bodyPr wrap="square" lIns="0" rIns="0" tIns="0" bIns="0" anchor="t">
            <a:noAutofit/>
          </a:bodyPr>
          <a:lstStyle/>
          <a:p>
            <a:pPr algn="l">
              <a:lnSpc>
                <a:spcPct val="100000"/>
              </a:lnSpc>
            </a:pPr>
            <a:r>
              <a:rPr sz="1300" b="1" i="0">
                <a:solidFill>
                  <a:srgbClr val="FF5A36"/>
                </a:solidFill>
                <a:latin typeface="IBM Plex Mono"/>
                <a:ea typeface="IBM Plex Mono"/>
                <a:cs typeface="IBM Plex Sans Arabic"/>
              </a:rPr>
              <a:t>03</a:t>
            </a:r>
          </a:p>
        </p:txBody>
      </p:sp>
      <p:sp>
        <p:nvSpPr>
          <p:cNvPr id="17" name="TextBox 16"/>
          <p:cNvSpPr txBox="1"/>
          <p:nvPr/>
        </p:nvSpPr>
        <p:spPr>
          <a:xfrm>
            <a:off x="6489700" y="3175000"/>
            <a:ext cx="1968500" cy="381000"/>
          </a:xfrm>
          <a:prstGeom prst="rect">
            <a:avLst/>
          </a:prstGeom>
          <a:noFill/>
        </p:spPr>
        <p:txBody>
          <a:bodyPr wrap="square" lIns="0" rIns="0" tIns="0" bIns="0" anchor="t">
            <a:noAutofit/>
          </a:bodyPr>
          <a:lstStyle/>
          <a:p>
            <a:pPr algn="l">
              <a:lnSpc>
                <a:spcPct val="100000"/>
              </a:lnSpc>
            </a:pPr>
            <a:r>
              <a:rPr sz="2200" b="1" i="0">
                <a:solidFill>
                  <a:srgbClr val="EDE8E1"/>
                </a:solidFill>
                <a:latin typeface="Alexandria"/>
                <a:ea typeface="Alexandria"/>
                <a:cs typeface="IBM Plex Sans Arabic"/>
              </a:rPr>
              <a:t>Publish</a:t>
            </a:r>
          </a:p>
        </p:txBody>
      </p:sp>
      <p:sp>
        <p:nvSpPr>
          <p:cNvPr id="18" name="TextBox 17"/>
          <p:cNvSpPr txBox="1"/>
          <p:nvPr/>
        </p:nvSpPr>
        <p:spPr>
          <a:xfrm>
            <a:off x="6489700" y="3657600"/>
            <a:ext cx="1968500" cy="762000"/>
          </a:xfrm>
          <a:prstGeom prst="rect">
            <a:avLst/>
          </a:prstGeom>
          <a:noFill/>
        </p:spPr>
        <p:txBody>
          <a:bodyPr wrap="square" lIns="0" rIns="0" tIns="0" bIns="0" anchor="t">
            <a:noAutofit/>
          </a:bodyPr>
          <a:lstStyle/>
          <a:p>
            <a:pPr algn="l">
              <a:lnSpc>
                <a:spcPct val="140000"/>
              </a:lnSpc>
            </a:pPr>
            <a:r>
              <a:rPr sz="1200" b="0" i="0">
                <a:solidFill>
                  <a:srgbClr val="C8C1B7"/>
                </a:solidFill>
                <a:latin typeface="IBM Plex Sans"/>
                <a:ea typeface="IBM Plex Sans"/>
                <a:cs typeface="IBM Plex Sans Arabic"/>
              </a:rPr>
              <a:t>Images upload and content.js is written to GitHub.</a:t>
            </a:r>
          </a:p>
        </p:txBody>
      </p:sp>
      <p:cxnSp>
        <p:nvCxnSpPr>
          <p:cNvPr id="19" name="Connector 18"/>
          <p:cNvCxnSpPr/>
          <p:nvPr/>
        </p:nvCxnSpPr>
        <p:spPr>
          <a:xfrm>
            <a:off x="8737600" y="3556000"/>
            <a:ext cx="228600" cy="0"/>
          </a:xfrm>
          <a:prstGeom prst="line">
            <a:avLst/>
          </a:prstGeom>
          <a:ln w="25400">
            <a:solidFill>
              <a:srgbClr val="FF5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10650" y="2540000"/>
            <a:ext cx="2413000" cy="2032000"/>
          </a:xfrm>
          <a:prstGeom prst="roundRect">
            <a:avLst>
              <a:gd name="adj" fmla="val 6250"/>
            </a:avLst>
          </a:prstGeom>
          <a:solidFill>
            <a:srgbClr val="FF5A36"/>
          </a:solidFill>
          <a:ln>
            <a:noFill/>
          </a:ln>
          <a:effectLst/>
        </p:spPr>
        <p:txBody>
          <a:bodyPr rtlCol="0" anchor="ctr" lIns="0" rIns="0"/>
          <a:lstStyle/>
          <a:p>
            <a:pPr algn="ctr"/>
          </a:p>
        </p:txBody>
      </p:sp>
      <p:sp>
        <p:nvSpPr>
          <p:cNvPr id="21" name="TextBox 20"/>
          <p:cNvSpPr txBox="1"/>
          <p:nvPr/>
        </p:nvSpPr>
        <p:spPr>
          <a:xfrm>
            <a:off x="9239250" y="2768600"/>
            <a:ext cx="1905000" cy="254000"/>
          </a:xfrm>
          <a:prstGeom prst="rect">
            <a:avLst/>
          </a:prstGeom>
          <a:noFill/>
        </p:spPr>
        <p:txBody>
          <a:bodyPr wrap="square" lIns="0" rIns="0" tIns="0" bIns="0" anchor="t">
            <a:noAutofit/>
          </a:bodyPr>
          <a:lstStyle/>
          <a:p>
            <a:pPr algn="l">
              <a:lnSpc>
                <a:spcPct val="100000"/>
              </a:lnSpc>
            </a:pPr>
            <a:r>
              <a:rPr sz="1300" b="1" i="0">
                <a:solidFill>
                  <a:srgbClr val="161A1F"/>
                </a:solidFill>
                <a:latin typeface="IBM Plex Mono"/>
                <a:ea typeface="IBM Plex Mono"/>
                <a:cs typeface="IBM Plex Sans Arabic"/>
              </a:rPr>
              <a:t>04</a:t>
            </a:r>
          </a:p>
        </p:txBody>
      </p:sp>
      <p:sp>
        <p:nvSpPr>
          <p:cNvPr id="22" name="TextBox 21"/>
          <p:cNvSpPr txBox="1"/>
          <p:nvPr/>
        </p:nvSpPr>
        <p:spPr>
          <a:xfrm>
            <a:off x="9239250" y="3175000"/>
            <a:ext cx="1968500" cy="381000"/>
          </a:xfrm>
          <a:prstGeom prst="rect">
            <a:avLst/>
          </a:prstGeom>
          <a:noFill/>
        </p:spPr>
        <p:txBody>
          <a:bodyPr wrap="square" lIns="0" rIns="0" tIns="0" bIns="0" anchor="t">
            <a:noAutofit/>
          </a:bodyPr>
          <a:lstStyle/>
          <a:p>
            <a:pPr algn="l">
              <a:lnSpc>
                <a:spcPct val="100000"/>
              </a:lnSpc>
            </a:pPr>
            <a:r>
              <a:rPr sz="2200" b="1" i="0">
                <a:solidFill>
                  <a:srgbClr val="161A1F"/>
                </a:solidFill>
                <a:latin typeface="Alexandria"/>
                <a:ea typeface="Alexandria"/>
                <a:cs typeface="IBM Plex Sans Arabic"/>
              </a:rPr>
              <a:t>Live</a:t>
            </a:r>
          </a:p>
        </p:txBody>
      </p:sp>
      <p:sp>
        <p:nvSpPr>
          <p:cNvPr id="23" name="TextBox 22"/>
          <p:cNvSpPr txBox="1"/>
          <p:nvPr/>
        </p:nvSpPr>
        <p:spPr>
          <a:xfrm>
            <a:off x="9239250" y="3657600"/>
            <a:ext cx="1968500" cy="762000"/>
          </a:xfrm>
          <a:prstGeom prst="rect">
            <a:avLst/>
          </a:prstGeom>
          <a:noFill/>
        </p:spPr>
        <p:txBody>
          <a:bodyPr wrap="square" lIns="0" rIns="0" tIns="0" bIns="0" anchor="t">
            <a:noAutofit/>
          </a:bodyPr>
          <a:lstStyle/>
          <a:p>
            <a:pPr algn="l">
              <a:lnSpc>
                <a:spcPct val="140000"/>
              </a:lnSpc>
            </a:pPr>
            <a:r>
              <a:rPr sz="1200" b="0" i="0">
                <a:solidFill>
                  <a:srgbClr val="161A1F"/>
                </a:solidFill>
                <a:latin typeface="IBM Plex Sans"/>
                <a:ea typeface="IBM Plex Sans"/>
                <a:cs typeface="IBM Plex Sans Arabic"/>
              </a:rPr>
              <a:t>About a minute later, everyone sees it.</a:t>
            </a:r>
          </a:p>
        </p:txBody>
      </p:sp>
      <p:sp>
        <p:nvSpPr>
          <p:cNvPr id="24" name="Rounded Rectangle 23"/>
          <p:cNvSpPr/>
          <p:nvPr/>
        </p:nvSpPr>
        <p:spPr>
          <a:xfrm>
            <a:off x="762000" y="5016500"/>
            <a:ext cx="10668000" cy="762000"/>
          </a:xfrm>
          <a:prstGeom prst="roundRect">
            <a:avLst>
              <a:gd name="adj" fmla="val 13333"/>
            </a:avLst>
          </a:prstGeom>
          <a:solidFill>
            <a:srgbClr val="1C2228"/>
          </a:solidFill>
          <a:ln>
            <a:noFill/>
          </a:ln>
          <a:effectLst/>
        </p:spPr>
        <p:txBody>
          <a:bodyPr rtlCol="0" anchor="ctr" lIns="0" rIns="0"/>
          <a:lstStyle/>
          <a:p>
            <a:pPr algn="ctr"/>
          </a:p>
        </p:txBody>
      </p:sp>
      <p:sp>
        <p:nvSpPr>
          <p:cNvPr id="25" name="Rectangle 24"/>
          <p:cNvSpPr/>
          <p:nvPr/>
        </p:nvSpPr>
        <p:spPr>
          <a:xfrm>
            <a:off x="965200" y="5346700"/>
            <a:ext cx="88900" cy="88900"/>
          </a:xfrm>
          <a:prstGeom prst="rect">
            <a:avLst/>
          </a:prstGeom>
          <a:solidFill>
            <a:srgbClr val="FF5A36"/>
          </a:solidFill>
          <a:ln>
            <a:noFill/>
          </a:ln>
          <a:effectLst/>
        </p:spPr>
        <p:txBody>
          <a:bodyPr rtlCol="0" anchor="ctr" lIns="0" rIns="0"/>
          <a:lstStyle/>
          <a:p>
            <a:pPr algn="ctr"/>
          </a:p>
        </p:txBody>
      </p:sp>
      <p:sp>
        <p:nvSpPr>
          <p:cNvPr id="26" name="TextBox 25"/>
          <p:cNvSpPr txBox="1"/>
          <p:nvPr/>
        </p:nvSpPr>
        <p:spPr>
          <a:xfrm>
            <a:off x="1206500" y="5016500"/>
            <a:ext cx="10033000" cy="762000"/>
          </a:xfrm>
          <a:prstGeom prst="rect">
            <a:avLst/>
          </a:prstGeom>
          <a:noFill/>
        </p:spPr>
        <p:txBody>
          <a:bodyPr wrap="square" lIns="0" rIns="0" tIns="0" bIns="0" anchor="ctr">
            <a:noAutofit/>
          </a:bodyPr>
          <a:lstStyle/>
          <a:p>
            <a:pPr algn="l">
              <a:lnSpc>
                <a:spcPct val="130000"/>
              </a:lnSpc>
            </a:pPr>
            <a:r>
              <a:rPr sz="1200" b="1" i="0">
                <a:solidFill>
                  <a:srgbClr val="EDE8E1"/>
                </a:solidFill>
                <a:latin typeface="IBM Plex Sans"/>
                <a:ea typeface="IBM Plex Sans"/>
                <a:cs typeface="IBM Plex Sans Arabic"/>
              </a:rPr>
              <a:t>Backup route: </a:t>
            </a:r>
            <a:r>
              <a:rPr sz="1200" b="0" i="0">
                <a:solidFill>
                  <a:srgbClr val="C8C1B7"/>
                </a:solidFill>
                <a:latin typeface="IBM Plex Sans"/>
                <a:ea typeface="IBM Plex Sans"/>
                <a:cs typeface="IBM Plex Sans Arabic"/>
              </a:rPr>
              <a:t>download content.js and upload it by hand. </a:t>
            </a:r>
            <a:r>
              <a:rPr sz="1200" b="0" i="0">
                <a:solidFill>
                  <a:srgbClr val="C8C1B7"/>
                </a:solidFill>
                <a:latin typeface="IBM Plex Sans"/>
                <a:ea typeface="IBM Plex Sans"/>
                <a:cs typeface="IBM Plex Sans Arabic"/>
              </a:rPr>
              <a:t>Then </a:t>
            </a:r>
            <a:r>
              <a:rPr sz="1200" b="0" i="0">
                <a:solidFill>
                  <a:srgbClr val="FF5A36"/>
                </a:solidFill>
                <a:latin typeface="IBM Plex Mono"/>
                <a:ea typeface="IBM Plex Mono"/>
                <a:cs typeface="IBM Plex Sans Arabic"/>
              </a:rPr>
              <a:t>node build.js</a:t>
            </a:r>
            <a:r>
              <a:rPr sz="1200" b="0" i="0">
                <a:solidFill>
                  <a:srgbClr val="C8C1B7"/>
                </a:solidFill>
                <a:latin typeface="IBM Plex Sans"/>
                <a:ea typeface="IBM Plex Sans"/>
                <a:cs typeface="IBM Plex Sans Arabic"/>
              </a:rPr>
              <a:t> bakes the content into the static pages for search engines.</a:t>
            </a:r>
          </a:p>
        </p:txBody>
      </p:sp>
      <p:pic>
        <p:nvPicPr>
          <p:cNvPr id="27" name="Picture 26" descr="logo-bone.png"/>
          <p:cNvPicPr>
            <a:picLocks noChangeAspect="1"/>
          </p:cNvPicPr>
          <p:nvPr/>
        </p:nvPicPr>
        <p:blipFill>
          <a:blip r:embed="rId3"/>
          <a:stretch>
            <a:fillRect/>
          </a:stretch>
        </p:blipFill>
        <p:spPr>
          <a:xfrm>
            <a:off x="762000" y="6426200"/>
            <a:ext cx="208788" cy="152400"/>
          </a:xfrm>
          <a:prstGeom prst="rect">
            <a:avLst/>
          </a:prstGeom>
        </p:spPr>
      </p:pic>
      <p:sp>
        <p:nvSpPr>
          <p:cNvPr id="28" name="TextBox 27"/>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DASHBOARD</a:t>
            </a:r>
          </a:p>
        </p:txBody>
      </p:sp>
      <p:sp>
        <p:nvSpPr>
          <p:cNvPr id="29" name="TextBox 28"/>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31</a:t>
            </a:r>
            <a:r>
              <a:rPr sz="750" b="0" i="0" spc="150">
                <a:solidFill>
                  <a:srgbClr val="5A646C"/>
                </a:solidFill>
                <a:latin typeface="IBM Plex Mono"/>
                <a:ea typeface="IBM Plex Mono"/>
                <a:cs typeface="IBM Plex Sans Arabic"/>
              </a:rPr>
              <a:t>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ECE2"/>
        </a:solidFill>
        <a:effectLst/>
      </p:bgPr>
    </p:bg>
    <p:spTree>
      <p:nvGrpSpPr>
        <p:cNvPr id="1" name=""/>
        <p:cNvGrpSpPr/>
        <p:nvPr/>
      </p:nvGrpSpPr>
      <p:grpSpPr/>
      <p:sp>
        <p:nvSpPr>
          <p:cNvPr id="2" name="Rectangle 1"/>
          <p:cNvSpPr/>
          <p:nvPr/>
        </p:nvSpPr>
        <p:spPr>
          <a:xfrm>
            <a:off x="762000" y="704850"/>
            <a:ext cx="76200" cy="76200"/>
          </a:xfrm>
          <a:prstGeom prst="rect">
            <a:avLst/>
          </a:prstGeom>
          <a:solidFill>
            <a:srgbClr val="FF5A36"/>
          </a:solidFill>
          <a:ln>
            <a:noFill/>
          </a:ln>
          <a:effectLst/>
        </p:spPr>
        <p:txBody>
          <a:bodyPr rtlCol="0" anchor="ctr" lIns="0" rIns="0"/>
          <a:lstStyle/>
          <a:p>
            <a:pPr algn="ctr"/>
          </a:p>
        </p:txBody>
      </p:sp>
      <p:sp>
        <p:nvSpPr>
          <p:cNvPr id="3" name="TextBox 2"/>
          <p:cNvSpPr txBox="1"/>
          <p:nvPr/>
        </p:nvSpPr>
        <p:spPr>
          <a:xfrm>
            <a:off x="939800" y="6604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29</a:t>
            </a:r>
            <a:r>
              <a:rPr sz="950" b="0" i="0" spc="240">
                <a:solidFill>
                  <a:srgbClr val="7A6E62"/>
                </a:solidFill>
                <a:latin typeface="IBM Plex Mono"/>
                <a:ea typeface="IBM Plex Mono"/>
                <a:cs typeface="IBM Plex Sans Arabic"/>
              </a:rPr>
              <a:t>  WHERE WE ARE</a:t>
            </a:r>
          </a:p>
        </p:txBody>
      </p:sp>
      <p:sp>
        <p:nvSpPr>
          <p:cNvPr id="4" name="TextBox 3"/>
          <p:cNvSpPr txBox="1"/>
          <p:nvPr/>
        </p:nvSpPr>
        <p:spPr>
          <a:xfrm>
            <a:off x="762000" y="952500"/>
            <a:ext cx="10160000" cy="933450"/>
          </a:xfrm>
          <a:prstGeom prst="rect">
            <a:avLst/>
          </a:prstGeom>
          <a:noFill/>
        </p:spPr>
        <p:txBody>
          <a:bodyPr wrap="square" lIns="0" rIns="0" tIns="0" bIns="0" anchor="t">
            <a:noAutofit/>
          </a:bodyPr>
          <a:lstStyle/>
          <a:p>
            <a:pPr algn="l">
              <a:lnSpc>
                <a:spcPct val="106000"/>
              </a:lnSpc>
            </a:pPr>
            <a:r>
              <a:rPr sz="3000" b="1" i="0" spc="-50">
                <a:solidFill>
                  <a:srgbClr val="1A1512"/>
                </a:solidFill>
                <a:latin typeface="Alexandria"/>
                <a:ea typeface="Alexandria"/>
                <a:cs typeface="IBM Plex Sans Arabic"/>
              </a:rPr>
              <a:t>Working demo today.</a:t>
            </a:r>
          </a:p>
          <a:p>
            <a:pPr algn="l">
              <a:lnSpc>
                <a:spcPct val="106000"/>
              </a:lnSpc>
            </a:pPr>
            <a:r>
              <a:rPr sz="3000" b="1" i="0" spc="-50">
                <a:solidFill>
                  <a:srgbClr val="FF5A36"/>
                </a:solidFill>
                <a:latin typeface="Alexandria"/>
                <a:ea typeface="Alexandria"/>
                <a:cs typeface="IBM Plex Sans Arabic"/>
              </a:rPr>
              <a:t>Five things before launch.</a:t>
            </a:r>
          </a:p>
        </p:txBody>
      </p:sp>
      <p:sp>
        <p:nvSpPr>
          <p:cNvPr id="5" name="Rounded Rectangle 4"/>
          <p:cNvSpPr/>
          <p:nvPr/>
        </p:nvSpPr>
        <p:spPr>
          <a:xfrm>
            <a:off x="762000" y="2286000"/>
            <a:ext cx="5080000" cy="2730500"/>
          </a:xfrm>
          <a:prstGeom prst="roundRect">
            <a:avLst>
              <a:gd name="adj" fmla="val 4186"/>
            </a:avLst>
          </a:prstGeom>
          <a:solidFill>
            <a:srgbClr val="FBF8F3"/>
          </a:solidFill>
          <a:ln>
            <a:noFill/>
          </a:ln>
          <a:effectLst/>
        </p:spPr>
        <p:txBody>
          <a:bodyPr rtlCol="0" anchor="ctr" lIns="0" rIns="0"/>
          <a:lstStyle/>
          <a:p>
            <a:pPr algn="ctr"/>
          </a:p>
        </p:txBody>
      </p:sp>
      <p:sp>
        <p:nvSpPr>
          <p:cNvPr id="6" name="TextBox 5"/>
          <p:cNvSpPr txBox="1"/>
          <p:nvPr/>
        </p:nvSpPr>
        <p:spPr>
          <a:xfrm>
            <a:off x="1041400" y="2514600"/>
            <a:ext cx="4445000" cy="190500"/>
          </a:xfrm>
          <a:prstGeom prst="rect">
            <a:avLst/>
          </a:prstGeom>
          <a:noFill/>
        </p:spPr>
        <p:txBody>
          <a:bodyPr wrap="square" lIns="0" rIns="0" tIns="0" bIns="0" anchor="t">
            <a:noAutofit/>
          </a:bodyPr>
          <a:lstStyle/>
          <a:p>
            <a:pPr algn="l">
              <a:lnSpc>
                <a:spcPct val="125000"/>
              </a:lnSpc>
            </a:pPr>
            <a:r>
              <a:rPr sz="850" b="1" i="0" spc="250">
                <a:solidFill>
                  <a:srgbClr val="5BC08A"/>
                </a:solidFill>
                <a:latin typeface="IBM Plex Mono"/>
                <a:ea typeface="IBM Plex Mono"/>
                <a:cs typeface="IBM Plex Sans Arabic"/>
              </a:rPr>
              <a:t>WORKS END TO END TODAY</a:t>
            </a:r>
          </a:p>
        </p:txBody>
      </p:sp>
      <p:sp>
        <p:nvSpPr>
          <p:cNvPr id="7" name="Rectangle 6"/>
          <p:cNvSpPr/>
          <p:nvPr/>
        </p:nvSpPr>
        <p:spPr>
          <a:xfrm>
            <a:off x="1041400" y="2931795"/>
            <a:ext cx="63500" cy="63500"/>
          </a:xfrm>
          <a:prstGeom prst="rect">
            <a:avLst/>
          </a:prstGeom>
          <a:solidFill>
            <a:srgbClr val="5BC08A"/>
          </a:solidFill>
          <a:ln>
            <a:noFill/>
          </a:ln>
          <a:effectLst/>
        </p:spPr>
        <p:txBody>
          <a:bodyPr rtlCol="0" anchor="ctr" lIns="0" rIns="0"/>
          <a:lstStyle/>
          <a:p>
            <a:pPr algn="ctr"/>
          </a:p>
        </p:txBody>
      </p:sp>
      <p:sp>
        <p:nvSpPr>
          <p:cNvPr id="8" name="TextBox 7"/>
          <p:cNvSpPr txBox="1"/>
          <p:nvPr/>
        </p:nvSpPr>
        <p:spPr>
          <a:xfrm>
            <a:off x="1231900" y="2857500"/>
            <a:ext cx="4381500" cy="222250"/>
          </a:xfrm>
          <a:prstGeom prst="rect">
            <a:avLst/>
          </a:prstGeom>
          <a:noFill/>
        </p:spPr>
        <p:txBody>
          <a:bodyPr wrap="square" lIns="0" rIns="0" tIns="0" bIns="0" anchor="t">
            <a:noAutofit/>
          </a:bodyPr>
          <a:lstStyle/>
          <a:p>
            <a:pPr algn="l">
              <a:lnSpc>
                <a:spcPct val="130000"/>
              </a:lnSpc>
            </a:pPr>
            <a:r>
              <a:rPr sz="1300" b="0" i="0">
                <a:solidFill>
                  <a:srgbClr val="3A322C"/>
                </a:solidFill>
                <a:latin typeface="IBM Plex Sans"/>
                <a:ea typeface="IBM Plex Sans"/>
                <a:cs typeface="IBM Plex Sans Arabic"/>
              </a:rPr>
              <a:t>The full customer journey, desktop and phone</a:t>
            </a:r>
          </a:p>
        </p:txBody>
      </p:sp>
      <p:sp>
        <p:nvSpPr>
          <p:cNvPr id="9" name="Rectangle 8"/>
          <p:cNvSpPr/>
          <p:nvPr/>
        </p:nvSpPr>
        <p:spPr>
          <a:xfrm>
            <a:off x="1041400" y="3242945"/>
            <a:ext cx="63500" cy="63500"/>
          </a:xfrm>
          <a:prstGeom prst="rect">
            <a:avLst/>
          </a:prstGeom>
          <a:solidFill>
            <a:srgbClr val="5BC08A"/>
          </a:solidFill>
          <a:ln>
            <a:noFill/>
          </a:ln>
          <a:effectLst/>
        </p:spPr>
        <p:txBody>
          <a:bodyPr rtlCol="0" anchor="ctr" lIns="0" rIns="0"/>
          <a:lstStyle/>
          <a:p>
            <a:pPr algn="ctr"/>
          </a:p>
        </p:txBody>
      </p:sp>
      <p:sp>
        <p:nvSpPr>
          <p:cNvPr id="10" name="TextBox 9"/>
          <p:cNvSpPr txBox="1"/>
          <p:nvPr/>
        </p:nvSpPr>
        <p:spPr>
          <a:xfrm>
            <a:off x="1231900" y="3168650"/>
            <a:ext cx="4381500" cy="222250"/>
          </a:xfrm>
          <a:prstGeom prst="rect">
            <a:avLst/>
          </a:prstGeom>
          <a:noFill/>
        </p:spPr>
        <p:txBody>
          <a:bodyPr wrap="square" lIns="0" rIns="0" tIns="0" bIns="0" anchor="t">
            <a:noAutofit/>
          </a:bodyPr>
          <a:lstStyle/>
          <a:p>
            <a:pPr algn="l">
              <a:lnSpc>
                <a:spcPct val="130000"/>
              </a:lnSpc>
            </a:pPr>
            <a:r>
              <a:rPr sz="1300" b="0" i="0">
                <a:solidFill>
                  <a:srgbClr val="3A322C"/>
                </a:solidFill>
                <a:latin typeface="IBM Plex Sans"/>
                <a:ea typeface="IBM Plex Sans"/>
                <a:cs typeface="IBM Plex Sans Arabic"/>
              </a:rPr>
              <a:t>The advisor, in Arabic and English</a:t>
            </a:r>
          </a:p>
        </p:txBody>
      </p:sp>
      <p:sp>
        <p:nvSpPr>
          <p:cNvPr id="11" name="Rectangle 10"/>
          <p:cNvSpPr/>
          <p:nvPr/>
        </p:nvSpPr>
        <p:spPr>
          <a:xfrm>
            <a:off x="1041400" y="3554095"/>
            <a:ext cx="63500" cy="63500"/>
          </a:xfrm>
          <a:prstGeom prst="rect">
            <a:avLst/>
          </a:prstGeom>
          <a:solidFill>
            <a:srgbClr val="5BC08A"/>
          </a:solidFill>
          <a:ln>
            <a:noFill/>
          </a:ln>
          <a:effectLst/>
        </p:spPr>
        <p:txBody>
          <a:bodyPr rtlCol="0" anchor="ctr" lIns="0" rIns="0"/>
          <a:lstStyle/>
          <a:p>
            <a:pPr algn="ctr"/>
          </a:p>
        </p:txBody>
      </p:sp>
      <p:sp>
        <p:nvSpPr>
          <p:cNvPr id="12" name="TextBox 11"/>
          <p:cNvSpPr txBox="1"/>
          <p:nvPr/>
        </p:nvSpPr>
        <p:spPr>
          <a:xfrm>
            <a:off x="1231900" y="3479800"/>
            <a:ext cx="4381500" cy="222250"/>
          </a:xfrm>
          <a:prstGeom prst="rect">
            <a:avLst/>
          </a:prstGeom>
          <a:noFill/>
        </p:spPr>
        <p:txBody>
          <a:bodyPr wrap="square" lIns="0" rIns="0" tIns="0" bIns="0" anchor="t">
            <a:noAutofit/>
          </a:bodyPr>
          <a:lstStyle/>
          <a:p>
            <a:pPr algn="l">
              <a:lnSpc>
                <a:spcPct val="130000"/>
              </a:lnSpc>
            </a:pPr>
            <a:r>
              <a:rPr sz="1300" b="0" i="0">
                <a:solidFill>
                  <a:srgbClr val="3A322C"/>
                </a:solidFill>
                <a:latin typeface="IBM Plex Sans"/>
                <a:ea typeface="IBM Plex Sans"/>
                <a:cs typeface="IBM Plex Sans Arabic"/>
              </a:rPr>
              <a:t>Orders, tracking and account</a:t>
            </a:r>
          </a:p>
        </p:txBody>
      </p:sp>
      <p:sp>
        <p:nvSpPr>
          <p:cNvPr id="13" name="Rectangle 12"/>
          <p:cNvSpPr/>
          <p:nvPr/>
        </p:nvSpPr>
        <p:spPr>
          <a:xfrm>
            <a:off x="1041400" y="3865245"/>
            <a:ext cx="63500" cy="63500"/>
          </a:xfrm>
          <a:prstGeom prst="rect">
            <a:avLst/>
          </a:prstGeom>
          <a:solidFill>
            <a:srgbClr val="5BC08A"/>
          </a:solidFill>
          <a:ln>
            <a:noFill/>
          </a:ln>
          <a:effectLst/>
        </p:spPr>
        <p:txBody>
          <a:bodyPr rtlCol="0" anchor="ctr" lIns="0" rIns="0"/>
          <a:lstStyle/>
          <a:p>
            <a:pPr algn="ctr"/>
          </a:p>
        </p:txBody>
      </p:sp>
      <p:sp>
        <p:nvSpPr>
          <p:cNvPr id="14" name="TextBox 13"/>
          <p:cNvSpPr txBox="1"/>
          <p:nvPr/>
        </p:nvSpPr>
        <p:spPr>
          <a:xfrm>
            <a:off x="1231900" y="3790950"/>
            <a:ext cx="4381500" cy="222250"/>
          </a:xfrm>
          <a:prstGeom prst="rect">
            <a:avLst/>
          </a:prstGeom>
          <a:noFill/>
        </p:spPr>
        <p:txBody>
          <a:bodyPr wrap="square" lIns="0" rIns="0" tIns="0" bIns="0" anchor="t">
            <a:noAutofit/>
          </a:bodyPr>
          <a:lstStyle/>
          <a:p>
            <a:pPr algn="l">
              <a:lnSpc>
                <a:spcPct val="130000"/>
              </a:lnSpc>
            </a:pPr>
            <a:r>
              <a:rPr sz="1300" b="0" i="0">
                <a:solidFill>
                  <a:srgbClr val="3A322C"/>
                </a:solidFill>
                <a:latin typeface="IBM Plex Sans"/>
                <a:ea typeface="IBM Plex Sans"/>
                <a:cs typeface="IBM Plex Sans Arabic"/>
              </a:rPr>
              <a:t>The dashboard: analytics, reports, editing, publishing</a:t>
            </a:r>
          </a:p>
        </p:txBody>
      </p:sp>
      <p:sp>
        <p:nvSpPr>
          <p:cNvPr id="15" name="Rectangle 14"/>
          <p:cNvSpPr/>
          <p:nvPr/>
        </p:nvSpPr>
        <p:spPr>
          <a:xfrm>
            <a:off x="1041400" y="4176395"/>
            <a:ext cx="63500" cy="63500"/>
          </a:xfrm>
          <a:prstGeom prst="rect">
            <a:avLst/>
          </a:prstGeom>
          <a:solidFill>
            <a:srgbClr val="5BC08A"/>
          </a:solidFill>
          <a:ln>
            <a:noFill/>
          </a:ln>
          <a:effectLst/>
        </p:spPr>
        <p:txBody>
          <a:bodyPr rtlCol="0" anchor="ctr" lIns="0" rIns="0"/>
          <a:lstStyle/>
          <a:p>
            <a:pPr algn="ctr"/>
          </a:p>
        </p:txBody>
      </p:sp>
      <p:sp>
        <p:nvSpPr>
          <p:cNvPr id="16" name="TextBox 15"/>
          <p:cNvSpPr txBox="1"/>
          <p:nvPr/>
        </p:nvSpPr>
        <p:spPr>
          <a:xfrm>
            <a:off x="1231900" y="4102100"/>
            <a:ext cx="4381500" cy="222250"/>
          </a:xfrm>
          <a:prstGeom prst="rect">
            <a:avLst/>
          </a:prstGeom>
          <a:noFill/>
        </p:spPr>
        <p:txBody>
          <a:bodyPr wrap="square" lIns="0" rIns="0" tIns="0" bIns="0" anchor="t">
            <a:noAutofit/>
          </a:bodyPr>
          <a:lstStyle/>
          <a:p>
            <a:pPr algn="l">
              <a:lnSpc>
                <a:spcPct val="130000"/>
              </a:lnSpc>
            </a:pPr>
            <a:r>
              <a:rPr sz="1300" b="0" i="0">
                <a:solidFill>
                  <a:srgbClr val="3A322C"/>
                </a:solidFill>
                <a:latin typeface="IBM Plex Sans"/>
                <a:ea typeface="IBM Plex Sans"/>
                <a:cs typeface="IBM Plex Sans Arabic"/>
              </a:rPr>
              <a:t>Visit tracking (sessions, sources, funnel)</a:t>
            </a:r>
          </a:p>
        </p:txBody>
      </p:sp>
      <p:sp>
        <p:nvSpPr>
          <p:cNvPr id="17" name="Rounded Rectangle 16"/>
          <p:cNvSpPr/>
          <p:nvPr/>
        </p:nvSpPr>
        <p:spPr>
          <a:xfrm>
            <a:off x="6350000" y="2286000"/>
            <a:ext cx="5080000" cy="2730500"/>
          </a:xfrm>
          <a:prstGeom prst="roundRect">
            <a:avLst>
              <a:gd name="adj" fmla="val 4186"/>
            </a:avLst>
          </a:prstGeom>
          <a:solidFill>
            <a:srgbClr val="1A1512"/>
          </a:solidFill>
          <a:ln>
            <a:noFill/>
          </a:ln>
          <a:effectLst/>
        </p:spPr>
        <p:txBody>
          <a:bodyPr rtlCol="0" anchor="ctr" lIns="0" rIns="0"/>
          <a:lstStyle/>
          <a:p>
            <a:pPr algn="ctr"/>
          </a:p>
        </p:txBody>
      </p:sp>
      <p:sp>
        <p:nvSpPr>
          <p:cNvPr id="18" name="TextBox 17"/>
          <p:cNvSpPr txBox="1"/>
          <p:nvPr/>
        </p:nvSpPr>
        <p:spPr>
          <a:xfrm>
            <a:off x="6629400" y="2514600"/>
            <a:ext cx="4445000" cy="190500"/>
          </a:xfrm>
          <a:prstGeom prst="rect">
            <a:avLst/>
          </a:prstGeom>
          <a:noFill/>
        </p:spPr>
        <p:txBody>
          <a:bodyPr wrap="square" lIns="0" rIns="0" tIns="0" bIns="0" anchor="t">
            <a:noAutofit/>
          </a:bodyPr>
          <a:lstStyle/>
          <a:p>
            <a:pPr algn="l">
              <a:lnSpc>
                <a:spcPct val="125000"/>
              </a:lnSpc>
            </a:pPr>
            <a:r>
              <a:rPr sz="850" b="1" i="0" spc="250">
                <a:solidFill>
                  <a:srgbClr val="FF5A36"/>
                </a:solidFill>
                <a:latin typeface="IBM Plex Mono"/>
                <a:ea typeface="IBM Plex Mono"/>
                <a:cs typeface="IBM Plex Sans Arabic"/>
              </a:rPr>
              <a:t>NEEDED BEFORE LAUNCH</a:t>
            </a:r>
          </a:p>
        </p:txBody>
      </p:sp>
      <p:sp>
        <p:nvSpPr>
          <p:cNvPr id="19" name="Rectangle 18"/>
          <p:cNvSpPr/>
          <p:nvPr/>
        </p:nvSpPr>
        <p:spPr>
          <a:xfrm>
            <a:off x="6629400" y="2931795"/>
            <a:ext cx="63500" cy="63500"/>
          </a:xfrm>
          <a:prstGeom prst="rect">
            <a:avLst/>
          </a:prstGeom>
          <a:solidFill>
            <a:srgbClr val="FF5A36"/>
          </a:solidFill>
          <a:ln>
            <a:noFill/>
          </a:ln>
          <a:effectLst/>
        </p:spPr>
        <p:txBody>
          <a:bodyPr rtlCol="0" anchor="ctr" lIns="0" rIns="0"/>
          <a:lstStyle/>
          <a:p>
            <a:pPr algn="ctr"/>
          </a:p>
        </p:txBody>
      </p:sp>
      <p:sp>
        <p:nvSpPr>
          <p:cNvPr id="20" name="TextBox 19"/>
          <p:cNvSpPr txBox="1"/>
          <p:nvPr/>
        </p:nvSpPr>
        <p:spPr>
          <a:xfrm>
            <a:off x="6819900" y="2857500"/>
            <a:ext cx="4381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Payment gateway</a:t>
            </a:r>
            <a:r>
              <a:rPr sz="1300" b="0" i="0">
                <a:solidFill>
                  <a:srgbClr val="C8C1B7"/>
                </a:solidFill>
                <a:latin typeface="IBM Plex Sans"/>
                <a:ea typeface="IBM Plex Sans"/>
                <a:cs typeface="IBM Plex Sans Arabic"/>
              </a:rPr>
              <a:t> — payment is simulated</a:t>
            </a:r>
          </a:p>
        </p:txBody>
      </p:sp>
      <p:sp>
        <p:nvSpPr>
          <p:cNvPr id="21" name="Rectangle 20"/>
          <p:cNvSpPr/>
          <p:nvPr/>
        </p:nvSpPr>
        <p:spPr>
          <a:xfrm>
            <a:off x="6629400" y="3242945"/>
            <a:ext cx="63500" cy="63500"/>
          </a:xfrm>
          <a:prstGeom prst="rect">
            <a:avLst/>
          </a:prstGeom>
          <a:solidFill>
            <a:srgbClr val="FF5A36"/>
          </a:solidFill>
          <a:ln>
            <a:noFill/>
          </a:ln>
          <a:effectLst/>
        </p:spPr>
        <p:txBody>
          <a:bodyPr rtlCol="0" anchor="ctr" lIns="0" rIns="0"/>
          <a:lstStyle/>
          <a:p>
            <a:pPr algn="ctr"/>
          </a:p>
        </p:txBody>
      </p:sp>
      <p:sp>
        <p:nvSpPr>
          <p:cNvPr id="22" name="TextBox 21"/>
          <p:cNvSpPr txBox="1"/>
          <p:nvPr/>
        </p:nvSpPr>
        <p:spPr>
          <a:xfrm>
            <a:off x="6819900" y="3168650"/>
            <a:ext cx="4381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SMS provider</a:t>
            </a:r>
            <a:r>
              <a:rPr sz="1300" b="0" i="0">
                <a:solidFill>
                  <a:srgbClr val="C8C1B7"/>
                </a:solidFill>
                <a:latin typeface="IBM Plex Sans"/>
                <a:ea typeface="IBM Plex Sans"/>
                <a:cs typeface="IBM Plex Sans Arabic"/>
              </a:rPr>
              <a:t> — for the sign-in code</a:t>
            </a:r>
          </a:p>
        </p:txBody>
      </p:sp>
      <p:sp>
        <p:nvSpPr>
          <p:cNvPr id="23" name="Rectangle 22"/>
          <p:cNvSpPr/>
          <p:nvPr/>
        </p:nvSpPr>
        <p:spPr>
          <a:xfrm>
            <a:off x="6629400" y="3554095"/>
            <a:ext cx="63500" cy="63500"/>
          </a:xfrm>
          <a:prstGeom prst="rect">
            <a:avLst/>
          </a:prstGeom>
          <a:solidFill>
            <a:srgbClr val="FF5A36"/>
          </a:solidFill>
          <a:ln>
            <a:noFill/>
          </a:ln>
          <a:effectLst/>
        </p:spPr>
        <p:txBody>
          <a:bodyPr rtlCol="0" anchor="ctr" lIns="0" rIns="0"/>
          <a:lstStyle/>
          <a:p>
            <a:pPr algn="ctr"/>
          </a:p>
        </p:txBody>
      </p:sp>
      <p:sp>
        <p:nvSpPr>
          <p:cNvPr id="24" name="TextBox 23"/>
          <p:cNvSpPr txBox="1"/>
          <p:nvPr/>
        </p:nvSpPr>
        <p:spPr>
          <a:xfrm>
            <a:off x="6819900" y="3479800"/>
            <a:ext cx="4381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Server + database</a:t>
            </a:r>
            <a:r>
              <a:rPr sz="1300" b="0" i="0">
                <a:solidFill>
                  <a:srgbClr val="C8C1B7"/>
                </a:solidFill>
                <a:latin typeface="IBM Plex Sans"/>
                <a:ea typeface="IBM Plex Sans"/>
                <a:cs typeface="IBM Plex Sans Arabic"/>
              </a:rPr>
              <a:t> — orders live in the browser today</a:t>
            </a:r>
          </a:p>
        </p:txBody>
      </p:sp>
      <p:sp>
        <p:nvSpPr>
          <p:cNvPr id="25" name="Rectangle 24"/>
          <p:cNvSpPr/>
          <p:nvPr/>
        </p:nvSpPr>
        <p:spPr>
          <a:xfrm>
            <a:off x="6629400" y="3865245"/>
            <a:ext cx="63500" cy="63500"/>
          </a:xfrm>
          <a:prstGeom prst="rect">
            <a:avLst/>
          </a:prstGeom>
          <a:solidFill>
            <a:srgbClr val="FF5A36"/>
          </a:solidFill>
          <a:ln>
            <a:noFill/>
          </a:ln>
          <a:effectLst/>
        </p:spPr>
        <p:txBody>
          <a:bodyPr rtlCol="0" anchor="ctr" lIns="0" rIns="0"/>
          <a:lstStyle/>
          <a:p>
            <a:pPr algn="ctr"/>
          </a:p>
        </p:txBody>
      </p:sp>
      <p:sp>
        <p:nvSpPr>
          <p:cNvPr id="26" name="TextBox 25"/>
          <p:cNvSpPr txBox="1"/>
          <p:nvPr/>
        </p:nvSpPr>
        <p:spPr>
          <a:xfrm>
            <a:off x="6819900" y="3790950"/>
            <a:ext cx="4381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Secure admin login</a:t>
            </a:r>
            <a:r>
              <a:rPr sz="1300" b="0" i="0">
                <a:solidFill>
                  <a:srgbClr val="C8C1B7"/>
                </a:solidFill>
                <a:latin typeface="IBM Plex Sans"/>
                <a:ea typeface="IBM Plex Sans"/>
                <a:cs typeface="IBM Plex Sans Arabic"/>
              </a:rPr>
              <a:t> — the PIN is a light lock</a:t>
            </a:r>
          </a:p>
        </p:txBody>
      </p:sp>
      <p:sp>
        <p:nvSpPr>
          <p:cNvPr id="27" name="Rectangle 26"/>
          <p:cNvSpPr/>
          <p:nvPr/>
        </p:nvSpPr>
        <p:spPr>
          <a:xfrm>
            <a:off x="6629400" y="4176395"/>
            <a:ext cx="63500" cy="63500"/>
          </a:xfrm>
          <a:prstGeom prst="rect">
            <a:avLst/>
          </a:prstGeom>
          <a:solidFill>
            <a:srgbClr val="FF5A36"/>
          </a:solidFill>
          <a:ln>
            <a:noFill/>
          </a:ln>
          <a:effectLst/>
        </p:spPr>
        <p:txBody>
          <a:bodyPr rtlCol="0" anchor="ctr" lIns="0" rIns="0"/>
          <a:lstStyle/>
          <a:p>
            <a:pPr algn="ctr"/>
          </a:p>
        </p:txBody>
      </p:sp>
      <p:sp>
        <p:nvSpPr>
          <p:cNvPr id="28" name="TextBox 27"/>
          <p:cNvSpPr txBox="1"/>
          <p:nvPr/>
        </p:nvSpPr>
        <p:spPr>
          <a:xfrm>
            <a:off x="6819900" y="4102100"/>
            <a:ext cx="4381500" cy="222250"/>
          </a:xfrm>
          <a:prstGeom prst="rect">
            <a:avLst/>
          </a:prstGeom>
          <a:noFill/>
        </p:spPr>
        <p:txBody>
          <a:bodyPr wrap="square" lIns="0" rIns="0" tIns="0" bIns="0" anchor="t">
            <a:noAutofit/>
          </a:bodyPr>
          <a:lstStyle/>
          <a:p>
            <a:pPr algn="l">
              <a:lnSpc>
                <a:spcPct val="130000"/>
              </a:lnSpc>
            </a:pPr>
            <a:r>
              <a:rPr sz="1300" b="1" i="0">
                <a:solidFill>
                  <a:srgbClr val="EDE8E1"/>
                </a:solidFill>
                <a:latin typeface="IBM Plex Sans"/>
                <a:ea typeface="IBM Plex Sans"/>
                <a:cs typeface="IBM Plex Sans Arabic"/>
              </a:rPr>
              <a:t>Automatic stock deduction</a:t>
            </a:r>
            <a:r>
              <a:rPr sz="1300" b="0" i="0">
                <a:solidFill>
                  <a:srgbClr val="C8C1B7"/>
                </a:solidFill>
                <a:latin typeface="IBM Plex Sans"/>
                <a:ea typeface="IBM Plex Sans"/>
                <a:cs typeface="IBM Plex Sans Arabic"/>
              </a:rPr>
              <a:t> with every order</a:t>
            </a:r>
          </a:p>
        </p:txBody>
      </p:sp>
      <p:sp>
        <p:nvSpPr>
          <p:cNvPr id="29" name="TextBox 28"/>
          <p:cNvSpPr txBox="1"/>
          <p:nvPr/>
        </p:nvSpPr>
        <p:spPr>
          <a:xfrm>
            <a:off x="762000" y="5372100"/>
            <a:ext cx="10668000" cy="381000"/>
          </a:xfrm>
          <a:prstGeom prst="rect">
            <a:avLst/>
          </a:prstGeom>
          <a:noFill/>
        </p:spPr>
        <p:txBody>
          <a:bodyPr wrap="square" lIns="0" rIns="0" tIns="0" bIns="0" anchor="t">
            <a:noAutofit/>
          </a:bodyPr>
          <a:lstStyle/>
          <a:p>
            <a:pPr algn="l">
              <a:lnSpc>
                <a:spcPct val="130000"/>
              </a:lnSpc>
            </a:pPr>
            <a:r>
              <a:rPr sz="1200" b="1" i="0">
                <a:solidFill>
                  <a:srgbClr val="1A1512"/>
                </a:solidFill>
                <a:latin typeface="IBM Plex Sans"/>
                <a:ea typeface="IBM Plex Sans"/>
                <a:cs typeface="IBM Plex Sans Arabic"/>
              </a:rPr>
              <a:t>Good news: </a:t>
            </a:r>
            <a:r>
              <a:rPr sz="1200" b="0" i="0">
                <a:solidFill>
                  <a:srgbClr val="3A322C"/>
                </a:solidFill>
                <a:latin typeface="IBM Plex Sans"/>
                <a:ea typeface="IBM Plex Sans"/>
                <a:cs typeface="IBM Plex Sans Arabic"/>
              </a:rPr>
              <a:t>visit tracking already sends everything through one function — connecting a server is one change.</a:t>
            </a:r>
          </a:p>
        </p:txBody>
      </p:sp>
      <p:pic>
        <p:nvPicPr>
          <p:cNvPr id="30" name="Picture 29" descr="logo-ink.png"/>
          <p:cNvPicPr>
            <a:picLocks noChangeAspect="1"/>
          </p:cNvPicPr>
          <p:nvPr/>
        </p:nvPicPr>
        <p:blipFill>
          <a:blip r:embed="rId3"/>
          <a:stretch>
            <a:fillRect/>
          </a:stretch>
        </p:blipFill>
        <p:spPr>
          <a:xfrm>
            <a:off x="762000" y="6426200"/>
            <a:ext cx="208788" cy="152400"/>
          </a:xfrm>
          <a:prstGeom prst="rect">
            <a:avLst/>
          </a:prstGeom>
        </p:spPr>
      </p:pic>
      <p:sp>
        <p:nvSpPr>
          <p:cNvPr id="31" name="TextBox 30"/>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A3988B"/>
                </a:solidFill>
                <a:latin typeface="IBM Plex Mono"/>
                <a:ea typeface="IBM Plex Mono"/>
                <a:cs typeface="IBM Plex Sans Arabic"/>
              </a:rPr>
              <a:t>WEBSITE WALKTHROUGH</a:t>
            </a:r>
          </a:p>
        </p:txBody>
      </p:sp>
      <p:sp>
        <p:nvSpPr>
          <p:cNvPr id="32" name="TextBox 31"/>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7A6E62"/>
                </a:solidFill>
                <a:latin typeface="IBM Plex Mono"/>
                <a:ea typeface="IBM Plex Mono"/>
                <a:cs typeface="IBM Plex Sans Arabic"/>
              </a:rPr>
              <a:t>32</a:t>
            </a:r>
            <a:r>
              <a:rPr sz="750" b="0" i="0" spc="150">
                <a:solidFill>
                  <a:srgbClr val="A3988B"/>
                </a:solidFill>
                <a:latin typeface="IBM Plex Mono"/>
                <a:ea typeface="IBM Plex Mono"/>
                <a:cs typeface="IBM Plex Sans Arabic"/>
              </a:rPr>
              <a:t>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1A1F"/>
        </a:solidFill>
        <a:effectLst/>
      </p:bgPr>
    </p:bg>
    <p:spTree>
      <p:nvGrpSpPr>
        <p:cNvPr id="1" name=""/>
        <p:cNvGrpSpPr/>
        <p:nvPr/>
      </p:nvGrpSpPr>
      <p:grpSpPr/>
      <p:pic>
        <p:nvPicPr>
          <p:cNvPr id="2" name="Picture 1" descr="close.jp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762000" y="996950"/>
            <a:ext cx="76200" cy="76200"/>
          </a:xfrm>
          <a:prstGeom prst="rect">
            <a:avLst/>
          </a:prstGeom>
          <a:solidFill>
            <a:srgbClr val="FF5A36"/>
          </a:solidFill>
          <a:ln>
            <a:noFill/>
          </a:ln>
          <a:effectLst/>
        </p:spPr>
        <p:txBody>
          <a:bodyPr rtlCol="0" anchor="ctr" lIns="0" rIns="0"/>
          <a:lstStyle/>
          <a:p>
            <a:pPr algn="ctr"/>
          </a:p>
        </p:txBody>
      </p:sp>
      <p:sp>
        <p:nvSpPr>
          <p:cNvPr id="4" name="TextBox 3"/>
          <p:cNvSpPr txBox="1"/>
          <p:nvPr/>
        </p:nvSpPr>
        <p:spPr>
          <a:xfrm>
            <a:off x="939800" y="952500"/>
            <a:ext cx="5715000" cy="190500"/>
          </a:xfrm>
          <a:prstGeom prst="rect">
            <a:avLst/>
          </a:prstGeom>
          <a:noFill/>
        </p:spPr>
        <p:txBody>
          <a:bodyPr wrap="square" lIns="0" rIns="0" tIns="0" bIns="0" anchor="t">
            <a:noAutofit/>
          </a:bodyPr>
          <a:lstStyle/>
          <a:p>
            <a:pPr algn="l">
              <a:lnSpc>
                <a:spcPct val="100000"/>
              </a:lnSpc>
            </a:pPr>
            <a:r>
              <a:rPr sz="950" b="1" i="0" spc="240">
                <a:solidFill>
                  <a:srgbClr val="FF5A36"/>
                </a:solidFill>
                <a:latin typeface="IBM Plex Mono"/>
                <a:ea typeface="IBM Plex Mono"/>
                <a:cs typeface="IBM Plex Sans Arabic"/>
              </a:rPr>
              <a:t>30</a:t>
            </a:r>
            <a:r>
              <a:rPr sz="950" b="0" i="0" spc="240">
                <a:solidFill>
                  <a:srgbClr val="8E969D"/>
                </a:solidFill>
                <a:latin typeface="IBM Plex Mono"/>
                <a:ea typeface="IBM Plex Mono"/>
                <a:cs typeface="IBM Plex Sans Arabic"/>
              </a:rPr>
              <a:t>  SUMMARY</a:t>
            </a:r>
          </a:p>
        </p:txBody>
      </p:sp>
      <p:sp>
        <p:nvSpPr>
          <p:cNvPr id="5" name="TextBox 4"/>
          <p:cNvSpPr txBox="1"/>
          <p:nvPr/>
        </p:nvSpPr>
        <p:spPr>
          <a:xfrm>
            <a:off x="762000" y="1270000"/>
            <a:ext cx="6985000" cy="1524000"/>
          </a:xfrm>
          <a:prstGeom prst="rect">
            <a:avLst/>
          </a:prstGeom>
          <a:noFill/>
        </p:spPr>
        <p:txBody>
          <a:bodyPr wrap="square" lIns="0" rIns="0" tIns="0" bIns="0" anchor="t">
            <a:noAutofit/>
          </a:bodyPr>
          <a:lstStyle/>
          <a:p>
            <a:pPr algn="l">
              <a:lnSpc>
                <a:spcPct val="100000"/>
              </a:lnSpc>
            </a:pPr>
            <a:r>
              <a:rPr sz="5500" b="1" i="0" spc="-50">
                <a:solidFill>
                  <a:srgbClr val="EDE8E1"/>
                </a:solidFill>
                <a:latin typeface="Alexandria"/>
                <a:ea typeface="Alexandria"/>
                <a:cs typeface="IBM Plex Sans Arabic"/>
              </a:rPr>
              <a:t>One site.</a:t>
            </a:r>
          </a:p>
          <a:p>
            <a:pPr algn="l">
              <a:lnSpc>
                <a:spcPct val="100000"/>
              </a:lnSpc>
            </a:pPr>
            <a:r>
              <a:rPr sz="5500" b="1" i="0" spc="-50">
                <a:solidFill>
                  <a:srgbClr val="FF5A36"/>
                </a:solidFill>
                <a:latin typeface="Alexandria"/>
                <a:ea typeface="Alexandria"/>
                <a:cs typeface="IBM Plex Sans Arabic"/>
              </a:rPr>
              <a:t>Two sides.</a:t>
            </a:r>
          </a:p>
        </p:txBody>
      </p:sp>
      <p:sp>
        <p:nvSpPr>
          <p:cNvPr id="6" name="TextBox 5"/>
          <p:cNvSpPr txBox="1"/>
          <p:nvPr/>
        </p:nvSpPr>
        <p:spPr>
          <a:xfrm>
            <a:off x="762000" y="3175000"/>
            <a:ext cx="2413000" cy="254000"/>
          </a:xfrm>
          <a:prstGeom prst="rect">
            <a:avLst/>
          </a:prstGeom>
          <a:noFill/>
        </p:spPr>
        <p:txBody>
          <a:bodyPr wrap="square" lIns="0" rIns="0" tIns="0" bIns="0" anchor="t">
            <a:noAutofit/>
          </a:bodyPr>
          <a:lstStyle/>
          <a:p>
            <a:pPr algn="l">
              <a:lnSpc>
                <a:spcPct val="125000"/>
              </a:lnSpc>
            </a:pPr>
            <a:r>
              <a:rPr sz="900" b="1" i="0" spc="250">
                <a:solidFill>
                  <a:srgbClr val="FF5A36"/>
                </a:solidFill>
                <a:latin typeface="IBM Plex Mono"/>
                <a:ea typeface="IBM Plex Mono"/>
                <a:cs typeface="IBM Plex Sans Arabic"/>
              </a:rPr>
              <a:t>FOR CUSTOMERS</a:t>
            </a:r>
          </a:p>
        </p:txBody>
      </p:sp>
      <p:sp>
        <p:nvSpPr>
          <p:cNvPr id="7" name="TextBox 6"/>
          <p:cNvSpPr txBox="1"/>
          <p:nvPr/>
        </p:nvSpPr>
        <p:spPr>
          <a:xfrm>
            <a:off x="762000" y="3429000"/>
            <a:ext cx="2540000" cy="952500"/>
          </a:xfrm>
          <a:prstGeom prst="rect">
            <a:avLst/>
          </a:prstGeom>
          <a:noFill/>
        </p:spPr>
        <p:txBody>
          <a:bodyPr wrap="square" lIns="0" rIns="0" tIns="0" bIns="0" anchor="t">
            <a:noAutofit/>
          </a:bodyPr>
          <a:lstStyle/>
          <a:p>
            <a:pPr algn="l">
              <a:lnSpc>
                <a:spcPct val="140000"/>
              </a:lnSpc>
            </a:pPr>
            <a:r>
              <a:rPr sz="1400" b="0" i="0">
                <a:solidFill>
                  <a:srgbClr val="EDE8E1"/>
                </a:solidFill>
                <a:latin typeface="IBM Plex Sans"/>
                <a:ea typeface="IBM Plex Sans"/>
                <a:cs typeface="IBM Plex Sans Arabic"/>
              </a:rPr>
              <a:t>Occasion → plan → order → tracking. In a few taps.</a:t>
            </a:r>
          </a:p>
        </p:txBody>
      </p:sp>
      <p:sp>
        <p:nvSpPr>
          <p:cNvPr id="8" name="TextBox 7"/>
          <p:cNvSpPr txBox="1"/>
          <p:nvPr/>
        </p:nvSpPr>
        <p:spPr>
          <a:xfrm>
            <a:off x="3683000" y="3175000"/>
            <a:ext cx="2413000" cy="254000"/>
          </a:xfrm>
          <a:prstGeom prst="rect">
            <a:avLst/>
          </a:prstGeom>
          <a:noFill/>
        </p:spPr>
        <p:txBody>
          <a:bodyPr wrap="square" lIns="0" rIns="0" tIns="0" bIns="0" anchor="t">
            <a:noAutofit/>
          </a:bodyPr>
          <a:lstStyle/>
          <a:p>
            <a:pPr algn="l">
              <a:lnSpc>
                <a:spcPct val="125000"/>
              </a:lnSpc>
            </a:pPr>
            <a:r>
              <a:rPr sz="900" b="1" i="0" spc="250">
                <a:solidFill>
                  <a:srgbClr val="FF5A36"/>
                </a:solidFill>
                <a:latin typeface="IBM Plex Mono"/>
                <a:ea typeface="IBM Plex Mono"/>
                <a:cs typeface="IBM Plex Sans Arabic"/>
              </a:rPr>
              <a:t>FOR THE TEAM</a:t>
            </a:r>
          </a:p>
        </p:txBody>
      </p:sp>
      <p:sp>
        <p:nvSpPr>
          <p:cNvPr id="9" name="TextBox 8"/>
          <p:cNvSpPr txBox="1"/>
          <p:nvPr/>
        </p:nvSpPr>
        <p:spPr>
          <a:xfrm>
            <a:off x="3683000" y="3429000"/>
            <a:ext cx="2540000" cy="952500"/>
          </a:xfrm>
          <a:prstGeom prst="rect">
            <a:avLst/>
          </a:prstGeom>
          <a:noFill/>
        </p:spPr>
        <p:txBody>
          <a:bodyPr wrap="square" lIns="0" rIns="0" tIns="0" bIns="0" anchor="t">
            <a:noAutofit/>
          </a:bodyPr>
          <a:lstStyle/>
          <a:p>
            <a:pPr algn="l">
              <a:lnSpc>
                <a:spcPct val="140000"/>
              </a:lnSpc>
            </a:pPr>
            <a:r>
              <a:rPr sz="1400" b="0" i="0">
                <a:solidFill>
                  <a:srgbClr val="EDE8E1"/>
                </a:solidFill>
                <a:latin typeface="IBM Plex Sans"/>
                <a:ea typeface="IBM Plex Sans"/>
                <a:cs typeface="IBM Plex Sans Arabic"/>
              </a:rPr>
              <a:t>See what sells, fix what drops, change anything.</a:t>
            </a:r>
          </a:p>
        </p:txBody>
      </p:sp>
      <p:cxnSp>
        <p:nvCxnSpPr>
          <p:cNvPr id="10" name="Connector 9"/>
          <p:cNvCxnSpPr/>
          <p:nvPr/>
        </p:nvCxnSpPr>
        <p:spPr>
          <a:xfrm>
            <a:off x="762000" y="4546600"/>
            <a:ext cx="5461000" cy="0"/>
          </a:xfrm>
          <a:prstGeom prst="line">
            <a:avLst/>
          </a:prstGeom>
          <a:ln w="12700">
            <a:solidFill>
              <a:srgbClr val="383B3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62000" y="4724400"/>
            <a:ext cx="1397000" cy="228600"/>
          </a:xfrm>
          <a:prstGeom prst="rect">
            <a:avLst/>
          </a:prstGeom>
          <a:noFill/>
        </p:spPr>
        <p:txBody>
          <a:bodyPr wrap="square" lIns="0" rIns="0" tIns="0" bIns="0" anchor="t">
            <a:noAutofit/>
          </a:bodyPr>
          <a:lstStyle/>
          <a:p>
            <a:pPr algn="l">
              <a:lnSpc>
                <a:spcPct val="100000"/>
              </a:lnSpc>
            </a:pPr>
            <a:r>
              <a:rPr sz="1100" b="0" i="0">
                <a:solidFill>
                  <a:srgbClr val="8E969D"/>
                </a:solidFill>
                <a:latin typeface="IBM Plex Sans"/>
                <a:ea typeface="IBM Plex Sans"/>
                <a:cs typeface="IBM Plex Sans Arabic"/>
              </a:rPr>
              <a:t>English site</a:t>
            </a:r>
          </a:p>
        </p:txBody>
      </p:sp>
      <p:sp>
        <p:nvSpPr>
          <p:cNvPr id="12" name="TextBox 11"/>
          <p:cNvSpPr txBox="1"/>
          <p:nvPr/>
        </p:nvSpPr>
        <p:spPr>
          <a:xfrm>
            <a:off x="2222500" y="4724400"/>
            <a:ext cx="4445000" cy="228600"/>
          </a:xfrm>
          <a:prstGeom prst="rect">
            <a:avLst/>
          </a:prstGeom>
          <a:noFill/>
        </p:spPr>
        <p:txBody>
          <a:bodyPr wrap="square" lIns="0" rIns="0" tIns="0" bIns="0" anchor="t">
            <a:noAutofit/>
          </a:bodyPr>
          <a:lstStyle/>
          <a:p>
            <a:pPr algn="l">
              <a:lnSpc>
                <a:spcPct val="100000"/>
              </a:lnSpc>
            </a:pPr>
            <a:r>
              <a:rPr sz="1100" b="0" i="0">
                <a:solidFill>
                  <a:srgbClr val="EDE8E1"/>
                </a:solidFill>
                <a:latin typeface="IBM Plex Mono"/>
                <a:ea typeface="IBM Plex Mono"/>
                <a:cs typeface="IBM Plex Sans Arabic"/>
              </a:rPr>
              <a:t>mohamed-sr-designer.github.io/nudj/en</a:t>
            </a:r>
          </a:p>
        </p:txBody>
      </p:sp>
      <p:sp>
        <p:nvSpPr>
          <p:cNvPr id="13" name="TextBox 12"/>
          <p:cNvSpPr txBox="1"/>
          <p:nvPr/>
        </p:nvSpPr>
        <p:spPr>
          <a:xfrm>
            <a:off x="762000" y="5041900"/>
            <a:ext cx="1397000" cy="228600"/>
          </a:xfrm>
          <a:prstGeom prst="rect">
            <a:avLst/>
          </a:prstGeom>
          <a:noFill/>
        </p:spPr>
        <p:txBody>
          <a:bodyPr wrap="square" lIns="0" rIns="0" tIns="0" bIns="0" anchor="t">
            <a:noAutofit/>
          </a:bodyPr>
          <a:lstStyle/>
          <a:p>
            <a:pPr algn="l">
              <a:lnSpc>
                <a:spcPct val="100000"/>
              </a:lnSpc>
            </a:pPr>
            <a:r>
              <a:rPr sz="1100" b="0" i="0">
                <a:solidFill>
                  <a:srgbClr val="8E969D"/>
                </a:solidFill>
                <a:latin typeface="IBM Plex Sans"/>
                <a:ea typeface="IBM Plex Sans"/>
                <a:cs typeface="IBM Plex Sans Arabic"/>
              </a:rPr>
              <a:t>Arabic site</a:t>
            </a:r>
          </a:p>
        </p:txBody>
      </p:sp>
      <p:sp>
        <p:nvSpPr>
          <p:cNvPr id="14" name="TextBox 13"/>
          <p:cNvSpPr txBox="1"/>
          <p:nvPr/>
        </p:nvSpPr>
        <p:spPr>
          <a:xfrm>
            <a:off x="2222500" y="5041900"/>
            <a:ext cx="4445000" cy="228600"/>
          </a:xfrm>
          <a:prstGeom prst="rect">
            <a:avLst/>
          </a:prstGeom>
          <a:noFill/>
        </p:spPr>
        <p:txBody>
          <a:bodyPr wrap="square" lIns="0" rIns="0" tIns="0" bIns="0" anchor="t">
            <a:noAutofit/>
          </a:bodyPr>
          <a:lstStyle/>
          <a:p>
            <a:pPr algn="l">
              <a:lnSpc>
                <a:spcPct val="100000"/>
              </a:lnSpc>
            </a:pPr>
            <a:r>
              <a:rPr sz="1100" b="0" i="0">
                <a:solidFill>
                  <a:srgbClr val="EDE8E1"/>
                </a:solidFill>
                <a:latin typeface="IBM Plex Mono"/>
                <a:ea typeface="IBM Plex Mono"/>
                <a:cs typeface="IBM Plex Sans Arabic"/>
              </a:rPr>
              <a:t>mohamed-sr-designer.github.io/nudj</a:t>
            </a:r>
          </a:p>
        </p:txBody>
      </p:sp>
      <p:sp>
        <p:nvSpPr>
          <p:cNvPr id="15" name="TextBox 14"/>
          <p:cNvSpPr txBox="1"/>
          <p:nvPr/>
        </p:nvSpPr>
        <p:spPr>
          <a:xfrm>
            <a:off x="762000" y="5359400"/>
            <a:ext cx="1397000" cy="228600"/>
          </a:xfrm>
          <a:prstGeom prst="rect">
            <a:avLst/>
          </a:prstGeom>
          <a:noFill/>
        </p:spPr>
        <p:txBody>
          <a:bodyPr wrap="square" lIns="0" rIns="0" tIns="0" bIns="0" anchor="t">
            <a:noAutofit/>
          </a:bodyPr>
          <a:lstStyle/>
          <a:p>
            <a:pPr algn="l">
              <a:lnSpc>
                <a:spcPct val="100000"/>
              </a:lnSpc>
            </a:pPr>
            <a:r>
              <a:rPr sz="1100" b="0" i="0">
                <a:solidFill>
                  <a:srgbClr val="8E969D"/>
                </a:solidFill>
                <a:latin typeface="IBM Plex Sans"/>
                <a:ea typeface="IBM Plex Sans"/>
                <a:cs typeface="IBM Plex Sans Arabic"/>
              </a:rPr>
              <a:t>Dashboard</a:t>
            </a:r>
          </a:p>
        </p:txBody>
      </p:sp>
      <p:sp>
        <p:nvSpPr>
          <p:cNvPr id="16" name="TextBox 15"/>
          <p:cNvSpPr txBox="1"/>
          <p:nvPr/>
        </p:nvSpPr>
        <p:spPr>
          <a:xfrm>
            <a:off x="2222500" y="5359400"/>
            <a:ext cx="4445000" cy="228600"/>
          </a:xfrm>
          <a:prstGeom prst="rect">
            <a:avLst/>
          </a:prstGeom>
          <a:noFill/>
        </p:spPr>
        <p:txBody>
          <a:bodyPr wrap="square" lIns="0" rIns="0" tIns="0" bIns="0" anchor="t">
            <a:noAutofit/>
          </a:bodyPr>
          <a:lstStyle/>
          <a:p>
            <a:pPr algn="l">
              <a:lnSpc>
                <a:spcPct val="100000"/>
              </a:lnSpc>
            </a:pPr>
            <a:r>
              <a:rPr sz="1100" b="0" i="0">
                <a:solidFill>
                  <a:srgbClr val="EDE8E1"/>
                </a:solidFill>
                <a:latin typeface="IBM Plex Mono"/>
                <a:ea typeface="IBM Plex Mono"/>
                <a:cs typeface="IBM Plex Sans Arabic"/>
              </a:rPr>
              <a:t>…/nudj/admin.html  ·  demo PIN 2026</a:t>
            </a:r>
          </a:p>
        </p:txBody>
      </p:sp>
      <p:sp>
        <p:nvSpPr>
          <p:cNvPr id="17" name="TextBox 16"/>
          <p:cNvSpPr txBox="1"/>
          <p:nvPr/>
        </p:nvSpPr>
        <p:spPr>
          <a:xfrm>
            <a:off x="762000" y="5842000"/>
            <a:ext cx="3810000" cy="381000"/>
          </a:xfrm>
          <a:prstGeom prst="rect">
            <a:avLst/>
          </a:prstGeom>
          <a:noFill/>
        </p:spPr>
        <p:txBody>
          <a:bodyPr wrap="square" lIns="0" rIns="0" tIns="0" bIns="0" anchor="t">
            <a:noAutofit/>
          </a:bodyPr>
          <a:lstStyle/>
          <a:p>
            <a:pPr algn="l">
              <a:lnSpc>
                <a:spcPct val="100000"/>
              </a:lnSpc>
            </a:pPr>
            <a:r>
              <a:rPr sz="2000" b="1" i="0">
                <a:solidFill>
                  <a:srgbClr val="FF5A36"/>
                </a:solidFill>
                <a:latin typeface="Alexandria"/>
                <a:ea typeface="Alexandria"/>
                <a:cs typeface="IBM Plex Sans Arabic"/>
              </a:rPr>
              <a:t>Thank you.</a:t>
            </a:r>
          </a:p>
        </p:txBody>
      </p:sp>
      <p:pic>
        <p:nvPicPr>
          <p:cNvPr id="18" name="Picture 17" descr="logo-bone.png"/>
          <p:cNvPicPr>
            <a:picLocks noChangeAspect="1"/>
          </p:cNvPicPr>
          <p:nvPr/>
        </p:nvPicPr>
        <p:blipFill>
          <a:blip r:embed="rId4"/>
          <a:stretch>
            <a:fillRect/>
          </a:stretch>
        </p:blipFill>
        <p:spPr>
          <a:xfrm>
            <a:off x="762000" y="6426200"/>
            <a:ext cx="208788" cy="152400"/>
          </a:xfrm>
          <a:prstGeom prst="rect">
            <a:avLst/>
          </a:prstGeom>
        </p:spPr>
      </p:pic>
      <p:sp>
        <p:nvSpPr>
          <p:cNvPr id="19" name="TextBox 18"/>
          <p:cNvSpPr txBox="1"/>
          <p:nvPr/>
        </p:nvSpPr>
        <p:spPr>
          <a:xfrm>
            <a:off x="1079500" y="6438900"/>
            <a:ext cx="3810000" cy="152400"/>
          </a:xfrm>
          <a:prstGeom prst="rect">
            <a:avLst/>
          </a:prstGeom>
          <a:noFill/>
        </p:spPr>
        <p:txBody>
          <a:bodyPr wrap="square" lIns="0" rIns="0" tIns="0" bIns="0" anchor="t">
            <a:noAutofit/>
          </a:bodyPr>
          <a:lstStyle/>
          <a:p>
            <a:pPr algn="l">
              <a:lnSpc>
                <a:spcPct val="100000"/>
              </a:lnSpc>
            </a:pPr>
            <a:r>
              <a:rPr sz="750" b="0" i="0" spc="200">
                <a:solidFill>
                  <a:srgbClr val="5A646C"/>
                </a:solidFill>
                <a:latin typeface="IBM Plex Mono"/>
                <a:ea typeface="IBM Plex Mono"/>
                <a:cs typeface="IBM Plex Sans Arabic"/>
              </a:rPr>
              <a:t>WEBSITE WALKTHROUGH</a:t>
            </a:r>
          </a:p>
        </p:txBody>
      </p:sp>
      <p:sp>
        <p:nvSpPr>
          <p:cNvPr id="20" name="TextBox 19"/>
          <p:cNvSpPr txBox="1"/>
          <p:nvPr/>
        </p:nvSpPr>
        <p:spPr>
          <a:xfrm>
            <a:off x="10160000" y="6438900"/>
            <a:ext cx="1270000" cy="152400"/>
          </a:xfrm>
          <a:prstGeom prst="rect">
            <a:avLst/>
          </a:prstGeom>
          <a:noFill/>
        </p:spPr>
        <p:txBody>
          <a:bodyPr wrap="square" lIns="0" rIns="0" tIns="0" bIns="0" anchor="t">
            <a:noAutofit/>
          </a:bodyPr>
          <a:lstStyle/>
          <a:p>
            <a:pPr algn="r">
              <a:lnSpc>
                <a:spcPct val="100000"/>
              </a:lnSpc>
            </a:pPr>
            <a:r>
              <a:rPr sz="750" b="0" i="0" spc="150">
                <a:solidFill>
                  <a:srgbClr val="8E969D"/>
                </a:solidFill>
                <a:latin typeface="IBM Plex Mono"/>
                <a:ea typeface="IBM Plex Mono"/>
                <a:cs typeface="IBM Plex Sans Arabic"/>
              </a:rPr>
              <a:t>33</a:t>
            </a:r>
            <a:r>
              <a:rPr sz="750" b="0" i="0" spc="150">
                <a:solidFill>
                  <a:srgbClr val="5A646C"/>
                </a:solidFill>
                <a:latin typeface="IBM Plex Mono"/>
                <a:ea typeface="IBM Plex Mono"/>
                <a:cs typeface="IBM Plex Sans Arabic"/>
              </a:rPr>
              <a:t>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